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Technologische Trends – Weichenantriebe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Digitalisierung und Predictive Maintenance definieren die nächste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500116" cy="4663440"/>
          </a:xfrm>
          <a:prstGeom prst="rect">
            <a:avLst/>
          </a:prstGeom>
          <a:solidFill>
            <a:srgbClr val="F2F2F2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1723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8A8A8"/>
                </a:solidFill>
                <a:latin typeface="Calibri"/>
              </a:rPr>
              <a:t>[ Power BI Chart hier einfügen ]
Power-BI-Chart (Bubble Chart)
X = Reifegrad | Y = Relevanz für Siemens | Größe = Marktpotenzial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6188" y="1325880"/>
            <a:ext cx="36576" cy="4663440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325880"/>
            <a:ext cx="55001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5E"/>
                </a:solidFill>
                <a:latin typeface="Calibri"/>
              </a:rPr>
              <a:t>Fünf Schlüsseltrends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1636" y="1709928"/>
            <a:ext cx="73152" cy="80467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9652" y="1709928"/>
            <a:ext cx="53355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5E"/>
                </a:solidFill>
                <a:latin typeface="Calibri"/>
              </a:rPr>
              <a:t>Condition Monitoring &amp; Predictive Maintenance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9652" y="1947672"/>
            <a:ext cx="53355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IoT-Sensoren + KI → Wartungskosten –20–30 %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2560320"/>
            <a:ext cx="73152" cy="80467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9652" y="2560320"/>
            <a:ext cx="53355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5E"/>
                </a:solidFill>
                <a:latin typeface="Calibri"/>
              </a:rPr>
              <a:t>Digitale Stellwerksintegration (EULYNX)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9652" y="2798064"/>
            <a:ext cx="53355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EU-Norm ersetzt analoge Relaistechnik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3410712"/>
            <a:ext cx="73152" cy="80467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9652" y="3410712"/>
            <a:ext cx="53355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5E"/>
                </a:solidFill>
                <a:latin typeface="Calibri"/>
              </a:rPr>
              <a:t>Elektrifizierung &amp; Energieeffizienz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9652" y="3648456"/>
            <a:ext cx="53355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Ablösung hydraulischer Antriebe; Energierückspeisung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261104"/>
            <a:ext cx="73152" cy="80467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9652" y="4261104"/>
            <a:ext cx="53355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5E"/>
                </a:solidFill>
                <a:latin typeface="Calibri"/>
              </a:rPr>
              <a:t>Cybersecurity (NIS2 / IEC 62443)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9652" y="4498848"/>
            <a:ext cx="53355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Security-by-Design in Firmware verpflichtend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5111496"/>
            <a:ext cx="73152" cy="80467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5111496"/>
            <a:ext cx="53355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5E"/>
                </a:solidFill>
                <a:latin typeface="Calibri"/>
              </a:rPr>
              <a:t>Remote Diagnostics &amp; Cloud (Railigent 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9652" y="5349240"/>
            <a:ext cx="53355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Fernüberwachung → Vor-Ort-Einsätze signifikant 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274552" cy="329184"/>
          </a:xfrm>
          <a:prstGeom prst="rect">
            <a:avLst/>
          </a:prstGeom>
          <a:solidFill>
            <a:srgbClr val="00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01675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Implikation für Siemens:  Differenzierung nicht über Hardware-Preis, sondern über digitale Plattform (Railigent X) und EULYNX-Systemkompetenz.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Quellen: Siemens Mobility GB 2024 | Europe's Rail JU Roadmap 2025 | Bundesministerium für Digitales und Verkehr (Deutschlandtakt) | Eigene Schätzung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Wettbewerbssituation – Weichenantriebe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Konsolidierter Markt, 3–4 globale Platzhirsche – Differenzierung über Digitalisierung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500116" cy="4663440"/>
          </a:xfrm>
          <a:prstGeom prst="rect">
            <a:avLst/>
          </a:prstGeom>
          <a:solidFill>
            <a:srgbClr val="F2F2F2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1723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8A8A8"/>
                </a:solidFill>
                <a:latin typeface="Calibri"/>
              </a:rPr>
              <a:t>[ Power BI Chart hier einfügen ]
Power-BI-Chart (Balkendiagramm)
Umsatz Signaling-Segment nach Region (Mrd. EUR) – Top-3 Anbieter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6188" y="1325880"/>
            <a:ext cx="36576" cy="4663440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325880"/>
            <a:ext cx="55001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5E"/>
                </a:solidFill>
                <a:latin typeface="Calibri"/>
              </a:rPr>
              <a:t>Key Competitors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1636" y="1709928"/>
            <a:ext cx="73152" cy="80467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9652" y="1709928"/>
            <a:ext cx="53355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5E"/>
                </a:solidFill>
                <a:latin typeface="Calibri"/>
              </a:rPr>
              <a:t>Siemens Mobility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9652" y="1947672"/>
            <a:ext cx="53355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EULYNX-Leader, Railigent X, globales Servicenetz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2560320"/>
            <a:ext cx="73152" cy="804672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9652" y="2560320"/>
            <a:ext cx="53355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Alstom (+Bombardier)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9652" y="2798064"/>
            <a:ext cx="53355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Breites Signaling-Portfolio, CBTC-Stärke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3410712"/>
            <a:ext cx="73152" cy="804672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9652" y="3410712"/>
            <a:ext cx="53355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Hitachi 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9652" y="3648456"/>
            <a:ext cx="53355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Systemintegration, Europa &amp; Asien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261104"/>
            <a:ext cx="73152" cy="804672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9652" y="4261104"/>
            <a:ext cx="53355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Vossloh / Hanning &amp; Kahl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9652" y="4498848"/>
            <a:ext cx="53355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Nischenspezialisten, hohe Qualität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5111496"/>
            <a:ext cx="73152" cy="804672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5111496"/>
            <a:ext cx="53355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CRRC / CASCO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9652" y="5349240"/>
            <a:ext cx="53355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Preiswettbewerb, wachsender Europa-Export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274552" cy="329184"/>
          </a:xfrm>
          <a:prstGeom prst="rect">
            <a:avLst/>
          </a:prstGeom>
          <a:solidFill>
            <a:srgbClr val="00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01675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Implikation für Siemens:  Premium-Positionierung + Software/Service-Anteil erhöhen – Wachstumshebel in Europa durch Deutschlandtakt &amp; TEN-T-Investitionen.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Quellen: Siemens Mobility GB 2024 | Alstom AR 2024 | Hitachi Rail AR 2024 | Mordor Intelligence Rail Signaling Market Summary 2024 | Eigene Schätzung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