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zusammen. Wir stellen heute einen Umsetzungsplan für eine Kaffeerösterei vor. Die Aufgabe war: ein System entwerfen für rückverfolgbare Herkunft, für die Konformität mit der EU-Entwaldungsverordnung und für produktgebundene CO₂-Daten. Als Vorbild diente ein Pilotprojekt, das die Hashgraph Group, Merck und PwC Germany im September 2026 für Kakao angekündigt haben — mit digitalem Produktpass, Blockchain-Verankerung und physischen Sicherheitsmarkern.
Wir sagen gleich zu Beginn, wohin die Reise geht: Wir haben den Referenzfall nicht kopiert, sondern geprüft — und an vier Stellen kommen wir zu einem anderen Ergebnis als die Aufgabenstellung nahelegte. Einer dieser Befunde streicht einen kompletten Baustein, den digitalen Produktpass. Ein zweiter stellt die Blockchain selbst in Frage.
Eine Vorbemerkung zur Ehrlichkeit unserer Zahlen: Die Rösterei ist ein konstruiertes Fallunternehmen. Alle Annahmen sind als solche gekennzeichnet. Und jede Aussage in unseren Unterlagen trägt eine Markierung — recherchiert mit Quelle, angenommen oder geschätzt. Dazu später mehr.
Ich übergebe zunächst an die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den Vortrag in fünf Blöcke geteilt, jeder von uns übernimmt einen. Der erste Block — meiner — klärt die Ausgangslage: Was war der Referenzfall, mit welchem Unternehmen arbeiten wir, und warum kann man eine Kakao-Lösung nicht einfach auf Kaffee übertragen. Ich erkläre außerdem, wie wir methodisch vorgegangen sind, weil das für die Bewertung unserer Ergebnisse wichtig ist.
Der zweite Block behandelt die Regulatorik — der Teil mit der größten Überraschung. Im dritten geht es um die Lieferkette und das Datenmodell. Der vierte ist der technische Kern: drei Architekturoptionen und die Prüfung, ob man überhaupt eine Blockchain braucht. Der fünfte bringt CO₂, Zeitplan, Kosten, Risiken und unsere Empfehlung.
Wir haben rund fünfzig Minuten eingeplant und halten am Ende Zeit für Ihre Fragen frei. Damit starte ich in den ersten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Beginnen wir mit der Ausgangslage. Ich möchte Ihnen in diesem Block vier Dinge mitgeben: erstens, was der Referenzfall aus der Kakaobranche eigentlich beinhaltet; zweitens, welches Unternehmen wir betrachten und welche Annahmen wir dafür getroffen haben; drittens — und das ist der inhaltlich wichtigste Punkt —, an welchen Stellen sich Kaffee grundlegend von Kakao unterscheidet; und viertens, wie wir methodisch gearbeitet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Referenzfall. Im September 2026 haben die Hashgraph Group, das Wissenschafts- und Technologieunternehmen Merck und PwC Germany einen Piloten für Kakao-Rückverfolgbarkeit angekündigt. Sechs Bausteine, die Sie hier sehen.
TrackTrace ist die Plattform: Sie legt für jede Charge einen digitalen Zwilling an und protokolliert Ereignisse an definierten Prüfpunkten. M-Trust von Merck ist der physische Teil — unsichtbare Pigmentmarker, die man mit einem Handgerät auslesen kann. Hedera ist die Ledger-Ebene, und hier ist ein Detail wichtig: Es werden nur Hashes verankert, keine Dokumente. Der Zweck ist der Nachweis der Zeitgleichheit — man kann Belege später nicht zurechtlegen. PwC bringt Prozesse und Governance ein.
Zwei Bausteine haben uns fachlich besonders überzeugt. Das Evidence Grading: Daten werden nicht abgelehnt, wenn sie schwach sind, sondern gekennzeichnet — verifiziert oder erklärt. Und die tokenisierte Massenbilanz mit ihrer erzwungenen Ungleichung: Was hineingeht, muss mindestens dem entsprechen, was herauskommt, plus dem Verlust.
Der Auslöser ist regulatorischer Druck: Ab dem 30. Dezember 2026 gilt die Entwaldungsverordnung, mit Bußgeldern bis vier Prozent des Jahresumsatzes. Dieser Druck trifft die Kaffeebranche in identischer Weise.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 unserem Fallunternehmen. Wir betrachten eine Rösterei mit mehr als tausend Tonnen Grünkaffee im Jahr und über fünfzig Mitarbeitenden. Sie hat ein ERP und eine Warenwirtschaft, aber keine spezialisierte Röstsoftware. Und sie beschafft in Mischform: einen Teil importiert sie selbst im Direct Trade, einen anderen Teil kauft sie über europäische Grünkaffeehändler zu.
Diese Angaben sind gesetzt, nicht erhoben — aber nicht beliebig, sondern so, dass der lehrreichste Fall entsteht.
Warum? Zwei Konsequenzen ergeben sich unmittelbar. Erstens: Mit dieser Größe ist das Unternehmen nach EU-Definition kein Klein- oder Kleinstunternehmen. Damit gilt für sie die frühere der beiden Fristen — Ende Dezember 2026 statt Mitte 2027. Zweitens: Die Mischform bedeutet, dass die Rösterei regulatorisch nicht eine Rolle hat, sondern zwei. Für die selbst importierten Partien ist sie etwas völlig anderes als für die zugekauften. Mein Kollege wird das im nächsten Block im Detail auflösen.
Halten Sie bitte im Kopf: Ende Dezember 2026, und zwei Rollen gleichzeitig.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zum inhaltlichen Kern meines Blocks: Warum kann man die Kakao-Lösung nicht einfach übertragen? Ich nenne Ihnen sechs Unterschiede, aufgeteilt auf zwei Folien. Zuerst drei, die den Produktionsprozess betreffen.
Der erste ist der Röstverlust. Beim Rösten verliert Kaffee fünfzehn bis zwanzig Prozent seiner Masse — Wasser verdampft, das Silberhäutchen löst sich ab. Aus hundert Kilogramm Grünkaffee werden rund zweiundachtzig Kilogramm Röstkaffee. Eine Massenbilanz, die das nicht abbildet, schlägt bei jeder einzelnen Charge Alarm.
Der zweite Punkt ist der eigentlich interessante, und er hat uns am längsten beschäftigt. Der Verlustfaktor ist nicht nur ein technischer Parameter — er ist ein Manipulationsvektor. Wer einen zu hohen Verlust deklariert, schafft in der Bilanz Platz für Ware, die nie ordnungsgemäß eingekauft wurde. Rechnen Sie mit: Bei tausend Tonnen im Jahr entsprechen zwei Prozentpunkte rund zwanzig Tonnen Grünkaffee, die verschwinden dürfen, ohne dass die Formel verletzt wird. Das ist keine theoretische Lücke.
Unsere Antwort darauf steht rechts unten und ist bewusst unspektakulär: Der Verlust wird gemessen, nicht deklariert. Ein- und Auswaage kommen von der Waage, der Verlust ist die Restgröße. Ein Eingabefeld für den Verlustfaktor gibt es in unserem Entwurf schlicht nicht. Mein Kollege im vierten Block vertieft das.
Der dritte Unterschied sind Blends. Ein Hausblend mischt vier oder fünf Herkünfte, und die Anteile werden chargenweise nachjustiert — je nach Ernte, Verfügbarkeit und Verkostung. Das ist technisch eine n-zu-1-Transformation, und kommunikativ eine Falle, auf die ich gleich noch zurückkomme.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zweite Hälfte der Unterschiede betrifft nicht den Prozess, sondern die Kette und das Recht.
Vierter Unterschied: die Tiefe der Lieferkette. Zwischen dem Kaffeebauern und uns stehen mindestens eine Kooperative, eine Trockenmühle, ein Exporteur und häufig ein Importeur. Die Rösterei kauft praktisch nie am Feld. Das hat eine unbequeme Konsequenz für die Geodaten, die die Verordnung verlangt: Wir erfassen sie nicht. Die Kooperative erfasst sie. Damit verschiebt sich der Vertrauensanker von uns weg — und keine Technologie holt ihn zurück.
Fünfter Unterschied: die Rollenfrage. Ich hatte es angedeutet — durch die Mischform ist unser Unternehmen bei der einen Partie voll sorgfaltspflichtig und bei der Partie daneben fast pflichtfrei. Und zwar gleichzeitig, im selben Lager. Das muss ein System abbilden können.
Sechster Unterschied, und der ist juristisch heikel: GPS-Koordinaten von Kleinbauernparzellen sind personenbeziehbare Daten. Eine Parzelle hat einen Bewirtschafter, und bei einer Kooperative mit Mitgliederregister ist die Zuordnung trivial. Damit greift die Datenschutzgrundverordnung — und deren Löschrecht steht in direktem Widerspruch zur Unveränderlichkeit einer Blockchain. Diesen Konflikt löst der Referenzfall nicht sichtbar auf. Wir tun es im dritten Block.
Rechts noch ein siebter Punkt: Mercks Marker sitzt auf Verpackungen — Grünkaffee reist in Jutesäcken, die umgepackt werden. Wir streichen diesen Baustein; mein Kollege begründet das im vierten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ich an meinen Kollegen übergebe, kurz zur Methodik. Das ist kein Pflichtabschnitt, sondern erklärt, warum wir an manchen Stellen von der Aufgabenstellung abweichen.
Wir sind in vier Schritten vorgegangen. Der erste war, die Aufgabenstellung selbst zu prüfen. Wir haben nicht gefragt „wie erfüllen wir diese Anforderung", sondern zuerst „gilt diese Anforderung überhaupt". Diese Reihenfolge hat sich ausgezahlt — Sie werden im zweiten Block sehen, warum.
Zweiter Schritt: Recherche. Wir haben grundsätzlich Primärquellen genutzt, also die Verordnungstexte auf EUR-Lex und die Dokumente der Europäischen Kommission, und erst danach Sekundärquellen wie Kanzleianalysen und Branchenpresse. Unser Rechercheschluss ist der 9. September 2026.
Warum diese Sorgfalt? Weil die EU-Entwaldungsverordnung innerhalb von zwei Jahren zweimal verschoben und mehrfach inhaltlich geändert wurde. Wer hier mit Wissen von vor einem Jahr arbeitet, arbeitet mit falschem Recht. Wir haben deshalb auch keinem Lehrbuchstand vertraut, sondern jede Frist und jede Pflicht am aktuellen Verordnungstext geprüft.
Dritter Schritt war der eigentliche Entwurf — Datenmodell, Architektur, Massenbilanz.
Und der vierte Schritt war, unseren eigenen Entwurf anzugreifen. Wir haben bewusst die Gegenthese formuliert: Braucht es für diese Aufgabe überhaupt eine Blockchain? Und wir haben systematisch gefragt, welche Bausteine des Referenzfalls wir streichen können. Ein kürzerer, ehrlicher Plan ist uns lieber als ein vollständiger, der Aufwand rechtfertigt.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zweites methodisches Prinzip, das sich durch alle unsere Unterlagen zieht: Wir kennzeichnen jede Aussage danach, wie belastbar sie ist. Drei Stufen.
Recherchiert heißt: Es gibt eine benannte Quelle mit Link. Das betrifft alle Fristen, alle Rechtsnormen, Marktpreise und Werte aus Studien. Sie können das nachprüfen, ohne uns zu fragen.
Angenommen heißt: Wir haben etwas gesetzt, weil die Information nicht vorlag. Dazu gehören die Kennzahlen unseres Fallunternehmens, aber auch juristische Auslegungen, die noch nicht geklärt sind.
Geschätzt heißt: Wir haben gerechnet oder hergeleitet, ohne belastbare Quelle. Das betrifft vor allem Kosten und Mengengerüste — und dort geben wir grundsätzlich Bandbreiten an, keine Punktwerte. Eine Kostenschätzung mit einer Nachkommastelle wäre eine Behauptung, keine Schätzung.
Der Zweck: Wer unsere Empfehlung bewerten will, soll sehen, worauf sie ruht — und wo sie am dünnsten ist.
Damit übergebe ich an meine Kollegin beziehungsweise meinen Kollegen für die Regulatorik. Und ich kündige an: Dort wartet der Befund, der unser Projekt am stärksten verändert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Vielen Dank. Ich übernehme die Regulatorik und beginne mit einer Bitte: Trennen Sie im Kopf drei Dinge, die in solchen Projekten regelmäßig vermischt werden. Es gibt Pflicht, es gibt freiwilligen Mehrwert, und es gibt Marketing. Alle drei können sinnvoll sein — aber nur das Erste hat eine Frist und ein Bußgeld. Ich gehe vier Fragen durch: Was verlangt die Entwaldungsverordnung? Ab wann? Wen von uns betrifft was? Und was von dem, was die Aufgabenstellung als Pflicht bezeichnet, ist tatsächlich keine.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Sechs Pflichten, die zusammen die Sorgfaltspflicht ergeben. Ich hebe drei hervor, weil sie den Aufwand bestimmen.
Erstens die Geolokation: für jede Parzelle Koordinaten, über vier Hektar ein Polygon. Und hier eine Formulierung, die in der Praxis unterschätzt wird — die Daten müssen einer Satellitenverifikation und einem Behördenaudit standhalten. Ein schlampig erfasstes Polygon, das über eine Straße oder in einen Nachbarwald ragt, erzeugt einen Risikotreffer, den wir dann aufwendig widerlegen müssen.
Zweitens der Stichtag, 31. Dezember 2020. Alles, was danach entwaldet wurde, ist nicht marktfähig — unabhängig davon, ob es im Erzeugerland legal war.
Am Ende steht die Sorgfaltserklärung in TRACES und die Weitergabe der Referenznummer. Ohne diese Nummer darf die Ware nicht weiter — sie ist betriebswirtschaftlich so kritisch wie ein Zolldokument.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der Grund, warum wir bei der Recherche so vorsichtig waren.
Die Verordnung sollte ursprünglich Ende 2024 gelten. Das Datum fiel. Dann Ende 2025 — fiel auch. Im Dezember 2025 beschlossen Rat und Parlament die Revision 2025/2650 mit einer weiteren Verschiebung um ein Jahr.
Jetzt gilt: Ende Dezember 2026 für große und mittlere Unternehmen, Mitte 2027 für die übrigen Kleinen. Unser Fallunternehmen ist zu groß für die Ausnahme.
Unsere Empfehlung ist deshalb eindeutig: ohne Verschiebungspuffer planen. Wer auf eine dritte Verschiebung wettet und verliert, darf seine Ware nicht verkaufen.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inhaltlich wichtigste Änderung der Revision, und sie entscheidet über den Großteil unseres Projektaufwands.
Der Primärbetreiber ist derjenige, der zuerst auf den EU-Markt bringt oder ausführt. Er trägt die volle Last: Geodaten aller Parzellen beschaffen, Risiko bewerten, notfalls mindern, eigene Sorgfaltserklärung einreichen, Referenznummer weitergeben.
Alle nachgelagerten Akteure haben es seit der Revision drastisch leichter. Sie müssen keine eigene Sorgfaltserklärung mehr abgeben. Nur der erste nachgelagerte Akteur muss die Referenznummer aufbewahren und weiterreichen — das ist im Kern Dokumentenverwaltung. Vor der Revision war das anders; die Kommission erwartet dadurch rund fünfundsiebzig Prozent geringere jährliche Befolgungskosten.
Beachten Sie aber die letzte Zeile rechts: Geringer Aufwand heißt nicht kein Risiko. Es verlagert sich nur — von der Datenbeschaffung auf den Vertrag. Liefert der Importeur die Referenznummer nicht rechtzeitig, dürfen wir die Ware nicht weitergeben. Dann steht die Produktion.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wenden wir das auf unser Fallunternehmen an, und hier wird es praktisch.
Weil die Rösterei in Mischform beschafft, laufen beide Regime parallel. Und — das ist der entscheidende Satz dieser Folie — die Entscheidung fällt je Lot, nicht je Unternehmen. Dasselbe Unternehmen kann bei der Partie im linken Silo Primärbetreiber sein und bei der im rechten nachgelagerter Akteur.
Und jetzt der Punkt, an dem wir einem verbreiteten Irrtum widersprechen müssen. Das Kriterium ist nicht, wer verhandelt hat, nicht wer bezahlt, nicht wessen Name auf dem Jutesack steht. Auch die Incoterms allein entscheiden es nicht: Eine DDP-Lieferung aus einem Drittland kann bedeuten, dass wir gerade nicht Einführer sind — ein FOB-Einkauf über einen europäischen Agenten, dass wir es sehr wohl sind.
Deshalb ist unsere erste Empfehlung nicht technisch, sondern administrativ: eine Liste aller Bezugsquellen mit Zollanmelderstatus, bestätigt von Zoll und Recht. Ein Tagesprojekt, das über den halben Umsetzungsaufwand entscheidet.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zeigt bewusst eine offene Frage als offene Frage. Wir hätten sie glätten können, aber das wäre unredlich gewesen.
Grünkaffee hat die Zolltarifnummer 0901 11, gerösteter Kaffee 0901 21. Die Nummer ändert sich also — aber beide bleiben in derselben Position 0901. Genau diese Halbheit erzeugt zwei vertretbare Auslegungen.
Die eine sagt: Weil sich der Code ändert und der Input geprüft war, ist Rösten ein nachgelagerter Vorgang, die Referenznummer genügt. Die andere sagt: Weil die HS-Position gleich bleibt, ist die Rösterei kein Verarbeiter, sondern Händler. Wir haben für beide Auslegungen belastbare Quellen gefunden. Sie widersprechen sich.
Wie gehen wir damit um? Nicht durch Raten, sondern durch Design. Unser Datenmodell führt die Kette von der Grünkaffeepartie bis zur verkauften Einheit immer lückenlos — auch wenn rechtlich weniger nötig gewesen wäre.
Unsere Empfehlung rechts: Rechtsgutachten beauftragen, möglichst abgestimmt mit dem Kaffeeverband. Eine Branchenposition ist gegenüber einer Behörde belastbarer als eine Einzelmeinung.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hier ist der Befund, den mein Kollege angekündigt hat. Er hat einen kompletten Baustein unseres Auftrags gestrichen.
Die Aufgabenstellung verlangte, den Digitalen Produktpass auszugestalten, wörtlich mit den Pflichtfeldern nach aktuellem ESPR-Stand. Wir haben das am Verordnungstext geprüft. Diese Pflichtfelder existieren nicht.
Artikel 1 Absatz 2 der Ökodesign-Verordnung nimmt Lebensmittel im Sinne der Verordnung 178/2002 ausdrücklich vom Anwendungsbereich aus. Kaffee ist ein Lebensmittel — also nicht noch nicht erfasst, sondern ausgenommen. Zur Gegenprobe der ESPR-Arbeitsplan vom April 2025: Stahl, Textilien, Reifen, Aluminium, Möbel, Matratzen. Kein Lebensmittel, bis 2030 nicht.
Was folgt daraus? Ein Produktpass kann trotzdem sinnvoll sein — als Vertriebsinstrument, als Träger der Nachweiskette, als Rückrufwerkzeug. Aber er ist eine Investitionsentscheidung und muss sich als solche rechtfertigen. Er ist kein Compliance-Budget, und er hat keine Frist.
Der letzte Punkt ist unsere praktische Empfehlung, und sie ist prüfbar: Wenn ein Anbieter Ihnen einen Produktpass als ESPR-Compliance verkauft, verlangen Sie die Nennung des delegierten Rechtsakts. Es gibt keinen.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der Produktpass nicht Pflicht ist — was ist bei der Verpackung dann tatsächlich Pflicht? Das ist die PPWR, gültig seit August 2026.
Hier ein verbreiteter Irrtum: Seit August 2026 sind Konformitätserklärung, technische Dokumentation und Herstelleridentifikation Pflicht. Was ausdrücklich nicht Pflicht ist: ein QR-Code. Die Identifikation darf auch aufgedruckt sein oder in Begleitpapieren stehen.
Ab Februar 2027 können einzelne Mitgliedstaaten ein QR-basiertes Label vorschreiben — können, nicht müssen. Verbindlich wird es im August 2028 mit der harmonisierten Kennzeichnung; dann wird ein Datenträger Teil des Labels.
Daraus folgt die vierte Spalte: Wenn 2028 ohnehin ein Datenträger auf die Packung muss, planen Sie jetzt einen QR-Code und eine Datenbasis für Pflichtangaben und freiwillige Herkunftsinformationen gemeinsam. Zwei Codes und zwei Projekte wären vermeidbare Doppelarbeit.
Aber verwechseln Sie die beiden Dinge nicht: Die PPWR verlangt Angaben zu Recycling und Entsorgung, keinen einzigen Datensatz zur Herkunft. Sie ersetzt den Produktpass nicht — sie benutzt nur denselben Träger.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Letzte Folie meines Blocks, und eine Frage aus der Aufgabenstellung: Wie verhält sich das System zu Fairtrade, Rainforest Alliance und Bio — Ersatz, Ergänzung oder Doppelarbeit? Antwort: Ergänzung, mit einem harten Bruch.
Der Bruch liegt im Begriff Massenbilanz, der in beiden Welten vorkommt und Verschiedenes bedeutet. Die Zertifizierer erlauben, zertifizierte und nicht-zertifizierte Ware zu mischen, solange die Mengenbuchhaltung stimmt. Genau das ist für die EUDR wertlos: Sie will die Koordinaten der Parzellen, aus denen die tatsächlich gelieferte Charge stammt. Eine Gutschrift beweist nichts über den Inhalt des Sacks. Kein Zertifikat ersetzt die Sorgfaltserklärung.
Die gute Nachricht unten: Zertifizierte Ketten sind besser dokumentiert und leichter auf Parzellenebene aufzulösen. Der Zertifizierungsstatus sagt also viel darüber, wie leicht Sie an Geodaten kommen — nur nichts über die Konformität selbst.
Und Fairtrade hat nachgelegt: seit Juni 2026 mit Fairtrace ein kostenloses Geolokationswerkzeug für Kooperativen. Wer eine kommerzielle Kartierung beauftragt, ohne das vorher zu prüfen, verbrennt Geld.
Damit übergebe ich an den dritten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In meinem Block geht es um die Frage, die über Erfolg und Scheitern entscheidet und die in Technikprojekten regelmäßig zu spät gestellt wird: Wer liefert eigentlich die Daten? Ich zeige Ihnen die Kette und ihre Bruchstellen, dann das Datenmodell, dann den Datenschutzkonflikt und zum Schluss zwei Konzepte, die wir für besonders wertvoll 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Kette, ehrlich gezeichnet. Unter jeder Station steht, wie belastbar der Vertrauensanker dort ist.
Wichtiger ist die rote Zeile unten: die vier Stellen, an denen die Kette in der Praxis reißt.
Bruchstelle eins ist die Trockenmühle, wo Chargen mehrerer Kooperativen in einem Verarbeitungslauf zusammenlaufen. Ab dort ist die Zuordnung zu einer Parzelle nur noch statistisch. Das ist die folgenschwerste Bruchstelle, und sie liegt außerhalb unseres Einflusses: Getrennte Verarbeitungsläufe kosten den Exporteur echtes Geld — man muss sie vertraglich verlangen und bezahlen.
Bruchstelle zwei ist die Sammelstelle der Kooperative. Die Bruchstellen drei und vier erzeugen wir selbst: unseren Blend und Restbestände mehrerer Partien im selben Silo. Ohne FIFO-Disziplin ist die Zuordnung dort schlicht erfunden.
Und jetzt der Satz, der für den ganzen Vortrag zentral ist: Keine dieser vier Bruchstellen wird durch einen Ledger repariert. Eine Blockchain macht sie nur unveränderlich dokumentiert. Das ist etwas völlig anderes.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 jedem Akteur gehört ein Anreiz und ein Widerstand. Ich greife drei heraus.
Beim Kleinbauern ist der Anreiz Marktzugang — und man sollte ehrlich sein: Das ist ein Zwang, kein Angebot. Der Widerstand ist teilweise berechtigt: kein Smartphone, oft keine formalen Landtitel, und die begründete Sorge, dass GPS-Daten bei der Steuerverwaltung landen.
Bei der Kooperative ist der Anreiz existenziell, und trotzdem gibt es Widerstand. Der Hauptärger im Feld ist nicht die Kartierung an sich, sondern dass fünf Käufer fünf verschiedene Datenformate verlangen. Daraus folgt eine unserer wichtigsten Architekturregeln: so wenig Formatzwang wie möglich. Jede Anforderung, die eine Kooperative zwingt, ein sechstes System zu bedienen, erhöht das Risiko, dass sie gar nicht liefert.
Und dann Karte fünf, rot markiert, weil sie in Präsentationen wie dieser fast immer fehlt: unsere eigene Röstmannschaft. Für sie ist das Ganze Zusatzarbeit ohne erkennbaren eigenen Nutzen. Das ist nach unserer Einschätzung das häufigste Scheiterkriterium solcher Projekte — nicht die Technik, nicht die Regulatorik, sondern die Erfassungsdisziplin am dritten Tag der Hochsaison.
Die Konsequenz für den Entwurf: Erfassung muss aus Handlungen fallen, die ohnehin stattfinden — die Waage, das Röstprotokoll — und darf nicht zusätzlich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Aufgabenstellung hat uns ausdrücklich gefragt, ob GS1 EPCIS 2.0 passt, statt ein Eigenformat zu erfinden. Unsere Antwort: ja, mit einer Einschränkung.
EPCIS bildet genau die Ereignistypen ab, die wir brauchen: Objektereignisse für Wareneingang und Versand, Aggregation für Säcke auf einer Palette, und Transformation — unser Kernfall, denn Rösten und Blenden sind Transformationen mit Masseverlust.
Jetzt die Einschränkung: EPCIS ist für den Feldbereich zu schwergewichtig. Eine Kooperative in Äthiopien wird uns niemals EPCIS senden. Deshalb ist unsere Umsetzung zweigeteilt — upstream nehmen wir entgegen, was kommt, und EPCIS ist unser internes Modell ab Wareneingang. Wer EPCIS bis zum Kleinbauern durchdrücken will, blockiert das Projekt.
Unten die Grundregel, die alles zusammenhält: Jede Entität hat genau einen verantwortlichen Erfasser und genau einen Erfassungszeitstempel. Ohne diese beiden Felder funktioniert das Evidence Grading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der Datenschutzkonflikt, den die Aufgabenstellung aufgeworfen hat — und den der Referenzfall nicht sichtbar auflöst.
Wir gehen davon aus, dass Parzellenkoordinaten personenbeziehbare Daten sind, weil jede Parzelle einen Bewirtschafter hat. Damit greift die Datenschutzgrundverordnung samt Löschrecht. Gleichzeitig verlangt die EUDR, genau diese Koordinaten zu übermitteln. Der Konflikt ist also nicht ob man darf — man muss —, sondern: Was davon darf in ein unveränderliches System?
Unsere Antwort sind drei Zonen. In der geschützten Zone liegt alles Sensible, vollständig löschbar. In der veröffentlichten Zone stehen Land, Region, Kooperative, Höhe und Varietät — aber niemals eine Geometrie und niemals ein Erzeugername. In der verankerten Zone liegen ausschließlich Hashes. Diese Regel ist nicht verhandelbar: Ein einziges personenbezogenes Datum in einem unveränderlichen Ledger ist ein dauerhafter, nicht heilbarer Verstoß.
Die Lösung heißt Crypto-Shredding: je Datensatz ein zufälliges Salt, ausschließlich off-chain gespeichert, verankert wird der Hash aus Salt plus Datensatz. Beim Löschverlangen löschen wir beides. Zurück bleibt ein Hash, der ohne Salt nicht mehr rückführbar ist.
Der Preis steht auf Karte sechs, und wir nennen ihn offen: Die Prüfbarkeit dieses Datensatzes ist danach dauerhaft verloren. Die Konstruktion ist etabliert, aber nicht höchstrichterlich bestätigt.
Der pragmatische Schluss unten: Solange wir nicht verankern, existiert dieser ganze Konflikt gar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Evidence Grading ist für uns der wertvollste Baustein des Referenzfalls. Die Grundidee: Schwächere Daten werden nicht abgelehnt, sondern gekennzeichnet. Das verhindert zwei typische Fehler — entweder gar keine Kette zu haben, weil man Perfektion verlangt, oder eine perfekt aussehende Kette zu haben, deren Schwachstellen unsichtbar sind.
Wir haben die Regeln so ausformuliert, dass eine Maschine sie prüfen kann. Verified ist ein Datenpunkt nur, wenn alle vier Bedingungen links erfüllt sind: Zeitgleichheit unter fünfzehn Minuten, identifizierter Erfasser mit einem zum Ereigniszeitpunkt gültigen Schlüssel, der Wert kommt aus einem angebundenen Gerät statt aus einem Freitextfeld, und es gab keine nachträgliche Korrektur. Fällt eine Bedingung, fällt die Stufe — und eine Aufwertung ist nachträglich nicht möglich.
Die Aggregationsregel unten ist die Detailfrage, an der solche Systeme kippen. Unsere Antwort: Die Kette ist so stark wie ihr schwächstes Glied, und das schwächste Glied wird benannt. Keine Punktzahl, kein Trust Score. Denn eine Prozentzahl lädt dazu ein, die schwache Stelle wegzumitteln — und die schwache Stelle ist bei Kaffee immer die Herkunftsangabe.
Was das bedeutet, ist unbequem, und wir sagen es offen: Bei einer typischen Kaffeekette bleibt die Herkunftsangabe — der werblich wichtigste Datenpunkt — dauerhaft Declared. Wer das nicht aushält, sollte das Evidence Grading gar nicht einführen. Denn seine einzige Funktion ist, genau das sichtbar zu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Letzte Folie meines Blocks. Der Referenzfall vergibt digitale Identitäten an Personen, Prozesse und Geräte. Wir differenzieren das nach Akteursklasse, sonst wird es Theater.
Für unsere eigene Rösterei, unsere Geräte und Mitarbeitenden: volle Signatur. Das ist sinnvoll und billig, weil wir die Geräte kontrollieren — hier ist die Stufe Verified tatsächlich erreichbar.
Für Exporteure, Importeure und größere Kooperativen ist eine Signatur möglich, wenn man sie vertraglich vereinbart. Wir empfehlen aber das einfachste tragfähige Mittel: einen Schlüssel je Organisation, nicht je Person. Ehrlich gesagt wirkt hier ein durchsetzbarer Vertrag stärker als jede Technik.
Für den Kleinbauern ohne Smartphone: keine eigene Signatur, sondern stellvertretende Erfassung durch die Kooperative, klar gekennzeichnet. Alles andere wäre Fiktion.
Und jetzt der Satz unten, der im Referenzfall so nicht ausgesprochen wird: Stellvertretende Erfassung verschiebt den Vertrauensanker von der Person auf die Institution. Sie schafft ihn nicht. Wenn die Kooperative falsch erfasst, ist das Ergebnis kryptografisch einwandfrei und inhaltlich falsch. Genau deshalb ist die Bezeichnung als Declared nicht Kosmetik, sondern der Kern der Aussage.
Ein technisches Detail zur Widerrufslogik: Wir führen eine Sperrliste je Organisationsschlüssel und prüfen die Gültigkeit zum Ereigniszeitpunkt, nicht zum Prüfzeitpunkt. Sonst würde ein Schlüsselwechsel rückwirkend die gesamte Historie entwerten.
Damit übergebe ich an den vierten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Vielen Dank. Mein Block hat zwei Hälften. In der ersten stelle ich drei Architekturoptionen vor und prüfe die Gegenthese: Braucht es für diese Aufgabe überhaupt eine verteilte Datenbank? In der zweiten geht es um die Massenbilanz — also darum, wie man Röstverlust und Blends so verbucht, dass daraus kein Einfallstor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drei Optionen bewertet, bewusst ergebnisoffen — nicht eine Lösung mit zwei Alibi-Alternativen.
Option A ist reiner Zukauf: eine EUDR-Compliance-Software plus unser bestehendes ERP, kein Ledger. Das erfüllt die Verordnung vollständig für beide Beschaffungspfade. Was es nicht kann: die chargengenaue Verknüpfung über Röstung und Blend, CO₂ je Charge, Produktpass. Entscheidend ist die vierte Zeile: sechs bis zehn Wochen bis produktiv. Das ist die einzige Option, die in die Frist passt — Option A ist deshalb keine Alternative, sondern Phase 0.
Option B ist unsere Empfehlung: zugekaufte Compliance plus ein schlanker Eigenbau für Datenhaltung, Evidence Grading und Produktpass. Und der Kniff: Die Verankerung wird vorbereitet, aber nicht aktiviert.
Option C ist der Referenzfall-Klon. Er kann alles, was B kann, plus zwei Dinge: verteilte Schreibrechte für Parteien, die einander misstrauen, und öffentliche Verifizierbarkeit. Er kostet dafür Schlüsselverwaltung über Organisationsgrenzen hinweg, Partner-Onboarding, Rechtsklärung — und zwölf bis vierundzwanzig Monate.
Unser Urteil zu C: heute nicht begründbar. Nicht weil die Technik schlecht wäre, sondern weil der Nachfrager fehlt. Warum wir das so hart sagen, zeigt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Folie, auf die es in meinem Block ankommt. Die Aufgabenstellung hat uns aufgefordert, die Gegenthese zu prüfen: Reicht eine signierte, extern testierte Datenbank mit Merkle-Baum und regelmäßigem Timestamping? Wir haben das ernsthaft geprüft, und die Antwort lautet für unseren Fall: ja.
Dazu muss man fragen, was ein Ledger eigentlich leistet. Erstens beweist er, dass ein Datensatz zu einem Zeitpunkt existierte. Zweitens erlaubt er mehreren Parteien, die einander nicht vertrauen, in denselben Bestand zu schreiben.
Jetzt die vier Eigenschaften. Zeitgleichheitsnachweis: Den brauchen wir, das ist der Kern des EUDR-Nachweises. Aber er geht ohne Chain — ein Merkle-Root pro Tag plus ein qualifizierter Zeitstempel nach eIDAS. Und hier ein oft übersehenes Argument: Vor einem europäischen Gericht hat ein qualifizierter Zeitstempel höhere Beweiskraft als eine Chain-Transaktion, weil er rechtlich geregelt ist.
Manipulationsschutz gegen uns selbst: brauchen wir, geht ebenfalls ohne Chain — Append-only plus externer Zeitstempel plus ein Prüfertestat.
Schreibrechte für misstrauische Dritte: Das ist der eigentliche Vorteil einer Chain. Und wir brauchen ihn nicht, denn wir sind der einzige Schreiber. Öffentliche Verifizierbarkeit fragt heute niemand nach — und das ist keine IT-Frage, sondern eine an die Geschäftsführung.
Rechts unser konstruktiver Vorschlag: Wir bilden den Merkle-Root immer und halten das Verankerungsziel austauschbar. Der spätere Wechsel auf Hedera ist dann eine Konfigurationsänderung, kein Umbau.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Hedera hat den Preis je Nachricht zum Januar 2026 um den Faktor acht angehoben, von einem Zehntausendstel auf acht Zehntausendstel Dollar. Klingt nach viel. Rechnen wir es um: Bei tausend Tonnen und sechzig Kilogramm je Charge kommen wir auf rund siebzehntausend Röstchargen, dazu Blend-, Pack- und Wareneingangsereignisse. Nehmen wir großzügig fünfhunderttausend Ereignisse im Jahr und verankern jedes einzelne: rund vierhundert Dollar. Verankern wir nur einen Merkle-Root pro Tag, sind es dreißig Cent.
Daraus folgen zwei Dinge. Erstens: Wer sagt, Blockchain sei zu teuer, hat bei diesem Volumen nicht gerechnet. Zweitens, in der anderen Richtung: Wer Ihnen Option C mit den niedrigen Transaktionskosten verkauft, argumentiert an der Kostenstruktur vorbei. Bei Option C liegen über neunundneunzig Prozent der Kosten in Lizenz, Integration, Onboarding und Betrieb. Die Gebühren sind Rauschen.
Deshalb steht unten unser eigentliches Gegenargument: Das stärkste Sachargument gegen Option C ist nicht der Preis, sondern die Anbieterbindung. Plattform, Ledger, Token-Modell und Identitätssystem stecken beim selben Anbieter — und ein Wechsel entwertet die bereits verankerte Historie.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Erstens die physischen Sicherheitsmarker. Bei Grünkaffee scheitern sie praktisch: Jutesäcke werden unterwegs umgepackt, und ein Marker auf dem Sack sagt nichts über den Inhalt. Auf der Endverbraucherpackung wären sie machbar — aber sie lösen Produktfälschung, und das ist nicht unser Problem. Ein Kaffeefälscher fälscht nicht unsere Tüte; er verkauft billigeren Kaffee als teuren.
Was wir stattdessen empfehlen: manipulationssichere Siegel mit fortlaufenden Nummern, die im Ereignis erfasst werden — das beweist Unversehrtheit zwischen zwei Punkten und kostet fast nichts. Und eine Stabilisotopen-Analyse als Stichprobe. Das ist der einzige Ansatz, der die Herkunft am Kaffee selbst prüft, weil die Isotopensignatur mit Geologie und Klima der Anbauregion zusammenhängt. Fünf bis zehn Proben im Jahr sind wirksamer als jeder Marker.
Zweitens die Token-Ownership. Kein Kaffeekäufer möchte Eigentümer eines Tokens werden, und es wirft wertpapier- und geldwäscherechtliche Fragen auf, die man ohne Not nicht aufwirft. Die Massenbilanz-Logik dahinter behalten wir vollständig — sie braucht nur keine Chain. Drittens Workflow-Engine und Single-Sign-on: bei unter hundert internen Nutzenden reiner Betriebsaufwand.
Unten die Ersparnis: grob hundertfünfundsechzigtausend bis vierhundertneunzigtausend Euro einmalig. Und wir nennen den Preis dafür in einem Satz: Wir können einem Dritten die Zeitgleichheit unserer Belege nicht ohne unser Zutun beweisen. Danach fragt heute niemand — und ändert sich das, ist es nachrüstbar.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 zweiten Hälfte meines Blocks: der Massenbilanz.
Die Gleichung rechts ist die aus dem Referenzfall, angepasst an Kaffee. Was hineingeht, muss dem entsprechen, was herauskommt, plus Prozessverlust, Ausschuss, entnommene Muster und eine Messtoleranz. Die Toleranz ist ausdrücklich begrenzt — wir schlagen ein halbes Prozent vor. Wird sie überschritten, gibt es einen Alarm, keine automatische Verbuchung.
Und der wichtigste Satz steht unten: Ein- und Auswaage werden gewogen, der Verlust ist die Restgröße. Nicht umgekehrt. Warum das entscheidend ist, zeigt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Fünf Ebenen, gestaffelt, plus eine ehrliche Restlücke.
Ebene eins: Der Verlust wird nie deklariert. Ein- und Auswaage kommen aus der angebundenen Waage, ein Eingabefeld für den Verlustfaktor existiert im System nicht. Das klingt banal, ist aber die wirksamste Einzelmaßnahme.
Ebene zwei: ein Erwartungskorridor je Röstprofil, kalibriert aus historischen Chargen. Ein Profil gilt erst nach etwa zwanzig Chargen als kalibriert. Ebene drei: Ausreißer werden nicht blockiert, sondern sind begründungspflichtig — wer Chargen blockiert, erzeugt Umgehung; wer Begründungen verlangt, erzeugt eine Spur. Ebene vier: Wir schauen auf Trends, nicht auf Einzelfälle.
Ebene fünf ist die stärkste und bemerkenswert unspektakulär: der Abgleich gegen Belege außerhalb der Produktion. Der Grünkaffee-Einkauf laut Rechnungen und Zollanmeldungen, minus Bestandsveränderung, muss der Summe aller Einwaagen entsprechen. Wer den Verlustfaktor manipulieren will, müsste zusätzlich die Einkaufsbuchhaltung fälschen.
Damit zur letzten, rot markierten Karte. Diese fünf Ebenen reduzieren den Angriff auf: die Waage manipulieren und die Buchhaltung fälschen. Sie beseitigen ihn nicht. Kein technisches System kann das — auch das des Referenzfalls nicht, denn auch dort geht die Waagenmessung ungeprüft ins System. Wer etwas anderes behauptet, verwechselt Unveränderlichkeit mit Richtigkeit.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Letzte Folie meines Blocks: die Blends, also der Fall, den es bei Kakao so nicht gibt.
Der wichtige Punkt ist der vierte Kasten: Die Anzeige im Produktpass speist sich aus dem Ist-Anteil dieser konkreten Charge, niemals aus der Rezeptur. Warum das nötig ist: Anteile werden chargenweise nachjustiert, je nach Ernte, Verfügbarkeit und Verkostung. Die Charge weiß, was in ihr ist — die Rezeptur weiß nur, was geplant war.
Unten stehen vier Regeln gegen Irreführung. Alle Bestandteile nennen, absteigend nach Anteil. Ist-Werte zeigen; ein Anteilsband ist nur zulässig, wenn die Ist-Werte technisch nicht vorliegen, und muss dann gekennzeichnet sein. Bestandteile unter fünf Prozent werden genannt, nicht weggerundet.
Daraus folgt die technische Konsequenz unten: Weil sich die Zusammensetzung von Charge zu Charge ändert, muss die Losnummer im QR-Code stehen. Sie ist zwingend, nicht optional. Damit übergebe ich an den letzten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Ich schließe den Vortrag ab. Zuerst die CO₂-Bilanzierung — dort geht es weniger um Rechenverfahren als um die Frage, wie man mit Unsicherheit ehrlich umgeht. Dann der Zuschnitt eines Piloten, unsere Roadmap, die Kosten, die Risiken und zum Schluss unsere Empfehlung.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Kilogramm Grünkaffee verursacht je nach Quelle zwischen dreieinhalb und gut fünfzehn Kilogramm CO₂-Äquivalent. Über vierundachtzig Prozent davon entfallen auf den Anbau — nicht auf Transport, nicht auf Röstung. Unser eigener Röstprozess liegt bei knapp einem halben Kilogramm je Kilogramm Röstkaffee, wovon rund vier Fünftel auf den Brennstoff entfallen.
Das heißt: Wenn wir unseren Gasverbrauch auf drei Nachkommastellen genau messen, verändert das das Gesamtergebnis praktisch nicht. Wählen wir dagegen einen anderen Emissionsfaktor für den Anbau, verändert sich das Ergebnis um mehrere hundert Prozent. Bei einer Rösterei liegen im Übrigen rund sechsundneunzig Prozent der Gesamtemissionen in Scope 3. Das ist der Rahmen, in dem wir uns bewegen.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Rösterbrenner ist der saubere Fall: ein Impulsgaszähler je Maschine, und wir lesen den Zählerstand bei Chargenstart und -ende ab. Das ist echte, chargengenaue Messung.
Beim Nachverbrenner wird es unsauber, und wir sagen das offen. Er läuft auch zwischen den Chargen, zum Warmhalten. Diesen Leerlauf legen wir über die Tagesproduktion um — das ist eine Allokation, keine Messung, und wir weisen sie getrennt aus. Wer beides zu einer Zahl addiert und gemessen nennt, macht denselben Fehler wie bei Scope 3.
Rechts Scope 3. Hier ist eine Differenzierung wichtig, die oft unterbleibt. Beim Anbau kommen wir um Sekundärfaktoren nicht herum — eine echte Feld-Ökobilanz je Kooperative kostet fünfstellig. Aber der Seetransport ist anders: Container, Route und Gewicht stehen in unseren eigenen Frachtpapieren. Diese Primärdaten sind praktisch umsonst zu haben, die soll man rechnen, nicht schätzen.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fünf Regeln sind als Systemverhalten gedacht, nicht als Redaktionsrichtlinie. Der Unterschied ist wichtig: Eine Richtlinie wird unter Zeitdruck gebrochen, eine Systemregel nicht.
Regel eins: keine Nachkommastelle, welche die Unsicherheit nicht trägt. Bei einer Spanne von dreieinhalb bis fünfzehn Kilogramm ist die Angabe sieben Komma vier drei schlicht unseriös. Regel zwei ist das Gegenstück zum Evidence Grading: Jede Position trägt eine Stufe — gemessen, gerechnet oder geschätzt.
Das ist weniger verkaufsstark als zwei Komma eins Kilogramm, klimaneutral. Es ist um Größenordnungen ehrlicher und das Einzige, was einer Prüfung auf irreführende Umweltaussagen standhält.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Piloten. Hier ist uns eine Formulierung aus der Wissenschaftstheorie wichtig: Ein Pilot, der nichts widerlegen kann, ist keine Untersuchung, sondern eine Demonstration. Wir haben deshalb vier Hypothesen so formuliert, dass sie scheitern können.
Hypothese zwei ist rot markiert, weil sie am ehesten scheitert und am seltensten gemessen wird: Kostet die Erfassung höchstens zwei Minuten je Charge, und liegt die Quote nach acht Wochen ohne Nachfassen noch bei fünfundneunzig Prozent? Wichtig ist das ohne Nachfassen — sonst misst man die Erinnerung und nicht das System.
Hypothese drei betrifft die Beschaffbarkeit der Herkunftsdaten und bestimmt direkt die Skalierungskosten. Und Hypothese vier ist die kommerzielle: Ist ein Handelskunde bereit, dafür zu zahlen? Wird sie widerlegt, entfällt die Geschäftsgrundlage für die Verankerung vollständig. Die konkrete Frage lautet deshalb nicht finden Sie das interessant, sondern würden Sie es vertraglich verlangen und dafür 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Roadmap hat drei Phasen, und die Trennung ist uns wichtiger als die Inhalte.
Phase 0 ist Pflicht und läuft bis zum 30. Dezember 2026: Rollenklärung, Geodaten, Risikoprüfung, Sorgfaltserklärungen, Referenznummern-Register. Zugekaufte Software, kein Eigenbau, kein Ledger. Diese Phase muss auch dann stehen, wenn alles andere gestrichen wird — sie ist der Preis der Marktzugehörigkeit.
Phase 2 startet frühestens 2028 und nur bei einem von vier Auslösekriterien: Ein benannter Kunde verlangt sie vertraglich; eine Regulierungsänderung verlangt mehr als einen qualifizierten Zeitstempel; zwei externe Parteien sollen in denselben Bestand schreiben und misstrauen einander; oder ein Schadensfall hat gezeigt, dass unsere Dokumentation extern nicht akzeptiert wurde. Fehlen alle vier, wird Phase 2 nicht gestartet — auch nicht für später schon mal. Genau so entstehen Systeme, die niemand braucht.
Die wichtigste Warnung steht unten: Der kritische Pfad in Phase 0 ist die Geodatenbeschaffung, nicht die Software. Wir schlagen eine Frühwarnschwelle vor: Sind bis Kalenderwoche 43 nicht achtzig Prozent der Direct-Trade-Menge unterlegt, muss über die Umstellung betroffener Herkünfte auf Importeursbezug entschieden werden. Das kostet Marge, erhält aber die Verkaufsfähigkeit — und die Entscheidung im Voraus zu treffen ist erheblich billiger, als sie im Dezember treffen zu müssen.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zur Breite der Spannen, die man uns zu Recht vorhalten kann. Sie kommt fast vollständig von einem einzigen Posten: der Geodatenbeschaffung. Die kann null Euro kosten, wenn die Kooperative über Fairtrace bereits kartiert ist — oder drei- bis achttausend Euro je Kooperative, wenn wir einen Kartierungsdienstleister beauftragen müssen. Über acht bis fünfzehn Herkünfte summiert sich das auf fünftausend bis sechzigtausend Euro.
Der Merksatz zu dieser Folie: Nicht die Software ist das Teure. Die Daten sind das Teure, und die liegen in Äthiopien, Kolumbien und Honduras.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den Risiken haben wir uns eine Bewertungsfrage auferlegt, die in Risikotabellen selten gestellt wird: Adressiert das Design das Risiko wirklich, oder verlagert es das Problem nur? Bei drei von sechs Risiken lautet die ehrliche Antwort: verlagert.
Erstens Garbage in. Unser System fängt grobe Fehler über Plausibilitätsprüfungen ab — Polygonüberlappung, Ertrag je Hektar, Höhenlage. Eine plausible falsche Koordinate erkennt es nicht. Und jetzt der Punkt, der gegen eine frühe Verankerung spricht: In einem verankerten System wird ein solcher Fehler zusätzlich unveränderlich. Die Blockchain verschlechtert hier die Lage. Deshalb unsere Regel: verankern erst, wenn die Erfassungsqualität stabil ist — niemals am Anfang.
Zweitens Kollusion. Wenn Kooperative und Exporteur sich absprechen, ist das aus den Daten nicht erkennbar. Wirksam sind nur unabhängige physische Messung und Vor-Ort-Audits. Wer Blockchain gegen Kollusion anführt, hat das Problem nicht verstanden: Ein Ledger sichert die Integrität der Aufzeichnung, nicht die der Aussage. Drittens Adoptionsverweigerung upstream — kein technisches Problem, sondern ein Beschaffungsthema.
Und unten die Zusammenfassung, die wir für den ehrlichsten Satz unseres Projekts halten: Drei Risiken können dieses Projekt beenden, und keines davon ist technisch. Upstream liefert nicht. Die Röstmannschaft erfasst nicht. Und niemand fragt nach dem Ergebnis. Jede Projektsteuerung sollte diese drei zuerst messen.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dieses Unternehmen am Ende sauberes Lieferantenmanagement hat, verlässliche Parzellendaten, ein durchgängiges Chargenmodell und eine testierte Auswertung — dann hat es neunzig Prozent des Nutzens. Völlig unabhängig davon, ob je ein Hash auf einem Ledger landet.
Vier Punkte zum Mitnehmen. Erstens: Phase 0 ist Pflicht und terminkritisch. Der 30. Dezember 2026 steht, und der Engpass liegt upstream bei den Kooperativen, nicht in der IT-Abteilung. Wer jetzt Architekturdiskussionen führt statt Lieferantendaten zu beschaffen, verfehlt die Frist mit einer schönen Präsentation.
Zweitens: Der digitale Produktpass ist für Kaffee freiwillig. Das war unser überraschendster Befund, und er ist am Verordnungstext nachprüfbar.
Drittens: Die Verankerung ist das letzte Prozent und erst sinnvoll, wenn jemand dafür zahlt. Wir haben sie deshalb nicht gestrichen, sondern vorbereitet — der Wechsel bleibt eine Konfigurationsänderung.
Viertens unsere Empfehlung: Option B. Compliance kaufen, weil sich dort die Regeln schneller ändern, als man nachpflegen kann. Die Datenschicht schlank selbst bauen, weil sie der differenzierende Teil ist. Und die Verankerung vorbereiten statt aktivieren.
Wenn wir eine einzige Sache aus diesem Projekt mitnehmen, dann diese: Die interessanteste Leistung in einem solchen Vorhaben ist nicht, was man baut. Es ist, was man mit Begründung weglässt.
Vielen Dank für Ihre Aufmerksamkeit. Wir freuen uns auf Ihre Fragen — für Details haben wir Backup-Folien vorbereitet.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hier folgen Backup-Folien. Wir zeigen sie nur, wenn eine Frage darauf zielt: die EUDR-Pflichtangaben, die Kostentabelle, die Sonderfälle der Massenbilanz, die Emissionsfaktoren, die Regeln des Evidence Gradings, die offenen Fragen und das Quellenverzeichnis.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zu den EUDR-Pflichtangaben. Die rechte Spalte ist die praktisch wichtigste: Sie zeigt, dass wir fast nichts davon selbst erheben — wir sammeln es ein. Genau deshalb liegt der Engpass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Kostentabelle im Detail. Beachten Sie die letzte Zeile: Die Ledger-Gebühren stehen bewusst mit drin, damit sichtbar wird, wie klein sie im Verhältnis zu allem anderen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Sonderfälle. Die letzte Zeile ist die wichtigste: Inventurdifferenzen sind in der Praxis das größte Schlupfloch, weil sie so harmlos aussehen.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CO₂-Referenzwerte mit Quellenstatus. Die letzte Zeile zeigt, wie wir daraus unsere eigene Angabe ableiten — als Bereich, nicht als Punktwert.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Stufen im Überblick. Wichtig ist die Zeile unten: Für Declared verwenden wir keine Symbole und keine Farben, nur Text — sonst liest es sich wie eine Auszeichnung.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offenen Fragen. Die fünfte ist unser Lieblingshinweis an das Unternehmen: Die Größenklassenprüfung kostet eine Stunde und kann sechs Monate Frist schenken.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Quellenverzeichnis in Auswahl. Die vollständigen Angaben mit Links stehen in unseren Planungsdokumenten im Repository. Unser Rechercheschluss war der 9.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24503F"/>
          </a:solidFill>
          <a:ln w="12700">
            <a:solidFill>
              <a:srgbClr val="24503F"/>
            </a:solidFill>
            <a:prstDash val="solid"/>
          </a:ln>
        </p:spPr>
      </p:sp>
      <p:sp>
        <p:nvSpPr>
          <p:cNvPr id="3" name="Shape 1"/>
          <p:cNvSpPr/>
          <p:nvPr/>
        </p:nvSpPr>
        <p:spPr>
          <a:xfrm>
            <a:off x="10149840" y="4023360"/>
            <a:ext cx="3108960" cy="3108960"/>
          </a:xfrm>
          <a:prstGeom prst="ellipse">
            <a:avLst/>
          </a:prstGeom>
          <a:solidFill>
            <a:srgbClr val="24503F"/>
          </a:solidFill>
          <a:ln w="12700">
            <a:solidFill>
              <a:srgbClr val="24503F"/>
            </a:solidFill>
            <a:prstDash val="solid"/>
          </a:ln>
        </p:spPr>
      </p:sp>
      <p:sp>
        <p:nvSpPr>
          <p:cNvPr id="4" name="Text 2"/>
          <p:cNvSpPr txBox="1"/>
          <p:nvPr/>
        </p:nvSpPr>
        <p:spPr>
          <a:xfrm>
            <a:off x="640080" y="1481328"/>
            <a:ext cx="8229600"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Calibri" pitchFamily="34" charset="0"/>
                <a:ea typeface="Calibri" pitchFamily="34" charset="-122"/>
                <a:cs typeface="Calibri" pitchFamily="34" charset="-120"/>
              </a:rPr>
              <a:t>HOCHSCHULPROJEKT · VERIFIZIERBARE LIEFERKETTEN</a:t>
            </a:r>
            <a:endParaRPr lang="en-US" sz="1200" dirty="0"/>
          </a:p>
        </p:txBody>
      </p:sp>
      <p:sp>
        <p:nvSpPr>
          <p:cNvPr id="5" name="Text 3"/>
          <p:cNvSpPr txBox="1"/>
          <p:nvPr/>
        </p:nvSpPr>
        <p:spPr>
          <a:xfrm>
            <a:off x="640080" y="1883664"/>
            <a:ext cx="8321040" cy="1920240"/>
          </a:xfrm>
          <a:prstGeom prst="rect">
            <a:avLst/>
          </a:prstGeom>
          <a:noFill/>
          <a:ln/>
        </p:spPr>
        <p:txBody>
          <a:bodyPr wrap="square" lIns="0" tIns="0" rIns="0" bIns="0" rtlCol="0" anchor="t"/>
          <a:lstStyle/>
          <a:p>
            <a:pPr algn="l" indent="0" marL="0">
              <a:lnSpc>
                <a:spcPct val="104000"/>
              </a:lnSpc>
              <a:buNone/>
            </a:pPr>
            <a:r>
              <a:rPr lang="en-US" sz="3800" b="1" dirty="0">
                <a:solidFill>
                  <a:srgbClr val="FFFFFF"/>
                </a:solidFill>
                <a:latin typeface="Cambria" pitchFamily="34" charset="0"/>
                <a:ea typeface="Cambria" pitchFamily="34" charset="-122"/>
                <a:cs typeface="Cambria" pitchFamily="34" charset="-120"/>
              </a:rPr>
              <a:t>Rückverfolgbarer Kaffee:</a:t>
            </a:r>
            <a:endParaRPr lang="en-US" sz="3800" dirty="0"/>
          </a:p>
          <a:p>
            <a:pPr algn="l" indent="0" marL="0">
              <a:lnSpc>
                <a:spcPct val="104000"/>
              </a:lnSpc>
              <a:buNone/>
            </a:pPr>
            <a:r>
              <a:rPr lang="en-US" sz="3800" b="1" dirty="0">
                <a:solidFill>
                  <a:srgbClr val="FFFFFF"/>
                </a:solidFill>
                <a:latin typeface="Cambria" pitchFamily="34" charset="0"/>
                <a:ea typeface="Cambria" pitchFamily="34" charset="-122"/>
                <a:cs typeface="Cambria" pitchFamily="34" charset="-120"/>
              </a:rPr>
              <a:t>EUDR, Herkunftsnachweis</a:t>
            </a:r>
            <a:endParaRPr lang="en-US" sz="3800" dirty="0"/>
          </a:p>
          <a:p>
            <a:pPr algn="l" indent="0" marL="0">
              <a:lnSpc>
                <a:spcPct val="104000"/>
              </a:lnSpc>
              <a:buNone/>
            </a:pPr>
            <a:r>
              <a:rPr lang="en-US" sz="3800" b="1" dirty="0">
                <a:solidFill>
                  <a:srgbClr val="FFFFFF"/>
                </a:solidFill>
                <a:latin typeface="Cambria" pitchFamily="34" charset="0"/>
                <a:ea typeface="Cambria" pitchFamily="34" charset="-122"/>
                <a:cs typeface="Cambria" pitchFamily="34" charset="-120"/>
              </a:rPr>
              <a:t>und CO₂ je Charge</a:t>
            </a:r>
            <a:endParaRPr lang="en-US" sz="3800" dirty="0"/>
          </a:p>
        </p:txBody>
      </p:sp>
      <p:sp>
        <p:nvSpPr>
          <p:cNvPr id="6" name="Text 4"/>
          <p:cNvSpPr txBox="1"/>
          <p:nvPr/>
        </p:nvSpPr>
        <p:spPr>
          <a:xfrm>
            <a:off x="640080" y="3968496"/>
            <a:ext cx="7955280" cy="841248"/>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Umsetzungsplan für eine Kaffeerösterei — abgeleitet aus dem Kakao-Piloten</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von Hashgraph Group, Merck und PwC Germany</a:t>
            </a:r>
            <a:endParaRPr lang="en-US" sz="1500" dirty="0"/>
          </a:p>
        </p:txBody>
      </p:sp>
      <p:sp>
        <p:nvSpPr>
          <p:cNvPr id="7" name="Text 5"/>
          <p:cNvSpPr txBox="1"/>
          <p:nvPr/>
        </p:nvSpPr>
        <p:spPr>
          <a:xfrm>
            <a:off x="640080" y="5870448"/>
            <a:ext cx="8412480" cy="365760"/>
          </a:xfrm>
          <a:prstGeom prst="rect">
            <a:avLst/>
          </a:prstGeom>
          <a:noFill/>
          <a:ln/>
        </p:spPr>
        <p:txBody>
          <a:bodyPr wrap="square" lIns="0" tIns="0" rIns="0" bIns="0" rtlCol="0" anchor="t"/>
          <a:lstStyle/>
          <a:p>
            <a:pPr algn="l" indent="0" marL="0">
              <a:lnSpc>
                <a:spcPct val="106000"/>
              </a:lnSpc>
              <a:buNone/>
            </a:pPr>
            <a:r>
              <a:rPr lang="en-US" sz="1150" dirty="0">
                <a:solidFill>
                  <a:srgbClr val="A9BFAE"/>
                </a:solidFill>
                <a:latin typeface="Calibri" pitchFamily="34" charset="0"/>
                <a:ea typeface="Calibri" pitchFamily="34" charset="-122"/>
                <a:cs typeface="Calibri" pitchFamily="34" charset="-120"/>
              </a:rPr>
              <a:t>Gruppenarbeit · fünf Vortragende · Rechercheschluss 09.09.2026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ABLAUF</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Fünf Blöcke, fünf Vortragende</a:t>
            </a:r>
            <a:endParaRPr lang="en-US" sz="3000" dirty="0"/>
          </a:p>
        </p:txBody>
      </p:sp>
      <p:sp>
        <p:nvSpPr>
          <p:cNvPr id="4" name="Shape 2"/>
          <p:cNvSpPr/>
          <p:nvPr/>
        </p:nvSpPr>
        <p:spPr>
          <a:xfrm>
            <a:off x="640080" y="1664208"/>
            <a:ext cx="10911535" cy="801014"/>
          </a:xfrm>
          <a:prstGeom prst="roundRect">
            <a:avLst>
              <a:gd name="adj" fmla="val 9132"/>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5" name="Shape 3"/>
          <p:cNvSpPr/>
          <p:nvPr/>
        </p:nvSpPr>
        <p:spPr>
          <a:xfrm>
            <a:off x="896112" y="1854403"/>
            <a:ext cx="420624" cy="420624"/>
          </a:xfrm>
          <a:prstGeom prst="ellipse">
            <a:avLst/>
          </a:prstGeom>
          <a:solidFill>
            <a:srgbClr val="1B3A2F"/>
          </a:solidFill>
          <a:ln w="12700">
            <a:solidFill>
              <a:srgbClr val="1B3A2F"/>
            </a:solidFill>
            <a:prstDash val="solid"/>
          </a:ln>
        </p:spPr>
      </p:sp>
      <p:sp>
        <p:nvSpPr>
          <p:cNvPr id="6" name="Text 4"/>
          <p:cNvSpPr txBox="1"/>
          <p:nvPr/>
        </p:nvSpPr>
        <p:spPr>
          <a:xfrm>
            <a:off x="896112" y="1854403"/>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08760" y="1792224"/>
            <a:ext cx="6035040" cy="310896"/>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Ausgangslage und Vorgehen</a:t>
            </a:r>
            <a:endParaRPr lang="en-US" sz="1600" dirty="0"/>
          </a:p>
        </p:txBody>
      </p:sp>
      <p:sp>
        <p:nvSpPr>
          <p:cNvPr id="8" name="Text 6"/>
          <p:cNvSpPr txBox="1"/>
          <p:nvPr/>
        </p:nvSpPr>
        <p:spPr>
          <a:xfrm>
            <a:off x="1508760" y="2121408"/>
            <a:ext cx="6858000" cy="274320"/>
          </a:xfrm>
          <a:prstGeom prst="rect">
            <a:avLst/>
          </a:prstGeom>
          <a:noFill/>
          <a:ln/>
        </p:spPr>
        <p:txBody>
          <a:bodyPr wrap="square" lIns="0" tIns="0" rIns="0" bIns="0" rtlCol="0" anchor="t"/>
          <a:lstStyle/>
          <a:p>
            <a:pPr algn="l" indent="0" marL="0">
              <a:lnSpc>
                <a:spcPct val="106000"/>
              </a:lnSpc>
              <a:buNone/>
            </a:pPr>
            <a:r>
              <a:rPr lang="en-US" sz="1150" dirty="0">
                <a:solidFill>
                  <a:srgbClr val="6B7A72"/>
                </a:solidFill>
                <a:latin typeface="Calibri" pitchFamily="34" charset="0"/>
                <a:ea typeface="Calibri" pitchFamily="34" charset="-122"/>
                <a:cs typeface="Calibri" pitchFamily="34" charset="-120"/>
              </a:rPr>
              <a:t>Referenzfall, Fallunternehmen, warum Kaffee anders ist als Kakao</a:t>
            </a:r>
            <a:endParaRPr lang="en-US" sz="1150" dirty="0"/>
          </a:p>
        </p:txBody>
      </p:sp>
      <p:sp>
        <p:nvSpPr>
          <p:cNvPr id="9" name="Text 7"/>
          <p:cNvSpPr txBox="1"/>
          <p:nvPr/>
        </p:nvSpPr>
        <p:spPr>
          <a:xfrm>
            <a:off x="9357055" y="1810512"/>
            <a:ext cx="1920240" cy="256032"/>
          </a:xfrm>
          <a:prstGeom prst="rect">
            <a:avLst/>
          </a:prstGeom>
          <a:noFill/>
          <a:ln/>
        </p:spPr>
        <p:txBody>
          <a:bodyPr wrap="square" lIns="0" tIns="0" rIns="0" bIns="0" rtlCol="0" anchor="ctr"/>
          <a:lstStyle/>
          <a:p>
            <a:pPr algn="r" indent="0" marL="0">
              <a:buNone/>
            </a:pPr>
            <a:r>
              <a:rPr lang="en-US" sz="1150" b="1" dirty="0">
                <a:solidFill>
                  <a:srgbClr val="C9762F"/>
                </a:solidFill>
                <a:latin typeface="Calibri" pitchFamily="34" charset="0"/>
                <a:ea typeface="Calibri" pitchFamily="34" charset="-122"/>
                <a:cs typeface="Calibri" pitchFamily="34" charset="-120"/>
              </a:rPr>
              <a:t>Sprecher:in 1</a:t>
            </a:r>
            <a:endParaRPr lang="en-US" sz="1150" dirty="0"/>
          </a:p>
        </p:txBody>
      </p:sp>
      <p:sp>
        <p:nvSpPr>
          <p:cNvPr id="10" name="Text 8"/>
          <p:cNvSpPr txBox="1"/>
          <p:nvPr/>
        </p:nvSpPr>
        <p:spPr>
          <a:xfrm>
            <a:off x="9357055" y="2103120"/>
            <a:ext cx="1920240" cy="256032"/>
          </a:xfrm>
          <a:prstGeom prst="rect">
            <a:avLst/>
          </a:prstGeom>
          <a:noFill/>
          <a:ln/>
        </p:spPr>
        <p:txBody>
          <a:bodyPr wrap="square" lIns="0" tIns="0" rIns="0" bIns="0" rtlCol="0" anchor="ctr"/>
          <a:lstStyle/>
          <a:p>
            <a:pPr algn="r" indent="0" marL="0">
              <a:buNone/>
            </a:pPr>
            <a:r>
              <a:rPr lang="en-US" sz="1100" dirty="0">
                <a:solidFill>
                  <a:srgbClr val="6B7A72"/>
                </a:solidFill>
                <a:latin typeface="Calibri" pitchFamily="34" charset="0"/>
                <a:ea typeface="Calibri" pitchFamily="34" charset="-122"/>
                <a:cs typeface="Calibri" pitchFamily="34" charset="-120"/>
              </a:rPr>
              <a:t>ca. 10 Min.</a:t>
            </a:r>
            <a:endParaRPr lang="en-US" sz="1100" dirty="0"/>
          </a:p>
        </p:txBody>
      </p:sp>
      <p:sp>
        <p:nvSpPr>
          <p:cNvPr id="11" name="Shape 9"/>
          <p:cNvSpPr/>
          <p:nvPr/>
        </p:nvSpPr>
        <p:spPr>
          <a:xfrm>
            <a:off x="640080" y="2611526"/>
            <a:ext cx="10911535" cy="801014"/>
          </a:xfrm>
          <a:prstGeom prst="roundRect">
            <a:avLst>
              <a:gd name="adj" fmla="val 9132"/>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896112" y="2801722"/>
            <a:ext cx="420624" cy="420624"/>
          </a:xfrm>
          <a:prstGeom prst="ellipse">
            <a:avLst/>
          </a:prstGeom>
          <a:solidFill>
            <a:srgbClr val="1B3A2F"/>
          </a:solidFill>
          <a:ln w="12700">
            <a:solidFill>
              <a:srgbClr val="1B3A2F"/>
            </a:solidFill>
            <a:prstDash val="solid"/>
          </a:ln>
        </p:spPr>
      </p:sp>
      <p:sp>
        <p:nvSpPr>
          <p:cNvPr id="13" name="Text 11"/>
          <p:cNvSpPr txBox="1"/>
          <p:nvPr/>
        </p:nvSpPr>
        <p:spPr>
          <a:xfrm>
            <a:off x="896112" y="280172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508760" y="2739542"/>
            <a:ext cx="6035040" cy="310896"/>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Regulatorik</a:t>
            </a:r>
            <a:endParaRPr lang="en-US" sz="1600" dirty="0"/>
          </a:p>
        </p:txBody>
      </p:sp>
      <p:sp>
        <p:nvSpPr>
          <p:cNvPr id="15" name="Text 13"/>
          <p:cNvSpPr txBox="1"/>
          <p:nvPr/>
        </p:nvSpPr>
        <p:spPr>
          <a:xfrm>
            <a:off x="1508760" y="3068726"/>
            <a:ext cx="6858000" cy="274320"/>
          </a:xfrm>
          <a:prstGeom prst="rect">
            <a:avLst/>
          </a:prstGeom>
          <a:noFill/>
          <a:ln/>
        </p:spPr>
        <p:txBody>
          <a:bodyPr wrap="square" lIns="0" tIns="0" rIns="0" bIns="0" rtlCol="0" anchor="t"/>
          <a:lstStyle/>
          <a:p>
            <a:pPr algn="l" indent="0" marL="0">
              <a:lnSpc>
                <a:spcPct val="106000"/>
              </a:lnSpc>
              <a:buNone/>
            </a:pPr>
            <a:r>
              <a:rPr lang="en-US" sz="1150" dirty="0">
                <a:solidFill>
                  <a:srgbClr val="6B7A72"/>
                </a:solidFill>
                <a:latin typeface="Calibri" pitchFamily="34" charset="0"/>
                <a:ea typeface="Calibri" pitchFamily="34" charset="-122"/>
                <a:cs typeface="Calibri" pitchFamily="34" charset="-120"/>
              </a:rPr>
              <a:t>EUDR nach der Revision, Rollenfrage — und was überraschend nicht gilt</a:t>
            </a:r>
            <a:endParaRPr lang="en-US" sz="1150" dirty="0"/>
          </a:p>
        </p:txBody>
      </p:sp>
      <p:sp>
        <p:nvSpPr>
          <p:cNvPr id="16" name="Text 14"/>
          <p:cNvSpPr txBox="1"/>
          <p:nvPr/>
        </p:nvSpPr>
        <p:spPr>
          <a:xfrm>
            <a:off x="9357055" y="2757830"/>
            <a:ext cx="1920240" cy="256032"/>
          </a:xfrm>
          <a:prstGeom prst="rect">
            <a:avLst/>
          </a:prstGeom>
          <a:noFill/>
          <a:ln/>
        </p:spPr>
        <p:txBody>
          <a:bodyPr wrap="square" lIns="0" tIns="0" rIns="0" bIns="0" rtlCol="0" anchor="ctr"/>
          <a:lstStyle/>
          <a:p>
            <a:pPr algn="r" indent="0" marL="0">
              <a:buNone/>
            </a:pPr>
            <a:r>
              <a:rPr lang="en-US" sz="1150" b="1" dirty="0">
                <a:solidFill>
                  <a:srgbClr val="C9762F"/>
                </a:solidFill>
                <a:latin typeface="Calibri" pitchFamily="34" charset="0"/>
                <a:ea typeface="Calibri" pitchFamily="34" charset="-122"/>
                <a:cs typeface="Calibri" pitchFamily="34" charset="-120"/>
              </a:rPr>
              <a:t>Sprecher:in 2</a:t>
            </a:r>
            <a:endParaRPr lang="en-US" sz="1150" dirty="0"/>
          </a:p>
        </p:txBody>
      </p:sp>
      <p:sp>
        <p:nvSpPr>
          <p:cNvPr id="17" name="Text 15"/>
          <p:cNvSpPr txBox="1"/>
          <p:nvPr/>
        </p:nvSpPr>
        <p:spPr>
          <a:xfrm>
            <a:off x="9357055" y="3050438"/>
            <a:ext cx="1920240" cy="256032"/>
          </a:xfrm>
          <a:prstGeom prst="rect">
            <a:avLst/>
          </a:prstGeom>
          <a:noFill/>
          <a:ln/>
        </p:spPr>
        <p:txBody>
          <a:bodyPr wrap="square" lIns="0" tIns="0" rIns="0" bIns="0" rtlCol="0" anchor="ctr"/>
          <a:lstStyle/>
          <a:p>
            <a:pPr algn="r" indent="0" marL="0">
              <a:buNone/>
            </a:pPr>
            <a:r>
              <a:rPr lang="en-US" sz="1100" dirty="0">
                <a:solidFill>
                  <a:srgbClr val="6B7A72"/>
                </a:solidFill>
                <a:latin typeface="Calibri" pitchFamily="34" charset="0"/>
                <a:ea typeface="Calibri" pitchFamily="34" charset="-122"/>
                <a:cs typeface="Calibri" pitchFamily="34" charset="-120"/>
              </a:rPr>
              <a:t>ca. 10 Min.</a:t>
            </a:r>
            <a:endParaRPr lang="en-US" sz="1100" dirty="0"/>
          </a:p>
        </p:txBody>
      </p:sp>
      <p:sp>
        <p:nvSpPr>
          <p:cNvPr id="18" name="Shape 16"/>
          <p:cNvSpPr/>
          <p:nvPr/>
        </p:nvSpPr>
        <p:spPr>
          <a:xfrm>
            <a:off x="640080" y="3558845"/>
            <a:ext cx="10911535" cy="801014"/>
          </a:xfrm>
          <a:prstGeom prst="roundRect">
            <a:avLst>
              <a:gd name="adj" fmla="val 9132"/>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9" name="Shape 17"/>
          <p:cNvSpPr/>
          <p:nvPr/>
        </p:nvSpPr>
        <p:spPr>
          <a:xfrm>
            <a:off x="896112" y="3749040"/>
            <a:ext cx="420624" cy="420624"/>
          </a:xfrm>
          <a:prstGeom prst="ellipse">
            <a:avLst/>
          </a:prstGeom>
          <a:solidFill>
            <a:srgbClr val="1B3A2F"/>
          </a:solidFill>
          <a:ln w="12700">
            <a:solidFill>
              <a:srgbClr val="1B3A2F"/>
            </a:solidFill>
            <a:prstDash val="solid"/>
          </a:ln>
        </p:spPr>
      </p:sp>
      <p:sp>
        <p:nvSpPr>
          <p:cNvPr id="20" name="Text 18"/>
          <p:cNvSpPr txBox="1"/>
          <p:nvPr/>
        </p:nvSpPr>
        <p:spPr>
          <a:xfrm>
            <a:off x="896112" y="3749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508760" y="3686861"/>
            <a:ext cx="6035040" cy="310896"/>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Lieferkette und Datenmodell</a:t>
            </a:r>
            <a:endParaRPr lang="en-US" sz="1600" dirty="0"/>
          </a:p>
        </p:txBody>
      </p:sp>
      <p:sp>
        <p:nvSpPr>
          <p:cNvPr id="22" name="Text 20"/>
          <p:cNvSpPr txBox="1"/>
          <p:nvPr/>
        </p:nvSpPr>
        <p:spPr>
          <a:xfrm>
            <a:off x="1508760" y="4016045"/>
            <a:ext cx="6858000" cy="274320"/>
          </a:xfrm>
          <a:prstGeom prst="rect">
            <a:avLst/>
          </a:prstGeom>
          <a:noFill/>
          <a:ln/>
        </p:spPr>
        <p:txBody>
          <a:bodyPr wrap="square" lIns="0" tIns="0" rIns="0" bIns="0" rtlCol="0" anchor="t"/>
          <a:lstStyle/>
          <a:p>
            <a:pPr algn="l" indent="0" marL="0">
              <a:lnSpc>
                <a:spcPct val="106000"/>
              </a:lnSpc>
              <a:buNone/>
            </a:pPr>
            <a:r>
              <a:rPr lang="en-US" sz="1150" dirty="0">
                <a:solidFill>
                  <a:srgbClr val="6B7A72"/>
                </a:solidFill>
                <a:latin typeface="Calibri" pitchFamily="34" charset="0"/>
                <a:ea typeface="Calibri" pitchFamily="34" charset="-122"/>
                <a:cs typeface="Calibri" pitchFamily="34" charset="-120"/>
              </a:rPr>
              <a:t>Akteure, Bruchstellen, GS1-Standard, Datenschutz, Evidence Grading</a:t>
            </a:r>
            <a:endParaRPr lang="en-US" sz="1150" dirty="0"/>
          </a:p>
        </p:txBody>
      </p:sp>
      <p:sp>
        <p:nvSpPr>
          <p:cNvPr id="23" name="Text 21"/>
          <p:cNvSpPr txBox="1"/>
          <p:nvPr/>
        </p:nvSpPr>
        <p:spPr>
          <a:xfrm>
            <a:off x="9357055" y="3705149"/>
            <a:ext cx="1920240" cy="256032"/>
          </a:xfrm>
          <a:prstGeom prst="rect">
            <a:avLst/>
          </a:prstGeom>
          <a:noFill/>
          <a:ln/>
        </p:spPr>
        <p:txBody>
          <a:bodyPr wrap="square" lIns="0" tIns="0" rIns="0" bIns="0" rtlCol="0" anchor="ctr"/>
          <a:lstStyle/>
          <a:p>
            <a:pPr algn="r" indent="0" marL="0">
              <a:buNone/>
            </a:pPr>
            <a:r>
              <a:rPr lang="en-US" sz="1150" b="1" dirty="0">
                <a:solidFill>
                  <a:srgbClr val="C9762F"/>
                </a:solidFill>
                <a:latin typeface="Calibri" pitchFamily="34" charset="0"/>
                <a:ea typeface="Calibri" pitchFamily="34" charset="-122"/>
                <a:cs typeface="Calibri" pitchFamily="34" charset="-120"/>
              </a:rPr>
              <a:t>Sprecher:in 3</a:t>
            </a:r>
            <a:endParaRPr lang="en-US" sz="1150" dirty="0"/>
          </a:p>
        </p:txBody>
      </p:sp>
      <p:sp>
        <p:nvSpPr>
          <p:cNvPr id="24" name="Text 22"/>
          <p:cNvSpPr txBox="1"/>
          <p:nvPr/>
        </p:nvSpPr>
        <p:spPr>
          <a:xfrm>
            <a:off x="9357055" y="3997757"/>
            <a:ext cx="1920240" cy="256032"/>
          </a:xfrm>
          <a:prstGeom prst="rect">
            <a:avLst/>
          </a:prstGeom>
          <a:noFill/>
          <a:ln/>
        </p:spPr>
        <p:txBody>
          <a:bodyPr wrap="square" lIns="0" tIns="0" rIns="0" bIns="0" rtlCol="0" anchor="ctr"/>
          <a:lstStyle/>
          <a:p>
            <a:pPr algn="r" indent="0" marL="0">
              <a:buNone/>
            </a:pPr>
            <a:r>
              <a:rPr lang="en-US" sz="1100" dirty="0">
                <a:solidFill>
                  <a:srgbClr val="6B7A72"/>
                </a:solidFill>
                <a:latin typeface="Calibri" pitchFamily="34" charset="0"/>
                <a:ea typeface="Calibri" pitchFamily="34" charset="-122"/>
                <a:cs typeface="Calibri" pitchFamily="34" charset="-120"/>
              </a:rPr>
              <a:t>ca. 10 Min.</a:t>
            </a:r>
            <a:endParaRPr lang="en-US" sz="1100" dirty="0"/>
          </a:p>
        </p:txBody>
      </p:sp>
      <p:sp>
        <p:nvSpPr>
          <p:cNvPr id="25" name="Shape 23"/>
          <p:cNvSpPr/>
          <p:nvPr/>
        </p:nvSpPr>
        <p:spPr>
          <a:xfrm>
            <a:off x="640080" y="4506163"/>
            <a:ext cx="10911535" cy="801014"/>
          </a:xfrm>
          <a:prstGeom prst="roundRect">
            <a:avLst>
              <a:gd name="adj" fmla="val 9132"/>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6" name="Shape 24"/>
          <p:cNvSpPr/>
          <p:nvPr/>
        </p:nvSpPr>
        <p:spPr>
          <a:xfrm>
            <a:off x="896112" y="4696358"/>
            <a:ext cx="420624" cy="420624"/>
          </a:xfrm>
          <a:prstGeom prst="ellipse">
            <a:avLst/>
          </a:prstGeom>
          <a:solidFill>
            <a:srgbClr val="1B3A2F"/>
          </a:solidFill>
          <a:ln w="12700">
            <a:solidFill>
              <a:srgbClr val="1B3A2F"/>
            </a:solidFill>
            <a:prstDash val="solid"/>
          </a:ln>
        </p:spPr>
      </p:sp>
      <p:sp>
        <p:nvSpPr>
          <p:cNvPr id="27" name="Text 25"/>
          <p:cNvSpPr txBox="1"/>
          <p:nvPr/>
        </p:nvSpPr>
        <p:spPr>
          <a:xfrm>
            <a:off x="896112" y="469635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txBox="1"/>
          <p:nvPr/>
        </p:nvSpPr>
        <p:spPr>
          <a:xfrm>
            <a:off x="1508760" y="4634179"/>
            <a:ext cx="6035040" cy="310896"/>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Architektur und Massenbilanz</a:t>
            </a:r>
            <a:endParaRPr lang="en-US" sz="1600" dirty="0"/>
          </a:p>
        </p:txBody>
      </p:sp>
      <p:sp>
        <p:nvSpPr>
          <p:cNvPr id="29" name="Text 27"/>
          <p:cNvSpPr txBox="1"/>
          <p:nvPr/>
        </p:nvSpPr>
        <p:spPr>
          <a:xfrm>
            <a:off x="1508760" y="4963363"/>
            <a:ext cx="6858000" cy="274320"/>
          </a:xfrm>
          <a:prstGeom prst="rect">
            <a:avLst/>
          </a:prstGeom>
          <a:noFill/>
          <a:ln/>
        </p:spPr>
        <p:txBody>
          <a:bodyPr wrap="square" lIns="0" tIns="0" rIns="0" bIns="0" rtlCol="0" anchor="t"/>
          <a:lstStyle/>
          <a:p>
            <a:pPr algn="l" indent="0" marL="0">
              <a:lnSpc>
                <a:spcPct val="106000"/>
              </a:lnSpc>
              <a:buNone/>
            </a:pPr>
            <a:r>
              <a:rPr lang="en-US" sz="1150" dirty="0">
                <a:solidFill>
                  <a:srgbClr val="6B7A72"/>
                </a:solidFill>
                <a:latin typeface="Calibri" pitchFamily="34" charset="0"/>
                <a:ea typeface="Calibri" pitchFamily="34" charset="-122"/>
                <a:cs typeface="Calibri" pitchFamily="34" charset="-120"/>
              </a:rPr>
              <a:t>Drei Optionen, die Gegenthese zur Blockchain, Röstverlust und Blends</a:t>
            </a:r>
            <a:endParaRPr lang="en-US" sz="1150" dirty="0"/>
          </a:p>
        </p:txBody>
      </p:sp>
      <p:sp>
        <p:nvSpPr>
          <p:cNvPr id="30" name="Text 28"/>
          <p:cNvSpPr txBox="1"/>
          <p:nvPr/>
        </p:nvSpPr>
        <p:spPr>
          <a:xfrm>
            <a:off x="9357055" y="4652467"/>
            <a:ext cx="1920240" cy="256032"/>
          </a:xfrm>
          <a:prstGeom prst="rect">
            <a:avLst/>
          </a:prstGeom>
          <a:noFill/>
          <a:ln/>
        </p:spPr>
        <p:txBody>
          <a:bodyPr wrap="square" lIns="0" tIns="0" rIns="0" bIns="0" rtlCol="0" anchor="ctr"/>
          <a:lstStyle/>
          <a:p>
            <a:pPr algn="r" indent="0" marL="0">
              <a:buNone/>
            </a:pPr>
            <a:r>
              <a:rPr lang="en-US" sz="1150" b="1" dirty="0">
                <a:solidFill>
                  <a:srgbClr val="C9762F"/>
                </a:solidFill>
                <a:latin typeface="Calibri" pitchFamily="34" charset="0"/>
                <a:ea typeface="Calibri" pitchFamily="34" charset="-122"/>
                <a:cs typeface="Calibri" pitchFamily="34" charset="-120"/>
              </a:rPr>
              <a:t>Sprecher:in 4</a:t>
            </a:r>
            <a:endParaRPr lang="en-US" sz="1150" dirty="0"/>
          </a:p>
        </p:txBody>
      </p:sp>
      <p:sp>
        <p:nvSpPr>
          <p:cNvPr id="31" name="Text 29"/>
          <p:cNvSpPr txBox="1"/>
          <p:nvPr/>
        </p:nvSpPr>
        <p:spPr>
          <a:xfrm>
            <a:off x="9357055" y="4945075"/>
            <a:ext cx="1920240" cy="256032"/>
          </a:xfrm>
          <a:prstGeom prst="rect">
            <a:avLst/>
          </a:prstGeom>
          <a:noFill/>
          <a:ln/>
        </p:spPr>
        <p:txBody>
          <a:bodyPr wrap="square" lIns="0" tIns="0" rIns="0" bIns="0" rtlCol="0" anchor="ctr"/>
          <a:lstStyle/>
          <a:p>
            <a:pPr algn="r" indent="0" marL="0">
              <a:buNone/>
            </a:pPr>
            <a:r>
              <a:rPr lang="en-US" sz="1100" dirty="0">
                <a:solidFill>
                  <a:srgbClr val="6B7A72"/>
                </a:solidFill>
                <a:latin typeface="Calibri" pitchFamily="34" charset="0"/>
                <a:ea typeface="Calibri" pitchFamily="34" charset="-122"/>
                <a:cs typeface="Calibri" pitchFamily="34" charset="-120"/>
              </a:rPr>
              <a:t>ca. 10 Min.</a:t>
            </a:r>
            <a:endParaRPr lang="en-US" sz="1100" dirty="0"/>
          </a:p>
        </p:txBody>
      </p:sp>
      <p:sp>
        <p:nvSpPr>
          <p:cNvPr id="32" name="Shape 30"/>
          <p:cNvSpPr/>
          <p:nvPr/>
        </p:nvSpPr>
        <p:spPr>
          <a:xfrm>
            <a:off x="640080" y="5453482"/>
            <a:ext cx="10911535" cy="801014"/>
          </a:xfrm>
          <a:prstGeom prst="roundRect">
            <a:avLst>
              <a:gd name="adj" fmla="val 9132"/>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3" name="Shape 31"/>
          <p:cNvSpPr/>
          <p:nvPr/>
        </p:nvSpPr>
        <p:spPr>
          <a:xfrm>
            <a:off x="896112" y="5643677"/>
            <a:ext cx="420624" cy="420624"/>
          </a:xfrm>
          <a:prstGeom prst="ellipse">
            <a:avLst/>
          </a:prstGeom>
          <a:solidFill>
            <a:srgbClr val="1B3A2F"/>
          </a:solidFill>
          <a:ln w="12700">
            <a:solidFill>
              <a:srgbClr val="1B3A2F"/>
            </a:solidFill>
            <a:prstDash val="solid"/>
          </a:ln>
        </p:spPr>
      </p:sp>
      <p:sp>
        <p:nvSpPr>
          <p:cNvPr id="34" name="Text 32"/>
          <p:cNvSpPr txBox="1"/>
          <p:nvPr/>
        </p:nvSpPr>
        <p:spPr>
          <a:xfrm>
            <a:off x="896112" y="5643677"/>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5" name="Text 33"/>
          <p:cNvSpPr txBox="1"/>
          <p:nvPr/>
        </p:nvSpPr>
        <p:spPr>
          <a:xfrm>
            <a:off x="1508760" y="5581498"/>
            <a:ext cx="6035040" cy="310896"/>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CO₂, Umsetzung und Risiken</a:t>
            </a:r>
            <a:endParaRPr lang="en-US" sz="1600" dirty="0"/>
          </a:p>
        </p:txBody>
      </p:sp>
      <p:sp>
        <p:nvSpPr>
          <p:cNvPr id="36" name="Text 34"/>
          <p:cNvSpPr txBox="1"/>
          <p:nvPr/>
        </p:nvSpPr>
        <p:spPr>
          <a:xfrm>
            <a:off x="1508760" y="5910682"/>
            <a:ext cx="6858000" cy="274320"/>
          </a:xfrm>
          <a:prstGeom prst="rect">
            <a:avLst/>
          </a:prstGeom>
          <a:noFill/>
          <a:ln/>
        </p:spPr>
        <p:txBody>
          <a:bodyPr wrap="square" lIns="0" tIns="0" rIns="0" bIns="0" rtlCol="0" anchor="t"/>
          <a:lstStyle/>
          <a:p>
            <a:pPr algn="l" indent="0" marL="0">
              <a:lnSpc>
                <a:spcPct val="106000"/>
              </a:lnSpc>
              <a:buNone/>
            </a:pPr>
            <a:r>
              <a:rPr lang="en-US" sz="1150" dirty="0">
                <a:solidFill>
                  <a:srgbClr val="6B7A72"/>
                </a:solidFill>
                <a:latin typeface="Calibri" pitchFamily="34" charset="0"/>
                <a:ea typeface="Calibri" pitchFamily="34" charset="-122"/>
                <a:cs typeface="Calibri" pitchFamily="34" charset="-120"/>
              </a:rPr>
              <a:t>Bilanzierung ohne Scheingenauigkeit, MVP, Roadmap, Empfehlung</a:t>
            </a:r>
            <a:endParaRPr lang="en-US" sz="1150" dirty="0"/>
          </a:p>
        </p:txBody>
      </p:sp>
      <p:sp>
        <p:nvSpPr>
          <p:cNvPr id="37" name="Text 35"/>
          <p:cNvSpPr txBox="1"/>
          <p:nvPr/>
        </p:nvSpPr>
        <p:spPr>
          <a:xfrm>
            <a:off x="9357055" y="5599786"/>
            <a:ext cx="1920240" cy="256032"/>
          </a:xfrm>
          <a:prstGeom prst="rect">
            <a:avLst/>
          </a:prstGeom>
          <a:noFill/>
          <a:ln/>
        </p:spPr>
        <p:txBody>
          <a:bodyPr wrap="square" lIns="0" tIns="0" rIns="0" bIns="0" rtlCol="0" anchor="ctr"/>
          <a:lstStyle/>
          <a:p>
            <a:pPr algn="r" indent="0" marL="0">
              <a:buNone/>
            </a:pPr>
            <a:r>
              <a:rPr lang="en-US" sz="1150" b="1" dirty="0">
                <a:solidFill>
                  <a:srgbClr val="C9762F"/>
                </a:solidFill>
                <a:latin typeface="Calibri" pitchFamily="34" charset="0"/>
                <a:ea typeface="Calibri" pitchFamily="34" charset="-122"/>
                <a:cs typeface="Calibri" pitchFamily="34" charset="-120"/>
              </a:rPr>
              <a:t>Sprecher:in 5</a:t>
            </a:r>
            <a:endParaRPr lang="en-US" sz="1150" dirty="0"/>
          </a:p>
        </p:txBody>
      </p:sp>
      <p:sp>
        <p:nvSpPr>
          <p:cNvPr id="38" name="Text 36"/>
          <p:cNvSpPr txBox="1"/>
          <p:nvPr/>
        </p:nvSpPr>
        <p:spPr>
          <a:xfrm>
            <a:off x="9357055" y="5892394"/>
            <a:ext cx="1920240" cy="256032"/>
          </a:xfrm>
          <a:prstGeom prst="rect">
            <a:avLst/>
          </a:prstGeom>
          <a:noFill/>
          <a:ln/>
        </p:spPr>
        <p:txBody>
          <a:bodyPr wrap="square" lIns="0" tIns="0" rIns="0" bIns="0" rtlCol="0" anchor="ctr"/>
          <a:lstStyle/>
          <a:p>
            <a:pPr algn="r" indent="0" marL="0">
              <a:buNone/>
            </a:pPr>
            <a:r>
              <a:rPr lang="en-US" sz="1100" dirty="0">
                <a:solidFill>
                  <a:srgbClr val="6B7A72"/>
                </a:solidFill>
                <a:latin typeface="Calibri" pitchFamily="34" charset="0"/>
                <a:ea typeface="Calibri" pitchFamily="34" charset="-122"/>
                <a:cs typeface="Calibri" pitchFamily="34" charset="-120"/>
              </a:rPr>
              <a:t>ca. 10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Ausgangslage und Vorgehen</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Was war der Auftrag, mit welchem Unternehmen arbeiten wir,</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und warum ist Kaffee nicht Kakao?</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1  ·  ca. 10 Minuten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DER REFERENZFALL</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Kakao-Pilot: Hashgraph Group, Merck und PwC Germany</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40080"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1B3A2F"/>
          </a:solidFill>
          <a:ln w="12700">
            <a:solidFill>
              <a:srgbClr val="1B3A2F"/>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TrackTrace</a:t>
            </a:r>
            <a:endParaRPr lang="en-US" sz="1500" dirty="0"/>
          </a:p>
        </p:txBody>
      </p:sp>
      <p:sp>
        <p:nvSpPr>
          <p:cNvPr id="10" name="Text 8"/>
          <p:cNvSpPr txBox="1"/>
          <p:nvPr/>
        </p:nvSpPr>
        <p:spPr>
          <a:xfrm>
            <a:off x="877824"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Plattform der Hashgraph Group für digitale Produktpässe. Erzeugt pro Charge einen digitalen Zwilling und erfasst Ereignisse an definierten Prüfpunkten.</a:t>
            </a:r>
            <a:endParaRPr lang="en-US" sz="900" dirty="0"/>
          </a:p>
        </p:txBody>
      </p:sp>
      <p:sp>
        <p:nvSpPr>
          <p:cNvPr id="11" name="Shape 9"/>
          <p:cNvSpPr/>
          <p:nvPr/>
        </p:nvSpPr>
        <p:spPr>
          <a:xfrm>
            <a:off x="4356506"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M-Trust™ von Merck</a:t>
            </a:r>
            <a:endParaRPr lang="en-US" sz="1500" dirty="0"/>
          </a:p>
        </p:txBody>
      </p:sp>
      <p:sp>
        <p:nvSpPr>
          <p:cNvPr id="15" name="Text 13"/>
          <p:cNvSpPr txBox="1"/>
          <p:nvPr/>
        </p:nvSpPr>
        <p:spPr>
          <a:xfrm>
            <a:off x="4594250"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Unsichtbare Sicherheitsmarker auf Pigmentbasis in Produkt oder Verpackung. Verifikation über ein Handlesegerät vor Ort.</a:t>
            </a:r>
            <a:endParaRPr lang="en-US" sz="900" dirty="0"/>
          </a:p>
        </p:txBody>
      </p:sp>
      <p:sp>
        <p:nvSpPr>
          <p:cNvPr id="16" name="Shape 14"/>
          <p:cNvSpPr/>
          <p:nvPr/>
        </p:nvSpPr>
        <p:spPr>
          <a:xfrm>
            <a:off x="8072933"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Hedera als Ledger</a:t>
            </a:r>
            <a:endParaRPr lang="en-US" sz="1500" dirty="0"/>
          </a:p>
        </p:txBody>
      </p:sp>
      <p:sp>
        <p:nvSpPr>
          <p:cNvPr id="20" name="Text 18"/>
          <p:cNvSpPr txBox="1"/>
          <p:nvPr/>
        </p:nvSpPr>
        <p:spPr>
          <a:xfrm>
            <a:off x="8310677"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Über den Consensus Service werden ausschließlich Hashes von Ereignissen und Dokumenten verankert — keine vertraulichen Inhalte. Beweist Zeitgleichheit.</a:t>
            </a:r>
            <a:endParaRPr lang="en-US" sz="900" dirty="0"/>
          </a:p>
        </p:txBody>
      </p:sp>
      <p:sp>
        <p:nvSpPr>
          <p:cNvPr id="21" name="Shape 19"/>
          <p:cNvSpPr/>
          <p:nvPr/>
        </p:nvSpPr>
        <p:spPr>
          <a:xfrm>
            <a:off x="640080"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3858768"/>
            <a:ext cx="347472" cy="347472"/>
          </a:xfrm>
          <a:prstGeom prst="ellipse">
            <a:avLst/>
          </a:prstGeom>
          <a:solidFill>
            <a:srgbClr val="1B3A2F"/>
          </a:solidFill>
          <a:ln w="12700">
            <a:solidFill>
              <a:srgbClr val="1B3A2F"/>
            </a:solidFill>
            <a:prstDash val="solid"/>
          </a:ln>
        </p:spPr>
      </p:sp>
      <p:sp>
        <p:nvSpPr>
          <p:cNvPr id="23" name="Text 21"/>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261104"/>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PwC Germany</a:t>
            </a:r>
            <a:endParaRPr lang="en-US" sz="1500" dirty="0"/>
          </a:p>
        </p:txBody>
      </p:sp>
      <p:sp>
        <p:nvSpPr>
          <p:cNvPr id="25" name="Text 23"/>
          <p:cNvSpPr txBox="1"/>
          <p:nvPr/>
        </p:nvSpPr>
        <p:spPr>
          <a:xfrm>
            <a:off x="877824"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Geschäftsprozesse, Governance, Rollenmodell und Schulung. Der Teil, der in Technikprojekten regelmäßig unterschätzt wird.</a:t>
            </a:r>
            <a:endParaRPr lang="en-US" sz="900" dirty="0"/>
          </a:p>
        </p:txBody>
      </p:sp>
      <p:sp>
        <p:nvSpPr>
          <p:cNvPr id="26" name="Shape 24"/>
          <p:cNvSpPr/>
          <p:nvPr/>
        </p:nvSpPr>
        <p:spPr>
          <a:xfrm>
            <a:off x="4356506"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3858768"/>
            <a:ext cx="347472" cy="347472"/>
          </a:xfrm>
          <a:prstGeom prst="ellipse">
            <a:avLst/>
          </a:prstGeom>
          <a:solidFill>
            <a:srgbClr val="1B3A2F"/>
          </a:solidFill>
          <a:ln w="12700">
            <a:solidFill>
              <a:srgbClr val="1B3A2F"/>
            </a:solidFill>
            <a:prstDash val="solid"/>
          </a:ln>
        </p:spPr>
      </p:sp>
      <p:sp>
        <p:nvSpPr>
          <p:cNvPr id="28" name="Text 26"/>
          <p:cNvSpPr txBox="1"/>
          <p:nvPr/>
        </p:nvSpPr>
        <p:spPr>
          <a:xfrm>
            <a:off x="4594250"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261104"/>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Evidence Grading</a:t>
            </a:r>
            <a:endParaRPr lang="en-US" sz="1500" dirty="0"/>
          </a:p>
        </p:txBody>
      </p:sp>
      <p:sp>
        <p:nvSpPr>
          <p:cNvPr id="30" name="Text 28"/>
          <p:cNvSpPr txBox="1"/>
          <p:nvPr/>
        </p:nvSpPr>
        <p:spPr>
          <a:xfrm>
            <a:off x="4594250"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Daten werden als „Verified" oder „Declared" klassifiziert, statt schwächere Daten abzulehnen. Wir übernehmen dieses Prinzip vollständig.</a:t>
            </a:r>
            <a:endParaRPr lang="en-US" sz="900" dirty="0"/>
          </a:p>
        </p:txBody>
      </p:sp>
      <p:sp>
        <p:nvSpPr>
          <p:cNvPr id="31" name="Shape 29"/>
          <p:cNvSpPr/>
          <p:nvPr/>
        </p:nvSpPr>
        <p:spPr>
          <a:xfrm>
            <a:off x="8072933"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58768"/>
            <a:ext cx="347472" cy="347472"/>
          </a:xfrm>
          <a:prstGeom prst="ellipse">
            <a:avLst/>
          </a:prstGeom>
          <a:solidFill>
            <a:srgbClr val="1B3A2F"/>
          </a:solidFill>
          <a:ln w="12700">
            <a:solidFill>
              <a:srgbClr val="1B3A2F"/>
            </a:solidFill>
            <a:prstDash val="solid"/>
          </a:ln>
        </p:spPr>
      </p:sp>
      <p:sp>
        <p:nvSpPr>
          <p:cNvPr id="33" name="Text 31"/>
          <p:cNvSpPr txBox="1"/>
          <p:nvPr/>
        </p:nvSpPr>
        <p:spPr>
          <a:xfrm>
            <a:off x="8310677"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10677" y="4261104"/>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Tokenisierte Massenbilanz</a:t>
            </a:r>
            <a:endParaRPr lang="en-US" sz="1500" dirty="0"/>
          </a:p>
        </p:txBody>
      </p:sp>
      <p:sp>
        <p:nvSpPr>
          <p:cNvPr id="35" name="Text 33"/>
          <p:cNvSpPr txBox="1"/>
          <p:nvPr/>
        </p:nvSpPr>
        <p:spPr>
          <a:xfrm>
            <a:off x="8310677"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Bei Transformation werden Input-Token gesperrt statt verbrannt, Output-Token neu geprägt. Erzwungen wird: Input ≥ Output + Verlust.</a:t>
            </a:r>
            <a:endParaRPr lang="en-US" sz="900" dirty="0"/>
          </a:p>
        </p:txBody>
      </p:sp>
      <p:sp>
        <p:nvSpPr>
          <p:cNvPr id="36" name="Shape 3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7" name="Text 3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Angekündigt am 08.09.2026 — der Auslöser ist die EUDR-Frist zum 30.12.2026 und Bußgelder bis 4 % des Jahresumsatzes.</a:t>
            </a:r>
            <a:endParaRPr lang="en-US" sz="1300" dirty="0"/>
          </a:p>
        </p:txBody>
      </p:sp>
      <p:sp>
        <p:nvSpPr>
          <p:cNvPr id="38" name="Text 36"/>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Quelle: Pressemitteilung The Hashgraph Group / Merck / PwC Germany, 08.09.2026 [recherchiert]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DAS FALLUNTERNEHMEN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Unsere Rösterei — konstruiert, aber realistisch</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40080"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86384" y="1901952"/>
            <a:ext cx="3173882" cy="841248"/>
          </a:xfrm>
          <a:prstGeom prst="rect">
            <a:avLst/>
          </a:prstGeom>
          <a:noFill/>
          <a:ln/>
        </p:spPr>
        <p:txBody>
          <a:bodyPr wrap="square" lIns="0" tIns="0" rIns="0" bIns="0" rtlCol="0" anchor="ctr"/>
          <a:lstStyle/>
          <a:p>
            <a:pPr algn="ctr" indent="0" marL="0">
              <a:lnSpc>
                <a:spcPct val="106000"/>
              </a:lnSpc>
              <a:buNone/>
            </a:pPr>
            <a:r>
              <a:rPr lang="en-US" sz="3800" b="1" dirty="0">
                <a:solidFill>
                  <a:srgbClr val="C9762F"/>
                </a:solidFill>
                <a:latin typeface="Cambria" pitchFamily="34" charset="0"/>
                <a:ea typeface="Cambria" pitchFamily="34" charset="-122"/>
                <a:cs typeface="Cambria" pitchFamily="34" charset="-120"/>
              </a:rPr>
              <a:t>&gt; 1.000 t</a:t>
            </a:r>
            <a:endParaRPr lang="en-US" sz="3800" dirty="0"/>
          </a:p>
        </p:txBody>
      </p:sp>
      <p:sp>
        <p:nvSpPr>
          <p:cNvPr id="8" name="Text 6"/>
          <p:cNvSpPr txBox="1"/>
          <p:nvPr/>
        </p:nvSpPr>
        <p:spPr>
          <a:xfrm>
            <a:off x="786384"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Grünkaffee pro Jahr</a:t>
            </a:r>
            <a:endParaRPr lang="en-US" sz="1400" dirty="0"/>
          </a:p>
        </p:txBody>
      </p:sp>
      <p:sp>
        <p:nvSpPr>
          <p:cNvPr id="9" name="Text 7"/>
          <p:cNvSpPr txBox="1"/>
          <p:nvPr/>
        </p:nvSpPr>
        <p:spPr>
          <a:xfrm>
            <a:off x="822960"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Damit kein KMU nach EU-Definition — die Frist ist der 30.12.2026, nicht Juni 2027</a:t>
            </a:r>
            <a:endParaRPr lang="en-US" sz="1150" dirty="0"/>
          </a:p>
        </p:txBody>
      </p:sp>
      <p:sp>
        <p:nvSpPr>
          <p:cNvPr id="10" name="Shape 8"/>
          <p:cNvSpPr/>
          <p:nvPr/>
        </p:nvSpPr>
        <p:spPr>
          <a:xfrm>
            <a:off x="4362602"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4508906" y="1901952"/>
            <a:ext cx="3173882" cy="841248"/>
          </a:xfrm>
          <a:prstGeom prst="rect">
            <a:avLst/>
          </a:prstGeom>
          <a:noFill/>
          <a:ln/>
        </p:spPr>
        <p:txBody>
          <a:bodyPr wrap="square" lIns="0" tIns="0" rIns="0" bIns="0" rtlCol="0" anchor="ctr"/>
          <a:lstStyle/>
          <a:p>
            <a:pPr algn="ctr" indent="0" marL="0">
              <a:lnSpc>
                <a:spcPct val="106000"/>
              </a:lnSpc>
              <a:buNone/>
            </a:pPr>
            <a:r>
              <a:rPr lang="en-US" sz="3800" b="1" dirty="0">
                <a:solidFill>
                  <a:srgbClr val="C9762F"/>
                </a:solidFill>
                <a:latin typeface="Cambria" pitchFamily="34" charset="0"/>
                <a:ea typeface="Cambria" pitchFamily="34" charset="-122"/>
                <a:cs typeface="Cambria" pitchFamily="34" charset="-120"/>
              </a:rPr>
              <a:t>&gt; 50</a:t>
            </a:r>
            <a:endParaRPr lang="en-US" sz="3800" dirty="0"/>
          </a:p>
        </p:txBody>
      </p:sp>
      <p:sp>
        <p:nvSpPr>
          <p:cNvPr id="12" name="Text 10"/>
          <p:cNvSpPr txBox="1"/>
          <p:nvPr/>
        </p:nvSpPr>
        <p:spPr>
          <a:xfrm>
            <a:off x="4508906"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Mitarbeitende</a:t>
            </a:r>
            <a:endParaRPr lang="en-US" sz="1400" dirty="0"/>
          </a:p>
        </p:txBody>
      </p:sp>
      <p:sp>
        <p:nvSpPr>
          <p:cNvPr id="13" name="Text 11"/>
          <p:cNvSpPr txBox="1"/>
          <p:nvPr/>
        </p:nvSpPr>
        <p:spPr>
          <a:xfrm>
            <a:off x="4545482"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Eigene IT-Landschaft mit ERP und Warenwirtschaft, aber keine Röstsoftware</a:t>
            </a:r>
            <a:endParaRPr lang="en-US" sz="1150" dirty="0"/>
          </a:p>
        </p:txBody>
      </p:sp>
      <p:sp>
        <p:nvSpPr>
          <p:cNvPr id="14" name="Shape 12"/>
          <p:cNvSpPr/>
          <p:nvPr/>
        </p:nvSpPr>
        <p:spPr>
          <a:xfrm>
            <a:off x="8085125"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8231429" y="1901952"/>
            <a:ext cx="3173882" cy="841248"/>
          </a:xfrm>
          <a:prstGeom prst="rect">
            <a:avLst/>
          </a:prstGeom>
          <a:noFill/>
          <a:ln/>
        </p:spPr>
        <p:txBody>
          <a:bodyPr wrap="square" lIns="0" tIns="0" rIns="0" bIns="0" rtlCol="0" anchor="ctr"/>
          <a:lstStyle/>
          <a:p>
            <a:pPr algn="ctr" indent="0" marL="0">
              <a:lnSpc>
                <a:spcPct val="106000"/>
              </a:lnSpc>
              <a:buNone/>
            </a:pPr>
            <a:r>
              <a:rPr lang="en-US" sz="3800" b="1" dirty="0">
                <a:solidFill>
                  <a:srgbClr val="C9762F"/>
                </a:solidFill>
                <a:latin typeface="Cambria" pitchFamily="34" charset="0"/>
                <a:ea typeface="Cambria" pitchFamily="34" charset="-122"/>
                <a:cs typeface="Cambria" pitchFamily="34" charset="-120"/>
              </a:rPr>
              <a:t>Mischform</a:t>
            </a:r>
            <a:endParaRPr lang="en-US" sz="3800" dirty="0"/>
          </a:p>
        </p:txBody>
      </p:sp>
      <p:sp>
        <p:nvSpPr>
          <p:cNvPr id="16" name="Text 14"/>
          <p:cNvSpPr txBox="1"/>
          <p:nvPr/>
        </p:nvSpPr>
        <p:spPr>
          <a:xfrm>
            <a:off x="8231429"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Beschaffung</a:t>
            </a:r>
            <a:endParaRPr lang="en-US" sz="1400" dirty="0"/>
          </a:p>
        </p:txBody>
      </p:sp>
      <p:sp>
        <p:nvSpPr>
          <p:cNvPr id="17" name="Text 15"/>
          <p:cNvSpPr txBox="1"/>
          <p:nvPr/>
        </p:nvSpPr>
        <p:spPr>
          <a:xfrm>
            <a:off x="8268005"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Teils Direct-Trade-Eigenimport, teils Zukauf über EU-Importeure — beide Wege parallel</a:t>
            </a:r>
            <a:endParaRPr lang="en-US" sz="1150" dirty="0"/>
          </a:p>
        </p:txBody>
      </p:sp>
      <p:sp>
        <p:nvSpPr>
          <p:cNvPr id="18" name="Text 16"/>
          <p:cNvSpPr txBox="1"/>
          <p:nvPr/>
        </p:nvSpPr>
        <p:spPr>
          <a:xfrm>
            <a:off x="640080" y="4114800"/>
            <a:ext cx="10911535" cy="1389888"/>
          </a:xfrm>
          <a:prstGeom prst="rect">
            <a:avLst/>
          </a:prstGeom>
          <a:noFill/>
          <a:ln/>
        </p:spPr>
        <p:txBody>
          <a:bodyPr wrap="square" lIns="0" tIns="0" rIns="0" bIns="0" rtlCol="0" anchor="t"/>
          <a:lstStyle/>
          <a:p>
            <a:pPr algn="l" indent="0" marL="0">
              <a:lnSpc>
                <a:spcPct val="110000"/>
              </a:lnSpc>
              <a:buNone/>
            </a:pPr>
            <a:r>
              <a:rPr lang="en-US" sz="1300" dirty="0">
                <a:solidFill>
                  <a:srgbClr val="17241F"/>
                </a:solidFill>
                <a:latin typeface="Calibri" pitchFamily="34" charset="0"/>
                <a:ea typeface="Calibri" pitchFamily="34" charset="-122"/>
                <a:cs typeface="Calibri" pitchFamily="34" charset="-120"/>
              </a:rPr>
              <a:t>Alle drei Angaben sind gesetzte Annahmen, keine Erhebung. Sie sind so gewählt, dass der interessanteste Fall entsteht: ein Unternehmen, das gleichzeitig zwei regulatorische Rollen trägt und dem die kürzere der beiden Fristen zugewiesen ist.</a:t>
            </a:r>
            <a:endParaRPr lang="en-US" sz="1300" dirty="0"/>
          </a:p>
        </p:txBody>
      </p:sp>
      <p:sp>
        <p:nvSpPr>
          <p:cNvPr id="19" name="Shape 17"/>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0" name="Text 18"/>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Genau diese Kombination erzeugt die zentrale Schwierigkeit des gesamten Projekts — dazu gleich mehr.</a:t>
            </a:r>
            <a:endParaRPr lang="en-US" sz="1300" dirty="0"/>
          </a:p>
        </p:txBody>
      </p:sp>
      <p:sp>
        <p:nvSpPr>
          <p:cNvPr id="21" name="Text 19"/>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Rahmenbedingungen [angenommen] · Größenklassen und Fristen nach VO (EU) 2025/2650 [recherchiert]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DER KERN UNSERER ANALYSE</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Warum Kaffee nicht Kakao ist — Teil 1: der Prozess</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Röstverlust von 15 bis 20 Prozent</a:t>
            </a:r>
            <a:endParaRPr lang="en-US" sz="1500" dirty="0"/>
          </a:p>
        </p:txBody>
      </p:sp>
      <p:sp>
        <p:nvSpPr>
          <p:cNvPr id="8" name="Text 6"/>
          <p:cNvSpPr txBox="1"/>
          <p:nvPr/>
        </p:nvSpPr>
        <p:spPr>
          <a:xfrm>
            <a:off x="969264" y="1951482"/>
            <a:ext cx="6528816" cy="88315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Beim Rösten verdampft Wasser, das Silberhäutchen löst sich. Aus 100 kg Grünkaffee werden rund 82 kg Röstkaffee. Kakao kennt diesen Masseverlust in dieser Größenordnung nicht — die Massenbilanz muss ihn abbilden.</a:t>
            </a:r>
            <a:endParaRPr lang="en-US" sz="1250" dirty="0"/>
          </a:p>
        </p:txBody>
      </p:sp>
      <p:sp>
        <p:nvSpPr>
          <p:cNvPr id="9" name="Shape 7"/>
          <p:cNvSpPr/>
          <p:nvPr/>
        </p:nvSpPr>
        <p:spPr>
          <a:xfrm>
            <a:off x="658368" y="305409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94436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Der Verlustfaktor wird selbst zum Angriffspunkt</a:t>
            </a:r>
            <a:endParaRPr lang="en-US" sz="1500" dirty="0"/>
          </a:p>
        </p:txBody>
      </p:sp>
      <p:sp>
        <p:nvSpPr>
          <p:cNvPr id="11" name="Text 9"/>
          <p:cNvSpPr txBox="1"/>
          <p:nvPr/>
        </p:nvSpPr>
        <p:spPr>
          <a:xfrm>
            <a:off x="969264" y="3231642"/>
            <a:ext cx="6528816" cy="88315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Wer den Verlust hoch deklariert, kann Ware unbekannter Herkunft einschleusen, ohne dass die Bilanz auffällt. Bei tausend Tonnen entsprechen zwei Prozentpunkte rund zwanzig Tonnen im Jahr.</a:t>
            </a:r>
            <a:endParaRPr lang="en-US" sz="1250" dirty="0"/>
          </a:p>
        </p:txBody>
      </p:sp>
      <p:sp>
        <p:nvSpPr>
          <p:cNvPr id="12" name="Shape 10"/>
          <p:cNvSpPr/>
          <p:nvPr/>
        </p:nvSpPr>
        <p:spPr>
          <a:xfrm>
            <a:off x="658368" y="433425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422452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Blends mischen mehrere Herkünfte, chargenweise nachjustiert</a:t>
            </a:r>
            <a:endParaRPr lang="en-US" sz="1500" dirty="0"/>
          </a:p>
        </p:txBody>
      </p:sp>
      <p:sp>
        <p:nvSpPr>
          <p:cNvPr id="14" name="Text 12"/>
          <p:cNvSpPr txBox="1"/>
          <p:nvPr/>
        </p:nvSpPr>
        <p:spPr>
          <a:xfrm>
            <a:off x="969264" y="4744212"/>
            <a:ext cx="6528816" cy="65074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Ein Hausblend enthält vier oder fünf Ursprünge in variablen Anteilen. Das ist eine n-zu-1-Transformation — und eine Falle für die Herkunftskommunikation.</a:t>
            </a:r>
            <a:endParaRPr lang="en-US" sz="1250" dirty="0"/>
          </a:p>
        </p:txBody>
      </p:sp>
      <p:sp>
        <p:nvSpPr>
          <p:cNvPr id="15" name="Shape 13"/>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6" name="Text 14"/>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DIE FORMEL, DIE DARAUS FOLGT</a:t>
            </a:r>
            <a:endParaRPr lang="en-US" sz="1050" dirty="0"/>
          </a:p>
        </p:txBody>
      </p:sp>
      <p:sp>
        <p:nvSpPr>
          <p:cNvPr id="17" name="Text 15"/>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Σ Input</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Σ Output</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 Verlust</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 Ausschuss</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 Muster</a:t>
            </a:r>
            <a:endParaRPr lang="en-US" sz="1900" dirty="0"/>
          </a:p>
          <a:p>
            <a:pPr algn="l" indent="0" marL="0">
              <a:lnSpc>
                <a:spcPct val="112000"/>
              </a:lnSpc>
              <a:buNone/>
            </a:pPr>
            <a:r>
              <a:rPr lang="en-US" sz="1900" b="1" dirty="0">
                <a:solidFill>
                  <a:srgbClr val="FFFFFF"/>
                </a:solidFill>
                <a:latin typeface="Cambria" pitchFamily="34" charset="0"/>
                <a:ea typeface="Cambria" pitchFamily="34" charset="-122"/>
                <a:cs typeface="Cambria" pitchFamily="34" charset="-120"/>
              </a:rPr>
              <a:t>+ Toleranz</a:t>
            </a:r>
            <a:endParaRPr lang="en-US" sz="1900" dirty="0"/>
          </a:p>
        </p:txBody>
      </p:sp>
      <p:sp>
        <p:nvSpPr>
          <p:cNvPr id="18" name="Shape 16"/>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19" name="Text 17"/>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Entscheidend ist: Der Verlust wird gemessen, nicht deklariert. Er ist die Restgröße aus Ein- und Auswaage — nie ein Eingabefeld.</a:t>
            </a:r>
            <a:endParaRPr lang="en-US" sz="1300" dirty="0"/>
          </a:p>
        </p:txBody>
      </p:sp>
      <p:sp>
        <p:nvSpPr>
          <p:cNvPr id="20" name="Text 18"/>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Röstverlust 15–20 % [recherchiert, Branchenwissen] · Rechenbeispiel [geschätzt]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DER KERN UNSERER ANALYSE</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Warum Kaffee nicht Kakao ist — Teil 2: Kette und Recht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Die Kette ist tief, und die Rösterei kauft nie am Feld</a:t>
            </a:r>
            <a:endParaRPr lang="en-US" sz="1500" dirty="0"/>
          </a:p>
        </p:txBody>
      </p:sp>
      <p:sp>
        <p:nvSpPr>
          <p:cNvPr id="8" name="Text 6"/>
          <p:cNvSpPr txBox="1"/>
          <p:nvPr/>
        </p:nvSpPr>
        <p:spPr>
          <a:xfrm>
            <a:off x="969264" y="1951482"/>
            <a:ext cx="6528816" cy="88315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Kleinbauer, Kooperative, Trockenmühle, Exporteur, Importeur, erst dann die Rösterei. Wer erfasst die Geokoordinaten? Nicht wir — die Kooperative. Das verschiebt den Vertrauensanker.</a:t>
            </a:r>
            <a:endParaRPr lang="en-US" sz="1250" dirty="0"/>
          </a:p>
        </p:txBody>
      </p:sp>
      <p:sp>
        <p:nvSpPr>
          <p:cNvPr id="9" name="Shape 7"/>
          <p:cNvSpPr/>
          <p:nvPr/>
        </p:nvSpPr>
        <p:spPr>
          <a:xfrm>
            <a:off x="658368" y="305409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94436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Zwei regulatorische Rollen gleichzeitig</a:t>
            </a:r>
            <a:endParaRPr lang="en-US" sz="1500" dirty="0"/>
          </a:p>
        </p:txBody>
      </p:sp>
      <p:sp>
        <p:nvSpPr>
          <p:cNvPr id="11" name="Text 9"/>
          <p:cNvSpPr txBox="1"/>
          <p:nvPr/>
        </p:nvSpPr>
        <p:spPr>
          <a:xfrm>
            <a:off x="969264" y="3231642"/>
            <a:ext cx="6528816" cy="88315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Durch die Mischform ist die Rösterei bei einem Lot voller Betreiber mit Sorgfaltspflicht und bei dem Lot daneben nur nachgelagerter Akteur. Entschieden wird je Lot, nicht je Unternehmen.</a:t>
            </a:r>
            <a:endParaRPr lang="en-US" sz="1250" dirty="0"/>
          </a:p>
        </p:txBody>
      </p:sp>
      <p:sp>
        <p:nvSpPr>
          <p:cNvPr id="12" name="Shape 10"/>
          <p:cNvSpPr/>
          <p:nvPr/>
        </p:nvSpPr>
        <p:spPr>
          <a:xfrm>
            <a:off x="658368" y="433425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4224528"/>
            <a:ext cx="6528816" cy="563270"/>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Parzellen-Koordinaten sind personenbeziehbare Daten</a:t>
            </a:r>
            <a:endParaRPr lang="en-US" sz="1500" dirty="0"/>
          </a:p>
        </p:txBody>
      </p:sp>
      <p:sp>
        <p:nvSpPr>
          <p:cNvPr id="14" name="Text 12"/>
          <p:cNvSpPr txBox="1"/>
          <p:nvPr/>
        </p:nvSpPr>
        <p:spPr>
          <a:xfrm>
            <a:off x="969264" y="4511802"/>
            <a:ext cx="6528816" cy="88315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Eine Parzelle hat einen Bewirtschafter. Damit greift die DSGVO — und ihr Löschrecht kollidiert frontal mit der Unveränderlichkeit eines Ledgers.</a:t>
            </a:r>
            <a:endParaRPr lang="en-US" sz="1250" dirty="0"/>
          </a:p>
        </p:txBody>
      </p:sp>
      <p:sp>
        <p:nvSpPr>
          <p:cNvPr id="15" name="Shape 13"/>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6" name="Text 14"/>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UND DER MARKER?</a:t>
            </a:r>
            <a:endParaRPr lang="en-US" sz="1050" dirty="0"/>
          </a:p>
        </p:txBody>
      </p:sp>
      <p:sp>
        <p:nvSpPr>
          <p:cNvPr id="17" name="Text 15"/>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Merck markiert Verpackungen.</a:t>
            </a:r>
            <a:endParaRPr lang="en-US" sz="1500" dirty="0"/>
          </a:p>
          <a:p>
            <a:pPr algn="l" indent="0" marL="0">
              <a:lnSpc>
                <a:spcPct val="112000"/>
              </a:lnSpc>
              <a:buNone/>
            </a:pP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Grünkaffee steckt in Jutesäcken, die umgepackt werden.</a:t>
            </a:r>
            <a:endParaRPr lang="en-US" sz="1500" dirty="0"/>
          </a:p>
          <a:p>
            <a:pPr algn="l" indent="0" marL="0">
              <a:lnSpc>
                <a:spcPct val="112000"/>
              </a:lnSpc>
              <a:buNone/>
            </a:pP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Wir streichen den Marker — mit Begründung.</a:t>
            </a:r>
            <a:endParaRPr lang="en-US" sz="1500" dirty="0"/>
          </a:p>
        </p:txBody>
      </p:sp>
      <p:sp>
        <p:nvSpPr>
          <p:cNvPr id="18" name="Shape 16"/>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19" name="Text 17"/>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Drei von sechs Unterschieden betreffen nicht die Technik, sondern Recht, Vertrauen und Datenschutz. Genau dort scheitern solche Projekte.</a:t>
            </a:r>
            <a:endParaRPr lang="en-US" sz="1300" dirty="0"/>
          </a:p>
        </p:txBody>
      </p:sp>
      <p:sp>
        <p:nvSpPr>
          <p:cNvPr id="20" name="Text 18"/>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DSGVO-Einordnung [angenommen, vorsichtige Auslegung] · Rollenlogik nach VO (EU) 2025/2650 [recherchiert]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METHODIK</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Wie wir vorgegangen sind</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40080" y="1920240"/>
            <a:ext cx="2371268" cy="3108960"/>
          </a:xfrm>
          <a:prstGeom prst="roundRect">
            <a:avLst>
              <a:gd name="adj" fmla="val 30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68096" y="2965260"/>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1 · Prämissen prüfen</a:t>
            </a:r>
            <a:endParaRPr lang="en-US" sz="1350" dirty="0"/>
          </a:p>
        </p:txBody>
      </p:sp>
      <p:sp>
        <p:nvSpPr>
          <p:cNvPr id="8" name="Text 6"/>
          <p:cNvSpPr txBox="1"/>
          <p:nvPr/>
        </p:nvSpPr>
        <p:spPr>
          <a:xfrm>
            <a:off x="768096" y="3302445"/>
            <a:ext cx="2115236" cy="1598740"/>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Zuerst die Aufgabenstellung selbst hinterfragt: Gilt jede geforderte Pflicht überhaupt?</a:t>
            </a:r>
            <a:endParaRPr lang="en-US" sz="1100" dirty="0"/>
          </a:p>
        </p:txBody>
      </p:sp>
      <p:sp>
        <p:nvSpPr>
          <p:cNvPr id="9" name="Text 7"/>
          <p:cNvSpPr txBox="1"/>
          <p:nvPr/>
        </p:nvSpPr>
        <p:spPr>
          <a:xfrm>
            <a:off x="3066212" y="32552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86836" y="1920240"/>
            <a:ext cx="2371268" cy="3108960"/>
          </a:xfrm>
          <a:prstGeom prst="roundRect">
            <a:avLst>
              <a:gd name="adj" fmla="val 3085"/>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3614852" y="2965260"/>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2 · Primärquellen</a:t>
            </a:r>
            <a:endParaRPr lang="en-US" sz="1350" dirty="0"/>
          </a:p>
        </p:txBody>
      </p:sp>
      <p:sp>
        <p:nvSpPr>
          <p:cNvPr id="12" name="Text 10"/>
          <p:cNvSpPr txBox="1"/>
          <p:nvPr/>
        </p:nvSpPr>
        <p:spPr>
          <a:xfrm>
            <a:off x="3614852" y="3302445"/>
            <a:ext cx="2115236" cy="1598740"/>
          </a:xfrm>
          <a:prstGeom prst="rect">
            <a:avLst/>
          </a:prstGeom>
          <a:noFill/>
          <a:ln/>
        </p:spPr>
        <p:txBody>
          <a:bodyPr wrap="square" lIns="0" tIns="0" rIns="0" bIns="0" rtlCol="0" anchor="t"/>
          <a:lstStyle/>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EUR-Lex und Kommissionsdokumente vor Kanzlei- und Branchentexten. Rechercheschluss 09.09.2026.</a:t>
            </a:r>
            <a:endParaRPr lang="en-US" sz="1100" dirty="0"/>
          </a:p>
        </p:txBody>
      </p:sp>
      <p:sp>
        <p:nvSpPr>
          <p:cNvPr id="13" name="Text 11"/>
          <p:cNvSpPr txBox="1"/>
          <p:nvPr/>
        </p:nvSpPr>
        <p:spPr>
          <a:xfrm>
            <a:off x="5912968" y="32552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333592" y="1920240"/>
            <a:ext cx="2371268" cy="3108960"/>
          </a:xfrm>
          <a:prstGeom prst="roundRect">
            <a:avLst>
              <a:gd name="adj" fmla="val 30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6461608" y="2965260"/>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3 · Entwerfen</a:t>
            </a:r>
            <a:endParaRPr lang="en-US" sz="1350" dirty="0"/>
          </a:p>
        </p:txBody>
      </p:sp>
      <p:sp>
        <p:nvSpPr>
          <p:cNvPr id="16" name="Text 14"/>
          <p:cNvSpPr txBox="1"/>
          <p:nvPr/>
        </p:nvSpPr>
        <p:spPr>
          <a:xfrm>
            <a:off x="6461608" y="3302445"/>
            <a:ext cx="2115236" cy="1598740"/>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Datenmodell, Architekturoptionen und Massenbilanz aus den geprüften Anforderungen abgeleitet.</a:t>
            </a:r>
            <a:endParaRPr lang="en-US" sz="1100" dirty="0"/>
          </a:p>
        </p:txBody>
      </p:sp>
      <p:sp>
        <p:nvSpPr>
          <p:cNvPr id="17" name="Text 15"/>
          <p:cNvSpPr txBox="1"/>
          <p:nvPr/>
        </p:nvSpPr>
        <p:spPr>
          <a:xfrm>
            <a:off x="8759723" y="32552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180347" y="1920240"/>
            <a:ext cx="2371268" cy="3108960"/>
          </a:xfrm>
          <a:prstGeom prst="roundRect">
            <a:avLst>
              <a:gd name="adj" fmla="val 30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9308363" y="2965260"/>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4 · Gegenthese</a:t>
            </a:r>
            <a:endParaRPr lang="en-US" sz="1350" dirty="0"/>
          </a:p>
        </p:txBody>
      </p:sp>
      <p:sp>
        <p:nvSpPr>
          <p:cNvPr id="20" name="Text 18"/>
          <p:cNvSpPr txBox="1"/>
          <p:nvPr/>
        </p:nvSpPr>
        <p:spPr>
          <a:xfrm>
            <a:off x="9308363" y="3302445"/>
            <a:ext cx="2115236" cy="1598740"/>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Die eigene Lösung bewusst angegriffen: Geht es auch ohne Blockchain? Was streichen wir?</a:t>
            </a:r>
            <a:endParaRPr lang="en-US" sz="11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Die Prämissenprüfung stand bewusst vor dem Entwurf — sonst hätten wir eine Pflicht erfüllt, die es nicht gibt.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METHODIK</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Jede Aussage trägt ihre Belastbarkeit im Text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640080"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97BC62"/>
          </a:solidFill>
          <a:ln w="12700">
            <a:solidFill>
              <a:srgbClr val="97BC62"/>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R</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recherchiert</a:t>
            </a:r>
            <a:endParaRPr lang="en-US" sz="1500" dirty="0"/>
          </a:p>
        </p:txBody>
      </p:sp>
      <p:sp>
        <p:nvSpPr>
          <p:cNvPr id="10" name="Text 8"/>
          <p:cNvSpPr txBox="1"/>
          <p:nvPr/>
        </p:nvSpPr>
        <p:spPr>
          <a:xfrm>
            <a:off x="877824" y="2542032"/>
            <a:ext cx="3003194" cy="2834640"/>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Belegt durch eine benannte Quelle mit Link. Gilt für alle Fristen, Rechtsnormen, Marktpreise und Studienwerte. Nachprüfbar, ohne uns fragen zu müssen.</a:t>
            </a:r>
            <a:endParaRPr lang="en-US" sz="1200" dirty="0"/>
          </a:p>
        </p:txBody>
      </p:sp>
      <p:sp>
        <p:nvSpPr>
          <p:cNvPr id="11" name="Shape 9"/>
          <p:cNvSpPr/>
          <p:nvPr/>
        </p:nvSpPr>
        <p:spPr>
          <a:xfrm>
            <a:off x="4356506"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angenommen</a:t>
            </a:r>
            <a:endParaRPr lang="en-US" sz="1500" dirty="0"/>
          </a:p>
        </p:txBody>
      </p:sp>
      <p:sp>
        <p:nvSpPr>
          <p:cNvPr id="15" name="Text 13"/>
          <p:cNvSpPr txBox="1"/>
          <p:nvPr/>
        </p:nvSpPr>
        <p:spPr>
          <a:xfrm>
            <a:off x="4594250" y="2542032"/>
            <a:ext cx="3003194" cy="2834640"/>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Bewusst gesetzt, weil die Information fehlt — etwa die Kennzahlen unseres Fallunternehmens oder eine juristische Auslegung, die noch aussteht.</a:t>
            </a:r>
            <a:endParaRPr lang="en-US" sz="1200" dirty="0"/>
          </a:p>
        </p:txBody>
      </p:sp>
      <p:sp>
        <p:nvSpPr>
          <p:cNvPr id="16" name="Shape 14"/>
          <p:cNvSpPr/>
          <p:nvPr/>
        </p:nvSpPr>
        <p:spPr>
          <a:xfrm>
            <a:off x="8072933"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geschätzt</a:t>
            </a:r>
            <a:endParaRPr lang="en-US" sz="1500" dirty="0"/>
          </a:p>
        </p:txBody>
      </p:sp>
      <p:sp>
        <p:nvSpPr>
          <p:cNvPr id="20" name="Text 18"/>
          <p:cNvSpPr txBox="1"/>
          <p:nvPr/>
        </p:nvSpPr>
        <p:spPr>
          <a:xfrm>
            <a:off x="8310677" y="2542032"/>
            <a:ext cx="3003194" cy="2834640"/>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Von uns gerechnet oder hergeleitet, ohne belastbare Quelle. Vor allem Kosten und Mengengerüste. Immer als Bandbreite, nie als Punktwert.</a:t>
            </a:r>
            <a:endParaRPr lang="en-US" sz="12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Der Sinn dahinter: Wer unsere Empfehlung prüft, soll sofort sehen, worauf sie ruht — und wo sie am dünnsten ist.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B</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Regulatorik</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Was Pflicht ist, was freiwillig — und was überraschend</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gar nicht gilt</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2  ·  ca. 10 Minuten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EUDR — VERORDNUNG (EU) 2023/1115</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Was die Entwaldungsverordnung tatsächlich verlangt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640080"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1B3A2F"/>
          </a:solidFill>
          <a:ln w="12700">
            <a:solidFill>
              <a:srgbClr val="1B3A2F"/>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Geolokation jeder Parzelle</a:t>
            </a:r>
            <a:endParaRPr lang="en-US" sz="1450" dirty="0"/>
          </a:p>
        </p:txBody>
      </p:sp>
      <p:sp>
        <p:nvSpPr>
          <p:cNvPr id="10" name="Text 8"/>
          <p:cNvSpPr txBox="1"/>
          <p:nvPr/>
        </p:nvSpPr>
        <p:spPr>
          <a:xfrm>
            <a:off x="877824"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Polygone für Flächen über vier Hektar, Punktkoordinaten darunter. Nicht nur formal vorhanden — die Daten müssen einer Satellitenprüfung und einem Behördenaudit standhalten.</a:t>
            </a:r>
            <a:endParaRPr lang="en-US" sz="900" dirty="0"/>
          </a:p>
        </p:txBody>
      </p:sp>
      <p:sp>
        <p:nvSpPr>
          <p:cNvPr id="11" name="Shape 9"/>
          <p:cNvSpPr/>
          <p:nvPr/>
        </p:nvSpPr>
        <p:spPr>
          <a:xfrm>
            <a:off x="4356506"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Entwaldungsfrei nach Stichtag</a:t>
            </a:r>
            <a:endParaRPr lang="en-US" sz="1450" dirty="0"/>
          </a:p>
        </p:txBody>
      </p:sp>
      <p:sp>
        <p:nvSpPr>
          <p:cNvPr id="15" name="Text 13"/>
          <p:cNvSpPr txBox="1"/>
          <p:nvPr/>
        </p:nvSpPr>
        <p:spPr>
          <a:xfrm>
            <a:off x="4594250"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Nachweis, dass auf der Fläche seit dem 31.12.2020 kein Wald verloren ging. Praktisch: Abgleich der Polygone gegen Waldverlustdaten.</a:t>
            </a:r>
            <a:endParaRPr lang="en-US" sz="900" dirty="0"/>
          </a:p>
        </p:txBody>
      </p:sp>
      <p:sp>
        <p:nvSpPr>
          <p:cNvPr id="16" name="Shape 14"/>
          <p:cNvSpPr/>
          <p:nvPr/>
        </p:nvSpPr>
        <p:spPr>
          <a:xfrm>
            <a:off x="8072933"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Legalität im Erzeugerland</a:t>
            </a:r>
            <a:endParaRPr lang="en-US" sz="1450" dirty="0"/>
          </a:p>
        </p:txBody>
      </p:sp>
      <p:sp>
        <p:nvSpPr>
          <p:cNvPr id="20" name="Text 18"/>
          <p:cNvSpPr txBox="1"/>
          <p:nvPr/>
        </p:nvSpPr>
        <p:spPr>
          <a:xfrm>
            <a:off x="8310677"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Landnutzungsrecht, Arbeitsrecht, Steuern, Handelsrecht — nach dem Recht des Ursprungslandes, nicht nach EU-Recht.</a:t>
            </a:r>
            <a:endParaRPr lang="en-US" sz="900" dirty="0"/>
          </a:p>
        </p:txBody>
      </p:sp>
      <p:sp>
        <p:nvSpPr>
          <p:cNvPr id="21" name="Shape 19"/>
          <p:cNvSpPr/>
          <p:nvPr/>
        </p:nvSpPr>
        <p:spPr>
          <a:xfrm>
            <a:off x="640080"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3858768"/>
            <a:ext cx="347472" cy="347472"/>
          </a:xfrm>
          <a:prstGeom prst="ellipse">
            <a:avLst/>
          </a:prstGeom>
          <a:solidFill>
            <a:srgbClr val="1B3A2F"/>
          </a:solidFill>
          <a:ln w="12700">
            <a:solidFill>
              <a:srgbClr val="1B3A2F"/>
            </a:solidFill>
            <a:prstDash val="solid"/>
          </a:ln>
        </p:spPr>
      </p:sp>
      <p:sp>
        <p:nvSpPr>
          <p:cNvPr id="23" name="Text 21"/>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Risikobewertung und -minderung</a:t>
            </a:r>
            <a:endParaRPr lang="en-US" sz="1450" dirty="0"/>
          </a:p>
        </p:txBody>
      </p:sp>
      <p:sp>
        <p:nvSpPr>
          <p:cNvPr id="25" name="Text 23"/>
          <p:cNvSpPr txBox="1"/>
          <p:nvPr/>
        </p:nvSpPr>
        <p:spPr>
          <a:xfrm>
            <a:off x="877824"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Dokumentiert. Ist das Risiko nicht vernachlässigbar, muss es zuerst gemindert werden, bevor die Ware in Verkehr gebracht werden darf.</a:t>
            </a:r>
            <a:endParaRPr lang="en-US" sz="900" dirty="0"/>
          </a:p>
        </p:txBody>
      </p:sp>
      <p:sp>
        <p:nvSpPr>
          <p:cNvPr id="26" name="Shape 24"/>
          <p:cNvSpPr/>
          <p:nvPr/>
        </p:nvSpPr>
        <p:spPr>
          <a:xfrm>
            <a:off x="4356506"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3858768"/>
            <a:ext cx="347472" cy="347472"/>
          </a:xfrm>
          <a:prstGeom prst="ellipse">
            <a:avLst/>
          </a:prstGeom>
          <a:solidFill>
            <a:srgbClr val="1B3A2F"/>
          </a:solidFill>
          <a:ln w="12700">
            <a:solidFill>
              <a:srgbClr val="1B3A2F"/>
            </a:solidFill>
            <a:prstDash val="solid"/>
          </a:ln>
        </p:spPr>
      </p:sp>
      <p:sp>
        <p:nvSpPr>
          <p:cNvPr id="28" name="Text 26"/>
          <p:cNvSpPr txBox="1"/>
          <p:nvPr/>
        </p:nvSpPr>
        <p:spPr>
          <a:xfrm>
            <a:off x="4594250"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Sorgfaltserklärung in TRACES</a:t>
            </a:r>
            <a:endParaRPr lang="en-US" sz="1450" dirty="0"/>
          </a:p>
        </p:txBody>
      </p:sp>
      <p:sp>
        <p:nvSpPr>
          <p:cNvPr id="30" name="Text 28"/>
          <p:cNvSpPr txBox="1"/>
          <p:nvPr/>
        </p:nvSpPr>
        <p:spPr>
          <a:xfrm>
            <a:off x="4594250"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Abgabe im EU-Informationssystem vor dem Inverkehrbringen. Die Funktionsweise hat die Kommission am 13.07.2026 festgelegt.</a:t>
            </a:r>
            <a:endParaRPr lang="en-US" sz="900" dirty="0"/>
          </a:p>
        </p:txBody>
      </p:sp>
      <p:sp>
        <p:nvSpPr>
          <p:cNvPr id="31" name="Shape 29"/>
          <p:cNvSpPr/>
          <p:nvPr/>
        </p:nvSpPr>
        <p:spPr>
          <a:xfrm>
            <a:off x="8072933"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58768"/>
            <a:ext cx="347472" cy="347472"/>
          </a:xfrm>
          <a:prstGeom prst="ellipse">
            <a:avLst/>
          </a:prstGeom>
          <a:solidFill>
            <a:srgbClr val="1B3A2F"/>
          </a:solidFill>
          <a:ln w="12700">
            <a:solidFill>
              <a:srgbClr val="1B3A2F"/>
            </a:solidFill>
            <a:prstDash val="solid"/>
          </a:ln>
        </p:spPr>
      </p:sp>
      <p:sp>
        <p:nvSpPr>
          <p:cNvPr id="33" name="Text 31"/>
          <p:cNvSpPr txBox="1"/>
          <p:nvPr/>
        </p:nvSpPr>
        <p:spPr>
          <a:xfrm>
            <a:off x="8310677"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10677"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Referenznummern weitergeben</a:t>
            </a:r>
            <a:endParaRPr lang="en-US" sz="1450" dirty="0"/>
          </a:p>
        </p:txBody>
      </p:sp>
      <p:sp>
        <p:nvSpPr>
          <p:cNvPr id="35" name="Text 33"/>
          <p:cNvSpPr txBox="1"/>
          <p:nvPr/>
        </p:nvSpPr>
        <p:spPr>
          <a:xfrm>
            <a:off x="8310677"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Die Nummer der Sorgfaltserklärung wird an die nachgelagerten Abnehmer kommuniziert. Ohne sie darf die Ware nicht weiter.</a:t>
            </a:r>
            <a:endParaRPr lang="en-US" sz="900" dirty="0"/>
          </a:p>
        </p:txBody>
      </p:sp>
      <p:sp>
        <p:nvSpPr>
          <p:cNvPr id="36" name="Shape 3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7" name="Text 3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Kaffee ist erfasst — neben Kakao, Rind, Palmöl, Kautschuk, Soja und Holz. Für Kaffee kamen 2026 weitere Erzeugnisse hinzu.</a:t>
            </a:r>
            <a:endParaRPr lang="en-US" sz="1300" dirty="0"/>
          </a:p>
        </p:txBody>
      </p:sp>
      <p:sp>
        <p:nvSpPr>
          <p:cNvPr id="38" name="Text 36"/>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 (EU) 2023/1115 i. d. F. VO (EU) 2025/2650 · Kommissionsmaßnahmen 04.05. und 13.07.2026 [recherchiert]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FRISTEN NACH DER REVISION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Verordnung (EU) 2025/2650 — zweimal verschoben, jetzt steht sie</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1670266" y="1664208"/>
            <a:ext cx="475488" cy="475488"/>
          </a:xfrm>
          <a:prstGeom prst="ellipse">
            <a:avLst/>
          </a:prstGeom>
          <a:solidFill>
            <a:srgbClr val="1B3A2F"/>
          </a:solidFill>
          <a:ln w="12700">
            <a:solidFill>
              <a:srgbClr val="1B3A2F"/>
            </a:solidFill>
            <a:prstDash val="solid"/>
          </a:ln>
        </p:spPr>
      </p:sp>
      <p:sp>
        <p:nvSpPr>
          <p:cNvPr id="7" name="Text 5"/>
          <p:cNvSpPr txBox="1"/>
          <p:nvPr/>
        </p:nvSpPr>
        <p:spPr>
          <a:xfrm>
            <a:off x="1670266"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640080"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841248"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Ursprünglich</a:t>
            </a:r>
            <a:endParaRPr lang="en-US" sz="1550" dirty="0"/>
          </a:p>
        </p:txBody>
      </p:sp>
      <p:sp>
        <p:nvSpPr>
          <p:cNvPr id="10" name="Text 8"/>
          <p:cNvSpPr txBox="1"/>
          <p:nvPr/>
        </p:nvSpPr>
        <p:spPr>
          <a:xfrm>
            <a:off x="841248"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30.12.2024</a:t>
            </a:r>
            <a:endParaRPr lang="en-US" sz="1150" dirty="0"/>
          </a:p>
        </p:txBody>
      </p:sp>
      <p:sp>
        <p:nvSpPr>
          <p:cNvPr id="11" name="Text 9"/>
          <p:cNvSpPr txBox="1"/>
          <p:nvPr/>
        </p:nvSpPr>
        <p:spPr>
          <a:xfrm>
            <a:off x="841248"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Der erste geplante Anwendungsbeginn. Wurde nach massiver Kritik von Wirtschaft und Drittländern verschoben.</a:t>
            </a:r>
            <a:endParaRPr lang="en-US" sz="1150" dirty="0"/>
          </a:p>
        </p:txBody>
      </p:sp>
      <p:sp>
        <p:nvSpPr>
          <p:cNvPr id="12" name="Shape 10"/>
          <p:cNvSpPr/>
          <p:nvPr/>
        </p:nvSpPr>
        <p:spPr>
          <a:xfrm>
            <a:off x="4462158" y="1664208"/>
            <a:ext cx="475488" cy="475488"/>
          </a:xfrm>
          <a:prstGeom prst="ellipse">
            <a:avLst/>
          </a:prstGeom>
          <a:solidFill>
            <a:srgbClr val="1B3A2F"/>
          </a:solidFill>
          <a:ln w="12700">
            <a:solidFill>
              <a:srgbClr val="1B3A2F"/>
            </a:solidFill>
            <a:prstDash val="solid"/>
          </a:ln>
        </p:spPr>
      </p:sp>
      <p:sp>
        <p:nvSpPr>
          <p:cNvPr id="13" name="Text 11"/>
          <p:cNvSpPr txBox="1"/>
          <p:nvPr/>
        </p:nvSpPr>
        <p:spPr>
          <a:xfrm>
            <a:off x="4462158"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3431972"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3633140"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Erste Verschiebung</a:t>
            </a:r>
            <a:endParaRPr lang="en-US" sz="1550" dirty="0"/>
          </a:p>
        </p:txBody>
      </p:sp>
      <p:sp>
        <p:nvSpPr>
          <p:cNvPr id="16" name="Text 14"/>
          <p:cNvSpPr txBox="1"/>
          <p:nvPr/>
        </p:nvSpPr>
        <p:spPr>
          <a:xfrm>
            <a:off x="3633140"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30.12.2025</a:t>
            </a:r>
            <a:endParaRPr lang="en-US" sz="1150" dirty="0"/>
          </a:p>
        </p:txBody>
      </p:sp>
      <p:sp>
        <p:nvSpPr>
          <p:cNvPr id="17" name="Text 15"/>
          <p:cNvSpPr txBox="1"/>
          <p:nvPr/>
        </p:nvSpPr>
        <p:spPr>
          <a:xfrm>
            <a:off x="3633140"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Auch dieses Datum fiel. Im Dezember 2025 beschlossen Rat und Parlament eine gezielte Revision mit erneuter Verschiebung.</a:t>
            </a:r>
            <a:endParaRPr lang="en-US" sz="1150" dirty="0"/>
          </a:p>
        </p:txBody>
      </p:sp>
      <p:sp>
        <p:nvSpPr>
          <p:cNvPr id="18" name="Shape 16"/>
          <p:cNvSpPr/>
          <p:nvPr/>
        </p:nvSpPr>
        <p:spPr>
          <a:xfrm>
            <a:off x="7254050" y="1664208"/>
            <a:ext cx="475488" cy="475488"/>
          </a:xfrm>
          <a:prstGeom prst="ellipse">
            <a:avLst/>
          </a:prstGeom>
          <a:solidFill>
            <a:srgbClr val="C9762F"/>
          </a:solidFill>
          <a:ln w="12700">
            <a:solidFill>
              <a:srgbClr val="C9762F"/>
            </a:solidFill>
            <a:prstDash val="solid"/>
          </a:ln>
        </p:spPr>
      </p:sp>
      <p:sp>
        <p:nvSpPr>
          <p:cNvPr id="19" name="Text 17"/>
          <p:cNvSpPr txBox="1"/>
          <p:nvPr/>
        </p:nvSpPr>
        <p:spPr>
          <a:xfrm>
            <a:off x="7254050"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Shape 18"/>
          <p:cNvSpPr/>
          <p:nvPr/>
        </p:nvSpPr>
        <p:spPr>
          <a:xfrm>
            <a:off x="6223864" y="2286000"/>
            <a:ext cx="2535860" cy="3218688"/>
          </a:xfrm>
          <a:prstGeom prst="roundRect">
            <a:avLst>
              <a:gd name="adj" fmla="val 2885"/>
            </a:avLst>
          </a:prstGeom>
          <a:solidFill>
            <a:srgbClr val="F2E3D0"/>
          </a:solidFill>
          <a:ln w="9525">
            <a:solidFill>
              <a:srgbClr val="F2E3D0"/>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6425032"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Gültig für uns</a:t>
            </a:r>
            <a:endParaRPr lang="en-US" sz="1550" dirty="0"/>
          </a:p>
        </p:txBody>
      </p:sp>
      <p:sp>
        <p:nvSpPr>
          <p:cNvPr id="22" name="Text 20"/>
          <p:cNvSpPr txBox="1"/>
          <p:nvPr/>
        </p:nvSpPr>
        <p:spPr>
          <a:xfrm>
            <a:off x="6425032"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30.12.2026</a:t>
            </a:r>
            <a:endParaRPr lang="en-US" sz="1150" dirty="0"/>
          </a:p>
        </p:txBody>
      </p:sp>
      <p:sp>
        <p:nvSpPr>
          <p:cNvPr id="23" name="Text 21"/>
          <p:cNvSpPr txBox="1"/>
          <p:nvPr/>
        </p:nvSpPr>
        <p:spPr>
          <a:xfrm>
            <a:off x="6425032"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Große und mittlere Unternehmen sowie Kleinstunternehmen im Holzsektor. Unser Fallunternehmen fällt hierunter.</a:t>
            </a:r>
            <a:endParaRPr lang="en-US" sz="1150" dirty="0"/>
          </a:p>
        </p:txBody>
      </p:sp>
      <p:sp>
        <p:nvSpPr>
          <p:cNvPr id="24" name="Shape 22"/>
          <p:cNvSpPr/>
          <p:nvPr/>
        </p:nvSpPr>
        <p:spPr>
          <a:xfrm>
            <a:off x="10045941" y="1664208"/>
            <a:ext cx="475488" cy="475488"/>
          </a:xfrm>
          <a:prstGeom prst="ellipse">
            <a:avLst/>
          </a:prstGeom>
          <a:solidFill>
            <a:srgbClr val="1B3A2F"/>
          </a:solidFill>
          <a:ln w="12700">
            <a:solidFill>
              <a:srgbClr val="1B3A2F"/>
            </a:solidFill>
            <a:prstDash val="solid"/>
          </a:ln>
        </p:spPr>
      </p:sp>
      <p:sp>
        <p:nvSpPr>
          <p:cNvPr id="25" name="Text 23"/>
          <p:cNvSpPr txBox="1"/>
          <p:nvPr/>
        </p:nvSpPr>
        <p:spPr>
          <a:xfrm>
            <a:off x="10045941"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4"/>
          <p:cNvSpPr/>
          <p:nvPr/>
        </p:nvSpPr>
        <p:spPr>
          <a:xfrm>
            <a:off x="9015755"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Text 25"/>
          <p:cNvSpPr txBox="1"/>
          <p:nvPr/>
        </p:nvSpPr>
        <p:spPr>
          <a:xfrm>
            <a:off x="9216923"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Kleinunternehmen</a:t>
            </a:r>
            <a:endParaRPr lang="en-US" sz="1550" dirty="0"/>
          </a:p>
        </p:txBody>
      </p:sp>
      <p:sp>
        <p:nvSpPr>
          <p:cNvPr id="28" name="Text 26"/>
          <p:cNvSpPr txBox="1"/>
          <p:nvPr/>
        </p:nvSpPr>
        <p:spPr>
          <a:xfrm>
            <a:off x="9216923"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30.06.2027</a:t>
            </a:r>
            <a:endParaRPr lang="en-US" sz="1150" dirty="0"/>
          </a:p>
        </p:txBody>
      </p:sp>
      <p:sp>
        <p:nvSpPr>
          <p:cNvPr id="29" name="Text 27"/>
          <p:cNvSpPr txBox="1"/>
          <p:nvPr/>
        </p:nvSpPr>
        <p:spPr>
          <a:xfrm>
            <a:off x="9216923"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Übrige Kleinst- und Kleinunternehmen. Für unsere Rösterei nicht relevant — sie ist zu groß.</a:t>
            </a:r>
            <a:endParaRPr lang="en-US" sz="1150" dirty="0"/>
          </a:p>
        </p:txBody>
      </p:sp>
      <p:sp>
        <p:nvSpPr>
          <p:cNvPr id="30" name="Shape 28"/>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1" name="Text 29"/>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Am 04.05.2026 hat die Kommission signalisiert, dass der Verordnungstext nicht erneut geöffnet wird. Planung ohne Verschiebungspuffer.</a:t>
            </a:r>
            <a:endParaRPr lang="en-US" sz="1300" dirty="0"/>
          </a:p>
        </p:txBody>
      </p:sp>
      <p:sp>
        <p:nvSpPr>
          <p:cNvPr id="32" name="Text 30"/>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 (EU) 2025/2650, EUR-Lex · Rat der EU, 18.12.2025 · Kommissionspaket 04.05.2026 [recherchiert]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DIE WICHTIGSTE VEREINFACHUNG</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Primärbetreiber oder nachgelagert — ein gewaltiger Unterschied</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640080" y="1664208"/>
            <a:ext cx="5327752" cy="3840480"/>
          </a:xfrm>
          <a:prstGeom prst="roundRect">
            <a:avLst>
              <a:gd name="adj" fmla="val 1905"/>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640080" y="1664208"/>
            <a:ext cx="5327752" cy="804672"/>
          </a:xfrm>
          <a:prstGeom prst="roundRect">
            <a:avLst>
              <a:gd name="adj" fmla="val 9091"/>
            </a:avLst>
          </a:prstGeom>
          <a:solidFill>
            <a:srgbClr val="1B3A2F"/>
          </a:solidFill>
          <a:ln w="12700">
            <a:solidFill>
              <a:srgbClr val="1B3A2F"/>
            </a:solidFill>
            <a:prstDash val="solid"/>
          </a:ln>
        </p:spPr>
      </p:sp>
      <p:sp>
        <p:nvSpPr>
          <p:cNvPr id="8" name="Text 6"/>
          <p:cNvSpPr txBox="1"/>
          <p:nvPr/>
        </p:nvSpPr>
        <p:spPr>
          <a:xfrm>
            <a:off x="841248"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Primärbetreiber</a:t>
            </a:r>
            <a:endParaRPr lang="en-US" sz="1500" dirty="0"/>
          </a:p>
        </p:txBody>
      </p:sp>
      <p:sp>
        <p:nvSpPr>
          <p:cNvPr id="9" name="Text 7"/>
          <p:cNvSpPr txBox="1"/>
          <p:nvPr/>
        </p:nvSpPr>
        <p:spPr>
          <a:xfrm>
            <a:off x="841248"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bringt zuerst in Verkehr oder führt aus</a:t>
            </a:r>
            <a:endParaRPr lang="en-US" sz="1100" dirty="0"/>
          </a:p>
        </p:txBody>
      </p:sp>
      <p:sp>
        <p:nvSpPr>
          <p:cNvPr id="10" name="Text 8"/>
          <p:cNvSpPr txBox="1"/>
          <p:nvPr/>
        </p:nvSpPr>
        <p:spPr>
          <a:xfrm>
            <a:off x="841248" y="2615184"/>
            <a:ext cx="4925416" cy="40538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Volle Sorgfaltspflicht</a:t>
            </a:r>
            <a:endParaRPr lang="en-US" sz="1200" dirty="0"/>
          </a:p>
        </p:txBody>
      </p:sp>
      <p:sp>
        <p:nvSpPr>
          <p:cNvPr id="11" name="Text 9"/>
          <p:cNvSpPr txBox="1"/>
          <p:nvPr/>
        </p:nvSpPr>
        <p:spPr>
          <a:xfrm>
            <a:off x="841248" y="3075432"/>
            <a:ext cx="4925416" cy="40538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Geolokation aller Erzeugerparzellen selbst beschaffen</a:t>
            </a:r>
            <a:endParaRPr lang="en-US" sz="1200" dirty="0"/>
          </a:p>
        </p:txBody>
      </p:sp>
      <p:sp>
        <p:nvSpPr>
          <p:cNvPr id="12" name="Text 10"/>
          <p:cNvSpPr txBox="1"/>
          <p:nvPr/>
        </p:nvSpPr>
        <p:spPr>
          <a:xfrm>
            <a:off x="841248" y="3535680"/>
            <a:ext cx="4925416" cy="40538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Risikobewertung und Risikominderung dokumentieren</a:t>
            </a:r>
            <a:endParaRPr lang="en-US" sz="1200" dirty="0"/>
          </a:p>
        </p:txBody>
      </p:sp>
      <p:sp>
        <p:nvSpPr>
          <p:cNvPr id="13" name="Text 11"/>
          <p:cNvSpPr txBox="1"/>
          <p:nvPr/>
        </p:nvSpPr>
        <p:spPr>
          <a:xfrm>
            <a:off x="841248" y="3995928"/>
            <a:ext cx="4925416" cy="40538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Eigene Sorgfaltserklärung in TRACES einreichen</a:t>
            </a:r>
            <a:endParaRPr lang="en-US" sz="1200" dirty="0"/>
          </a:p>
        </p:txBody>
      </p:sp>
      <p:sp>
        <p:nvSpPr>
          <p:cNvPr id="14" name="Text 12"/>
          <p:cNvSpPr txBox="1"/>
          <p:nvPr/>
        </p:nvSpPr>
        <p:spPr>
          <a:xfrm>
            <a:off x="841248" y="4456176"/>
            <a:ext cx="4925416" cy="40538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Referenznummer an Abnehmer weitergeben</a:t>
            </a:r>
            <a:endParaRPr lang="en-US" sz="1200" dirty="0"/>
          </a:p>
        </p:txBody>
      </p:sp>
      <p:sp>
        <p:nvSpPr>
          <p:cNvPr id="15" name="Text 13"/>
          <p:cNvSpPr txBox="1"/>
          <p:nvPr/>
        </p:nvSpPr>
        <p:spPr>
          <a:xfrm>
            <a:off x="841248" y="4916424"/>
            <a:ext cx="4925416" cy="40538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Hoher Aufwand, hohes Haftungsrisiko</a:t>
            </a:r>
            <a:endParaRPr lang="en-US" sz="1250" dirty="0"/>
          </a:p>
        </p:txBody>
      </p:sp>
      <p:sp>
        <p:nvSpPr>
          <p:cNvPr id="16" name="Shape 14"/>
          <p:cNvSpPr/>
          <p:nvPr/>
        </p:nvSpPr>
        <p:spPr>
          <a:xfrm>
            <a:off x="6223864" y="1664208"/>
            <a:ext cx="5327752" cy="3840480"/>
          </a:xfrm>
          <a:prstGeom prst="roundRect">
            <a:avLst>
              <a:gd name="adj" fmla="val 1905"/>
            </a:avLst>
          </a:prstGeom>
          <a:solidFill>
            <a:srgbClr val="FFFFFF"/>
          </a:solidFill>
          <a:ln w="9525">
            <a:solidFill>
              <a:srgbClr val="DDE3DE"/>
            </a:solidFill>
            <a:prstDash val="solid"/>
          </a:ln>
        </p:spPr>
      </p:sp>
      <p:sp>
        <p:nvSpPr>
          <p:cNvPr id="17" name="Shape 15"/>
          <p:cNvSpPr/>
          <p:nvPr/>
        </p:nvSpPr>
        <p:spPr>
          <a:xfrm>
            <a:off x="6223864" y="1664208"/>
            <a:ext cx="5327752" cy="804672"/>
          </a:xfrm>
          <a:prstGeom prst="roundRect">
            <a:avLst>
              <a:gd name="adj" fmla="val 9091"/>
            </a:avLst>
          </a:prstGeom>
          <a:solidFill>
            <a:srgbClr val="DDE3DE"/>
          </a:solidFill>
          <a:ln w="12700">
            <a:solidFill>
              <a:srgbClr val="DDE3DE"/>
            </a:solidFill>
            <a:prstDash val="solid"/>
          </a:ln>
        </p:spPr>
      </p:sp>
      <p:sp>
        <p:nvSpPr>
          <p:cNvPr id="18" name="Text 16"/>
          <p:cNvSpPr txBox="1"/>
          <p:nvPr/>
        </p:nvSpPr>
        <p:spPr>
          <a:xfrm>
            <a:off x="6425032"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Downstream-Betreiber / -Händler</a:t>
            </a:r>
            <a:endParaRPr lang="en-US" sz="1500" dirty="0"/>
          </a:p>
        </p:txBody>
      </p:sp>
      <p:sp>
        <p:nvSpPr>
          <p:cNvPr id="19" name="Text 17"/>
          <p:cNvSpPr txBox="1"/>
          <p:nvPr/>
        </p:nvSpPr>
        <p:spPr>
          <a:xfrm>
            <a:off x="6425032"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alle nachgelagerten Akteure</a:t>
            </a:r>
            <a:endParaRPr lang="en-US" sz="1100" dirty="0"/>
          </a:p>
        </p:txBody>
      </p:sp>
      <p:sp>
        <p:nvSpPr>
          <p:cNvPr id="20" name="Text 18"/>
          <p:cNvSpPr txBox="1"/>
          <p:nvPr/>
        </p:nvSpPr>
        <p:spPr>
          <a:xfrm>
            <a:off x="6425032" y="2615184"/>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eigene Sorgfaltserklärung mehr</a:t>
            </a:r>
            <a:endParaRPr lang="en-US" sz="1200" dirty="0"/>
          </a:p>
        </p:txBody>
      </p:sp>
      <p:sp>
        <p:nvSpPr>
          <p:cNvPr id="21" name="Text 19"/>
          <p:cNvSpPr txBox="1"/>
          <p:nvPr/>
        </p:nvSpPr>
        <p:spPr>
          <a:xfrm>
            <a:off x="6425032" y="3167482"/>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eigene Geodatenerhebung</a:t>
            </a:r>
            <a:endParaRPr lang="en-US" sz="1200" dirty="0"/>
          </a:p>
        </p:txBody>
      </p:sp>
      <p:sp>
        <p:nvSpPr>
          <p:cNvPr id="22" name="Text 20"/>
          <p:cNvSpPr txBox="1"/>
          <p:nvPr/>
        </p:nvSpPr>
        <p:spPr>
          <a:xfrm>
            <a:off x="6425032" y="3719779"/>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Nur der erste nachgelagerte Akteur muss die Referenznummer aufbewahren</a:t>
            </a:r>
            <a:endParaRPr lang="en-US" sz="1200" dirty="0"/>
          </a:p>
        </p:txBody>
      </p:sp>
      <p:sp>
        <p:nvSpPr>
          <p:cNvPr id="23" name="Text 21"/>
          <p:cNvSpPr txBox="1"/>
          <p:nvPr/>
        </p:nvSpPr>
        <p:spPr>
          <a:xfrm>
            <a:off x="6425032" y="4272077"/>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 und sie an seine Abnehmer weitergeben</a:t>
            </a:r>
            <a:endParaRPr lang="en-US" sz="1200" dirty="0"/>
          </a:p>
        </p:txBody>
      </p:sp>
      <p:sp>
        <p:nvSpPr>
          <p:cNvPr id="24" name="Text 22"/>
          <p:cNvSpPr txBox="1"/>
          <p:nvPr/>
        </p:nvSpPr>
        <p:spPr>
          <a:xfrm>
            <a:off x="6425032" y="4824374"/>
            <a:ext cx="4925416" cy="49743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Geringer Aufwand — aber Vertragsrisiko</a:t>
            </a:r>
            <a:endParaRPr lang="en-US" sz="1250" dirty="0"/>
          </a:p>
        </p:txBody>
      </p:sp>
      <p:sp>
        <p:nvSpPr>
          <p:cNvPr id="25" name="Shape 23"/>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6" name="Text 24"/>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Vor der Revision mussten auch nachgelagerte Unternehmen eigene Erklärungen abgeben. Diese Pflicht ist entfallen — die Kommission erwartet rund 75 % geringere Befolgungskosten.</a:t>
            </a:r>
            <a:endParaRPr lang="en-US" sz="1300" dirty="0"/>
          </a:p>
        </p:txBody>
      </p:sp>
      <p:sp>
        <p:nvSpPr>
          <p:cNvPr id="27" name="Text 25"/>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 (EU) 2025/2650, neue Betreiberdefinitionen [recherchiert]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ANWENDUNG AUF UNSER FALLUNTERNEHMEN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Die Entscheidung fällt je Lot — nicht je Unternehmen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2712568" y="1664208"/>
            <a:ext cx="6766560" cy="749808"/>
          </a:xfrm>
          <a:prstGeom prst="roundRect">
            <a:avLst>
              <a:gd name="adj" fmla="val 12195"/>
            </a:avLst>
          </a:prstGeom>
          <a:solidFill>
            <a:srgbClr val="1B3A2F"/>
          </a:solidFill>
          <a:ln w="12700">
            <a:solidFill>
              <a:srgbClr val="1B3A2F"/>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2913736" y="1719072"/>
            <a:ext cx="6364224" cy="640080"/>
          </a:xfrm>
          <a:prstGeom prst="rect">
            <a:avLst/>
          </a:prstGeom>
          <a:noFill/>
          <a:ln/>
        </p:spPr>
        <p:txBody>
          <a:bodyPr wrap="square" lIns="0" tIns="0" rIns="0" bIns="0" rtlCol="0" anchor="ctr"/>
          <a:lstStyle/>
          <a:p>
            <a:pPr algn="ctr" indent="0" marL="0">
              <a:lnSpc>
                <a:spcPct val="106000"/>
              </a:lnSpc>
              <a:buNone/>
            </a:pPr>
            <a:r>
              <a:rPr lang="en-US" sz="1550" b="1" dirty="0">
                <a:solidFill>
                  <a:srgbClr val="FFFFFF"/>
                </a:solidFill>
                <a:latin typeface="Cambria" pitchFamily="34" charset="0"/>
                <a:ea typeface="Cambria" pitchFamily="34" charset="-122"/>
                <a:cs typeface="Cambria" pitchFamily="34" charset="-120"/>
              </a:rPr>
              <a:t>Wer steht als Anmelder auf der Zollanmeldung bei der Einfuhr in die EU?</a:t>
            </a:r>
            <a:endParaRPr lang="en-US" sz="1550" dirty="0"/>
          </a:p>
        </p:txBody>
      </p:sp>
      <p:sp>
        <p:nvSpPr>
          <p:cNvPr id="8" name="Text 6"/>
          <p:cNvSpPr txBox="1"/>
          <p:nvPr/>
        </p:nvSpPr>
        <p:spPr>
          <a:xfrm>
            <a:off x="3070784" y="2450592"/>
            <a:ext cx="365760" cy="310896"/>
          </a:xfrm>
          <a:prstGeom prst="rect">
            <a:avLst/>
          </a:prstGeom>
          <a:noFill/>
          <a:ln/>
        </p:spPr>
        <p:txBody>
          <a:bodyPr wrap="square" lIns="0" tIns="0" rIns="0" bIns="0" rtlCol="0" anchor="ctr"/>
          <a:lstStyle/>
          <a:p>
            <a:pPr algn="ctr" indent="0" marL="0">
              <a:buNone/>
            </a:pPr>
            <a:r>
              <a:rPr lang="en-US" sz="1300" dirty="0">
                <a:solidFill>
                  <a:srgbClr val="C9762F"/>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640080" y="2834640"/>
            <a:ext cx="5227168" cy="2670048"/>
          </a:xfrm>
          <a:prstGeom prst="roundRect">
            <a:avLst>
              <a:gd name="adj" fmla="val 27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0" name="Shape 8"/>
          <p:cNvSpPr/>
          <p:nvPr/>
        </p:nvSpPr>
        <p:spPr>
          <a:xfrm>
            <a:off x="640080" y="2834640"/>
            <a:ext cx="5227168" cy="822960"/>
          </a:xfrm>
          <a:prstGeom prst="roundRect">
            <a:avLst>
              <a:gd name="adj" fmla="val 8889"/>
            </a:avLst>
          </a:prstGeom>
          <a:solidFill>
            <a:srgbClr val="C9762F"/>
          </a:solidFill>
          <a:ln w="12700">
            <a:solidFill>
              <a:srgbClr val="C9762F"/>
            </a:solidFill>
            <a:prstDash val="solid"/>
          </a:ln>
        </p:spPr>
      </p:sp>
      <p:sp>
        <p:nvSpPr>
          <p:cNvPr id="11" name="Text 9"/>
          <p:cNvSpPr txBox="1"/>
          <p:nvPr/>
        </p:nvSpPr>
        <p:spPr>
          <a:xfrm>
            <a:off x="841248" y="2916936"/>
            <a:ext cx="4824832" cy="274320"/>
          </a:xfrm>
          <a:prstGeom prst="rect">
            <a:avLst/>
          </a:prstGeom>
          <a:noFill/>
          <a:ln/>
        </p:spPr>
        <p:txBody>
          <a:bodyPr wrap="square" lIns="0" tIns="0" rIns="0" bIns="0" rtlCol="0" anchor="t"/>
          <a:lstStyle/>
          <a:p>
            <a:pPr algn="l" indent="0" marL="0">
              <a:lnSpc>
                <a:spcPct val="106000"/>
              </a:lnSpc>
              <a:buNone/>
            </a:pPr>
            <a:r>
              <a:rPr lang="en-US" sz="1150" b="1" dirty="0">
                <a:solidFill>
                  <a:srgbClr val="FFFFFF"/>
                </a:solidFill>
                <a:latin typeface="Calibri" pitchFamily="34" charset="0"/>
                <a:ea typeface="Calibri" pitchFamily="34" charset="-122"/>
                <a:cs typeface="Calibri" pitchFamily="34" charset="-120"/>
              </a:rPr>
              <a:t>WIR SELBST — Direct-Trade-Lot</a:t>
            </a:r>
            <a:endParaRPr lang="en-US" sz="1150" dirty="0"/>
          </a:p>
        </p:txBody>
      </p:sp>
      <p:sp>
        <p:nvSpPr>
          <p:cNvPr id="12" name="Text 10"/>
          <p:cNvSpPr txBox="1"/>
          <p:nvPr/>
        </p:nvSpPr>
        <p:spPr>
          <a:xfrm>
            <a:off x="841248" y="3218688"/>
            <a:ext cx="4824832" cy="365760"/>
          </a:xfrm>
          <a:prstGeom prst="rect">
            <a:avLst/>
          </a:prstGeom>
          <a:noFill/>
          <a:ln/>
        </p:spPr>
        <p:txBody>
          <a:bodyPr wrap="square" lIns="0" tIns="0" rIns="0" bIns="0" rtlCol="0" anchor="t"/>
          <a:lstStyle/>
          <a:p>
            <a:pPr algn="l" indent="0" marL="0">
              <a:lnSpc>
                <a:spcPct val="106000"/>
              </a:lnSpc>
              <a:buNone/>
            </a:pPr>
            <a:r>
              <a:rPr lang="en-US" sz="1600" b="1" dirty="0">
                <a:solidFill>
                  <a:srgbClr val="FFFFFF"/>
                </a:solidFill>
                <a:latin typeface="Cambria" pitchFamily="34" charset="0"/>
                <a:ea typeface="Cambria" pitchFamily="34" charset="-122"/>
                <a:cs typeface="Cambria" pitchFamily="34" charset="-120"/>
              </a:rPr>
              <a:t>Primärbetreiber</a:t>
            </a:r>
            <a:endParaRPr lang="en-US" sz="1600" dirty="0"/>
          </a:p>
        </p:txBody>
      </p:sp>
      <p:sp>
        <p:nvSpPr>
          <p:cNvPr id="13" name="Shape 11"/>
          <p:cNvSpPr/>
          <p:nvPr/>
        </p:nvSpPr>
        <p:spPr>
          <a:xfrm>
            <a:off x="859536" y="3904488"/>
            <a:ext cx="109728" cy="109728"/>
          </a:xfrm>
          <a:prstGeom prst="ellipse">
            <a:avLst/>
          </a:prstGeom>
          <a:solidFill>
            <a:srgbClr val="C9762F"/>
          </a:solidFill>
          <a:ln w="12700">
            <a:solidFill>
              <a:srgbClr val="C9762F"/>
            </a:solidFill>
            <a:prstDash val="solid"/>
          </a:ln>
        </p:spPr>
      </p:sp>
      <p:sp>
        <p:nvSpPr>
          <p:cNvPr id="14" name="Text 12"/>
          <p:cNvSpPr txBox="1"/>
          <p:nvPr/>
        </p:nvSpPr>
        <p:spPr>
          <a:xfrm>
            <a:off x="1097280" y="3822192"/>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Geolokation aller Parzellen beschaffen</a:t>
            </a:r>
            <a:endParaRPr lang="en-US" sz="1200" dirty="0"/>
          </a:p>
        </p:txBody>
      </p:sp>
      <p:sp>
        <p:nvSpPr>
          <p:cNvPr id="15" name="Shape 13"/>
          <p:cNvSpPr/>
          <p:nvPr/>
        </p:nvSpPr>
        <p:spPr>
          <a:xfrm>
            <a:off x="859536" y="4215384"/>
            <a:ext cx="109728" cy="109728"/>
          </a:xfrm>
          <a:prstGeom prst="ellipse">
            <a:avLst/>
          </a:prstGeom>
          <a:solidFill>
            <a:srgbClr val="C9762F"/>
          </a:solidFill>
          <a:ln w="12700">
            <a:solidFill>
              <a:srgbClr val="C9762F"/>
            </a:solidFill>
            <a:prstDash val="solid"/>
          </a:ln>
        </p:spPr>
      </p:sp>
      <p:sp>
        <p:nvSpPr>
          <p:cNvPr id="16" name="Text 14"/>
          <p:cNvSpPr txBox="1"/>
          <p:nvPr/>
        </p:nvSpPr>
        <p:spPr>
          <a:xfrm>
            <a:off x="1097280" y="4133088"/>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Erntezeitraum und Legalitätsnachweise</a:t>
            </a:r>
            <a:endParaRPr lang="en-US" sz="1200" dirty="0"/>
          </a:p>
        </p:txBody>
      </p:sp>
      <p:sp>
        <p:nvSpPr>
          <p:cNvPr id="17" name="Shape 15"/>
          <p:cNvSpPr/>
          <p:nvPr/>
        </p:nvSpPr>
        <p:spPr>
          <a:xfrm>
            <a:off x="859536" y="4526280"/>
            <a:ext cx="109728" cy="109728"/>
          </a:xfrm>
          <a:prstGeom prst="ellipse">
            <a:avLst/>
          </a:prstGeom>
          <a:solidFill>
            <a:srgbClr val="C9762F"/>
          </a:solidFill>
          <a:ln w="12700">
            <a:solidFill>
              <a:srgbClr val="C9762F"/>
            </a:solidFill>
            <a:prstDash val="solid"/>
          </a:ln>
        </p:spPr>
      </p:sp>
      <p:sp>
        <p:nvSpPr>
          <p:cNvPr id="18" name="Text 16"/>
          <p:cNvSpPr txBox="1"/>
          <p:nvPr/>
        </p:nvSpPr>
        <p:spPr>
          <a:xfrm>
            <a:off x="1097280" y="4443984"/>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Risikoprüfung gegen Waldverlustdaten</a:t>
            </a:r>
            <a:endParaRPr lang="en-US" sz="1200" dirty="0"/>
          </a:p>
        </p:txBody>
      </p:sp>
      <p:sp>
        <p:nvSpPr>
          <p:cNvPr id="19" name="Shape 17"/>
          <p:cNvSpPr/>
          <p:nvPr/>
        </p:nvSpPr>
        <p:spPr>
          <a:xfrm>
            <a:off x="859536" y="4837176"/>
            <a:ext cx="109728" cy="109728"/>
          </a:xfrm>
          <a:prstGeom prst="ellipse">
            <a:avLst/>
          </a:prstGeom>
          <a:solidFill>
            <a:srgbClr val="C9762F"/>
          </a:solidFill>
          <a:ln w="12700">
            <a:solidFill>
              <a:srgbClr val="C9762F"/>
            </a:solidFill>
            <a:prstDash val="solid"/>
          </a:ln>
        </p:spPr>
      </p:sp>
      <p:sp>
        <p:nvSpPr>
          <p:cNvPr id="20" name="Text 18"/>
          <p:cNvSpPr txBox="1"/>
          <p:nvPr/>
        </p:nvSpPr>
        <p:spPr>
          <a:xfrm>
            <a:off x="1097280" y="4754880"/>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Sorgfaltserklärung in TRACES abgeben</a:t>
            </a:r>
            <a:endParaRPr lang="en-US" sz="1200" dirty="0"/>
          </a:p>
        </p:txBody>
      </p:sp>
      <p:sp>
        <p:nvSpPr>
          <p:cNvPr id="21" name="Shape 19"/>
          <p:cNvSpPr/>
          <p:nvPr/>
        </p:nvSpPr>
        <p:spPr>
          <a:xfrm>
            <a:off x="859536" y="5148072"/>
            <a:ext cx="109728" cy="109728"/>
          </a:xfrm>
          <a:prstGeom prst="ellipse">
            <a:avLst/>
          </a:prstGeom>
          <a:solidFill>
            <a:srgbClr val="C9762F"/>
          </a:solidFill>
          <a:ln w="12700">
            <a:solidFill>
              <a:srgbClr val="C9762F"/>
            </a:solidFill>
            <a:prstDash val="solid"/>
          </a:ln>
        </p:spPr>
      </p:sp>
      <p:sp>
        <p:nvSpPr>
          <p:cNvPr id="22" name="Text 20"/>
          <p:cNvSpPr txBox="1"/>
          <p:nvPr/>
        </p:nvSpPr>
        <p:spPr>
          <a:xfrm>
            <a:off x="1097280" y="5065776"/>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Referenznummer sichern und weitergeben</a:t>
            </a:r>
            <a:endParaRPr lang="en-US" sz="1200" dirty="0"/>
          </a:p>
        </p:txBody>
      </p:sp>
      <p:sp>
        <p:nvSpPr>
          <p:cNvPr id="23" name="Text 21"/>
          <p:cNvSpPr txBox="1"/>
          <p:nvPr/>
        </p:nvSpPr>
        <p:spPr>
          <a:xfrm>
            <a:off x="8755151" y="2450592"/>
            <a:ext cx="365760" cy="310896"/>
          </a:xfrm>
          <a:prstGeom prst="rect">
            <a:avLst/>
          </a:prstGeom>
          <a:noFill/>
          <a:ln/>
        </p:spPr>
        <p:txBody>
          <a:bodyPr wrap="square" lIns="0" tIns="0" rIns="0" bIns="0" rtlCol="0" anchor="ctr"/>
          <a:lstStyle/>
          <a:p>
            <a:pPr algn="ctr" indent="0" marL="0">
              <a:buNone/>
            </a:pPr>
            <a:r>
              <a:rPr lang="en-US" sz="1300" dirty="0">
                <a:solidFill>
                  <a:srgbClr val="C9762F"/>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6324448" y="2834640"/>
            <a:ext cx="5227168" cy="2670048"/>
          </a:xfrm>
          <a:prstGeom prst="roundRect">
            <a:avLst>
              <a:gd name="adj" fmla="val 27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5" name="Shape 23"/>
          <p:cNvSpPr/>
          <p:nvPr/>
        </p:nvSpPr>
        <p:spPr>
          <a:xfrm>
            <a:off x="6324448" y="2834640"/>
            <a:ext cx="5227168" cy="822960"/>
          </a:xfrm>
          <a:prstGeom prst="roundRect">
            <a:avLst>
              <a:gd name="adj" fmla="val 8889"/>
            </a:avLst>
          </a:prstGeom>
          <a:solidFill>
            <a:srgbClr val="97BC62"/>
          </a:solidFill>
          <a:ln w="12700">
            <a:solidFill>
              <a:srgbClr val="97BC62"/>
            </a:solidFill>
            <a:prstDash val="solid"/>
          </a:ln>
        </p:spPr>
      </p:sp>
      <p:sp>
        <p:nvSpPr>
          <p:cNvPr id="26" name="Text 24"/>
          <p:cNvSpPr txBox="1"/>
          <p:nvPr/>
        </p:nvSpPr>
        <p:spPr>
          <a:xfrm>
            <a:off x="6525616" y="2916936"/>
            <a:ext cx="4824832" cy="274320"/>
          </a:xfrm>
          <a:prstGeom prst="rect">
            <a:avLst/>
          </a:prstGeom>
          <a:noFill/>
          <a:ln/>
        </p:spPr>
        <p:txBody>
          <a:bodyPr wrap="square" lIns="0" tIns="0" rIns="0" bIns="0" rtlCol="0" anchor="t"/>
          <a:lstStyle/>
          <a:p>
            <a:pPr algn="l" indent="0" marL="0">
              <a:lnSpc>
                <a:spcPct val="106000"/>
              </a:lnSpc>
              <a:buNone/>
            </a:pPr>
            <a:r>
              <a:rPr lang="en-US" sz="1150" b="1" dirty="0">
                <a:solidFill>
                  <a:srgbClr val="1B3A2F"/>
                </a:solidFill>
                <a:latin typeface="Calibri" pitchFamily="34" charset="0"/>
                <a:ea typeface="Calibri" pitchFamily="34" charset="-122"/>
                <a:cs typeface="Calibri" pitchFamily="34" charset="-120"/>
              </a:rPr>
              <a:t>EU-IMPORTEUR — zugekauftes Lot</a:t>
            </a:r>
            <a:endParaRPr lang="en-US" sz="1150" dirty="0"/>
          </a:p>
        </p:txBody>
      </p:sp>
      <p:sp>
        <p:nvSpPr>
          <p:cNvPr id="27" name="Text 25"/>
          <p:cNvSpPr txBox="1"/>
          <p:nvPr/>
        </p:nvSpPr>
        <p:spPr>
          <a:xfrm>
            <a:off x="6525616" y="3218688"/>
            <a:ext cx="4824832" cy="365760"/>
          </a:xfrm>
          <a:prstGeom prst="rect">
            <a:avLst/>
          </a:prstGeom>
          <a:noFill/>
          <a:ln/>
        </p:spPr>
        <p:txBody>
          <a:bodyPr wrap="square" lIns="0" tIns="0" rIns="0" bIns="0" rtlCol="0" anchor="t"/>
          <a:lstStyle/>
          <a:p>
            <a:pPr algn="l" indent="0" marL="0">
              <a:lnSpc>
                <a:spcPct val="106000"/>
              </a:lnSpc>
              <a:buNone/>
            </a:pPr>
            <a:r>
              <a:rPr lang="en-US" sz="1600" b="1" dirty="0">
                <a:solidFill>
                  <a:srgbClr val="1B3A2F"/>
                </a:solidFill>
                <a:latin typeface="Cambria" pitchFamily="34" charset="0"/>
                <a:ea typeface="Cambria" pitchFamily="34" charset="-122"/>
                <a:cs typeface="Cambria" pitchFamily="34" charset="-120"/>
              </a:rPr>
              <a:t>Erster Downstream-Betreiber</a:t>
            </a:r>
            <a:endParaRPr lang="en-US" sz="1600" dirty="0"/>
          </a:p>
        </p:txBody>
      </p:sp>
      <p:sp>
        <p:nvSpPr>
          <p:cNvPr id="28" name="Shape 26"/>
          <p:cNvSpPr/>
          <p:nvPr/>
        </p:nvSpPr>
        <p:spPr>
          <a:xfrm>
            <a:off x="6543904" y="3904488"/>
            <a:ext cx="109728" cy="109728"/>
          </a:xfrm>
          <a:prstGeom prst="ellipse">
            <a:avLst/>
          </a:prstGeom>
          <a:solidFill>
            <a:srgbClr val="C9762F"/>
          </a:solidFill>
          <a:ln w="12700">
            <a:solidFill>
              <a:srgbClr val="C9762F"/>
            </a:solidFill>
            <a:prstDash val="solid"/>
          </a:ln>
        </p:spPr>
      </p:sp>
      <p:sp>
        <p:nvSpPr>
          <p:cNvPr id="29" name="Text 27"/>
          <p:cNvSpPr txBox="1"/>
          <p:nvPr/>
        </p:nvSpPr>
        <p:spPr>
          <a:xfrm>
            <a:off x="6781648" y="3822192"/>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Referenznummer beim Importeur einholen</a:t>
            </a:r>
            <a:endParaRPr lang="en-US" sz="1200" dirty="0"/>
          </a:p>
        </p:txBody>
      </p:sp>
      <p:sp>
        <p:nvSpPr>
          <p:cNvPr id="30" name="Shape 28"/>
          <p:cNvSpPr/>
          <p:nvPr/>
        </p:nvSpPr>
        <p:spPr>
          <a:xfrm>
            <a:off x="6543904" y="4215384"/>
            <a:ext cx="109728" cy="109728"/>
          </a:xfrm>
          <a:prstGeom prst="ellipse">
            <a:avLst/>
          </a:prstGeom>
          <a:solidFill>
            <a:srgbClr val="C9762F"/>
          </a:solidFill>
          <a:ln w="12700">
            <a:solidFill>
              <a:srgbClr val="C9762F"/>
            </a:solidFill>
            <a:prstDash val="solid"/>
          </a:ln>
        </p:spPr>
      </p:sp>
      <p:sp>
        <p:nvSpPr>
          <p:cNvPr id="31" name="Text 29"/>
          <p:cNvSpPr txBox="1"/>
          <p:nvPr/>
        </p:nvSpPr>
        <p:spPr>
          <a:xfrm>
            <a:off x="6781648" y="4133088"/>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Aufbewahren und archivieren</a:t>
            </a:r>
            <a:endParaRPr lang="en-US" sz="1200" dirty="0"/>
          </a:p>
        </p:txBody>
      </p:sp>
      <p:sp>
        <p:nvSpPr>
          <p:cNvPr id="32" name="Shape 30"/>
          <p:cNvSpPr/>
          <p:nvPr/>
        </p:nvSpPr>
        <p:spPr>
          <a:xfrm>
            <a:off x="6543904" y="4526280"/>
            <a:ext cx="109728" cy="109728"/>
          </a:xfrm>
          <a:prstGeom prst="ellipse">
            <a:avLst/>
          </a:prstGeom>
          <a:solidFill>
            <a:srgbClr val="C9762F"/>
          </a:solidFill>
          <a:ln w="12700">
            <a:solidFill>
              <a:srgbClr val="C9762F"/>
            </a:solidFill>
            <a:prstDash val="solid"/>
          </a:ln>
        </p:spPr>
      </p:sp>
      <p:sp>
        <p:nvSpPr>
          <p:cNvPr id="33" name="Text 31"/>
          <p:cNvSpPr txBox="1"/>
          <p:nvPr/>
        </p:nvSpPr>
        <p:spPr>
          <a:xfrm>
            <a:off x="6781648" y="4443984"/>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An eigene Abnehmer weitergeben</a:t>
            </a:r>
            <a:endParaRPr lang="en-US" sz="1200" dirty="0"/>
          </a:p>
        </p:txBody>
      </p:sp>
      <p:sp>
        <p:nvSpPr>
          <p:cNvPr id="34" name="Shape 32"/>
          <p:cNvSpPr/>
          <p:nvPr/>
        </p:nvSpPr>
        <p:spPr>
          <a:xfrm>
            <a:off x="6543904" y="4837176"/>
            <a:ext cx="109728" cy="109728"/>
          </a:xfrm>
          <a:prstGeom prst="ellipse">
            <a:avLst/>
          </a:prstGeom>
          <a:solidFill>
            <a:srgbClr val="C9762F"/>
          </a:solidFill>
          <a:ln w="12700">
            <a:solidFill>
              <a:srgbClr val="C9762F"/>
            </a:solidFill>
            <a:prstDash val="solid"/>
          </a:ln>
        </p:spPr>
      </p:sp>
      <p:sp>
        <p:nvSpPr>
          <p:cNvPr id="35" name="Text 33"/>
          <p:cNvSpPr txBox="1"/>
          <p:nvPr/>
        </p:nvSpPr>
        <p:spPr>
          <a:xfrm>
            <a:off x="6781648" y="4754880"/>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Vertraglich absichern, mit Frist</a:t>
            </a:r>
            <a:endParaRPr lang="en-US" sz="1200" dirty="0"/>
          </a:p>
        </p:txBody>
      </p:sp>
      <p:sp>
        <p:nvSpPr>
          <p:cNvPr id="36" name="Shape 34"/>
          <p:cNvSpPr/>
          <p:nvPr/>
        </p:nvSpPr>
        <p:spPr>
          <a:xfrm>
            <a:off x="6543904" y="5148072"/>
            <a:ext cx="109728" cy="109728"/>
          </a:xfrm>
          <a:prstGeom prst="ellipse">
            <a:avLst/>
          </a:prstGeom>
          <a:solidFill>
            <a:srgbClr val="C9762F"/>
          </a:solidFill>
          <a:ln w="12700">
            <a:solidFill>
              <a:srgbClr val="C9762F"/>
            </a:solidFill>
            <a:prstDash val="solid"/>
          </a:ln>
        </p:spPr>
      </p:sp>
      <p:sp>
        <p:nvSpPr>
          <p:cNvPr id="37" name="Text 35"/>
          <p:cNvSpPr txBox="1"/>
          <p:nvPr/>
        </p:nvSpPr>
        <p:spPr>
          <a:xfrm>
            <a:off x="6781648" y="5065776"/>
            <a:ext cx="4550512" cy="27432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eigene Erklärung, keine Geodaten</a:t>
            </a:r>
            <a:endParaRPr lang="en-US" sz="1200" dirty="0"/>
          </a:p>
        </p:txBody>
      </p:sp>
      <p:sp>
        <p:nvSpPr>
          <p:cNvPr id="38" name="Shape 36"/>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9" name="Text 37"/>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Das Kriterium ist der Zollanmelderstatus — nicht wer verhandelt hat, nicht wer bezahlt, nicht wessen Name auf dem Sack steht.</a:t>
            </a:r>
            <a:endParaRPr lang="en-US" sz="1300" dirty="0"/>
          </a:p>
        </p:txBody>
      </p:sp>
      <p:sp>
        <p:nvSpPr>
          <p:cNvPr id="40" name="Text 38"/>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Rollenzuordnung nach VO (EU) 2025/2650 [recherchiert] · Anwendung auf den Fall [angenommen]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UNGEKLÄRT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Löst das Rösten ein erneutes Inverkehrbringen aus?</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422453"/>
          </a:xfrm>
          <a:prstGeom prst="rect">
            <a:avLst/>
          </a:prstGeom>
          <a:noFill/>
          <a:ln/>
        </p:spPr>
        <p:txBody>
          <a:bodyPr wrap="square" lIns="0" tIns="0" rIns="0" bIns="0" rtlCol="0" anchor="t"/>
          <a:lstStyle/>
          <a:p>
            <a:pPr algn="l" indent="0" marL="0">
              <a:lnSpc>
                <a:spcPct val="102000"/>
              </a:lnSpc>
              <a:buNone/>
            </a:pPr>
            <a:r>
              <a:rPr lang="en-US" sz="1400" b="1" dirty="0">
                <a:solidFill>
                  <a:srgbClr val="17241F"/>
                </a:solidFill>
                <a:latin typeface="Calibri" pitchFamily="34" charset="0"/>
                <a:ea typeface="Calibri" pitchFamily="34" charset="-122"/>
                <a:cs typeface="Calibri" pitchFamily="34" charset="-120"/>
              </a:rPr>
              <a:t>Die Zolltarifnummer ändert sich — innerhalb derselben Position</a:t>
            </a:r>
            <a:endParaRPr lang="en-US" sz="1400" dirty="0"/>
          </a:p>
        </p:txBody>
      </p:sp>
      <p:sp>
        <p:nvSpPr>
          <p:cNvPr id="8" name="Text 6"/>
          <p:cNvSpPr txBox="1"/>
          <p:nvPr/>
        </p:nvSpPr>
        <p:spPr>
          <a:xfrm>
            <a:off x="969264" y="1935988"/>
            <a:ext cx="6528816" cy="578612"/>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Grünkaffee ist 0901 11, gerösteter Kaffee 0901 21. Beides gehört zur Position 0901. Genau diese Halbheit erzeugt den Streit.</a:t>
            </a:r>
            <a:endParaRPr lang="en-US" sz="1250" dirty="0"/>
          </a:p>
        </p:txBody>
      </p:sp>
      <p:sp>
        <p:nvSpPr>
          <p:cNvPr id="9" name="Shape 7"/>
          <p:cNvSpPr/>
          <p:nvPr/>
        </p:nvSpPr>
        <p:spPr>
          <a:xfrm>
            <a:off x="658368" y="273405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62432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Auslegung A: Downstream-Vorgang</a:t>
            </a:r>
            <a:endParaRPr lang="en-US" sz="1500" dirty="0"/>
          </a:p>
        </p:txBody>
      </p:sp>
      <p:sp>
        <p:nvSpPr>
          <p:cNvPr id="11" name="Text 9"/>
          <p:cNvSpPr txBox="1"/>
          <p:nvPr/>
        </p:nvSpPr>
        <p:spPr>
          <a:xfrm>
            <a:off x="969264" y="291160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Da der Input bereits sorgfaltsgeprüft war, genügt die Weitergabe der Referenznummer. Rösten schafft keine neue Pflicht.</a:t>
            </a:r>
            <a:endParaRPr lang="en-US" sz="1250" dirty="0"/>
          </a:p>
        </p:txBody>
      </p:sp>
      <p:sp>
        <p:nvSpPr>
          <p:cNvPr id="12" name="Shape 10"/>
          <p:cNvSpPr/>
          <p:nvPr/>
        </p:nvSpPr>
        <p:spPr>
          <a:xfrm>
            <a:off x="658368" y="369417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358444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Auslegung B: Die Rösterei bleibt Händler</a:t>
            </a:r>
            <a:endParaRPr lang="en-US" sz="1500" dirty="0"/>
          </a:p>
        </p:txBody>
      </p:sp>
      <p:sp>
        <p:nvSpPr>
          <p:cNvPr id="14" name="Text 12"/>
          <p:cNvSpPr txBox="1"/>
          <p:nvPr/>
        </p:nvSpPr>
        <p:spPr>
          <a:xfrm>
            <a:off x="969264" y="387172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Weil sich die HS-Position nicht ändert, sei die Rösterei kein Verarbeiter, sondern Händler — mit entsprechend anderen Pflichten.</a:t>
            </a:r>
            <a:endParaRPr lang="en-US" sz="1250" dirty="0"/>
          </a:p>
        </p:txBody>
      </p:sp>
      <p:sp>
        <p:nvSpPr>
          <p:cNvPr id="15" name="Shape 13"/>
          <p:cNvSpPr/>
          <p:nvPr/>
        </p:nvSpPr>
        <p:spPr>
          <a:xfrm>
            <a:off x="658368" y="4654296"/>
            <a:ext cx="137160" cy="137160"/>
          </a:xfrm>
          <a:prstGeom prst="ellipse">
            <a:avLst/>
          </a:prstGeom>
          <a:solidFill>
            <a:srgbClr val="C9762F"/>
          </a:solidFill>
          <a:ln w="12700">
            <a:solidFill>
              <a:srgbClr val="C9762F"/>
            </a:solidFill>
            <a:prstDash val="solid"/>
          </a:ln>
        </p:spPr>
      </p:sp>
      <p:sp>
        <p:nvSpPr>
          <p:cNvPr id="16" name="Text 14"/>
          <p:cNvSpPr txBox="1"/>
          <p:nvPr/>
        </p:nvSpPr>
        <p:spPr>
          <a:xfrm>
            <a:off x="969264" y="4544568"/>
            <a:ext cx="6528816" cy="422453"/>
          </a:xfrm>
          <a:prstGeom prst="rect">
            <a:avLst/>
          </a:prstGeom>
          <a:noFill/>
          <a:ln/>
        </p:spPr>
        <p:txBody>
          <a:bodyPr wrap="square" lIns="0" tIns="0" rIns="0" bIns="0" rtlCol="0" anchor="t"/>
          <a:lstStyle/>
          <a:p>
            <a:pPr algn="l" indent="0" marL="0">
              <a:lnSpc>
                <a:spcPct val="102000"/>
              </a:lnSpc>
              <a:buNone/>
            </a:pPr>
            <a:r>
              <a:rPr lang="en-US" sz="1450" b="1" dirty="0">
                <a:solidFill>
                  <a:srgbClr val="17241F"/>
                </a:solidFill>
                <a:latin typeface="Calibri" pitchFamily="34" charset="0"/>
                <a:ea typeface="Calibri" pitchFamily="34" charset="-122"/>
                <a:cs typeface="Calibri" pitchFamily="34" charset="-120"/>
              </a:rPr>
              <a:t>Unser Umgang damit: das Datenmodell trägt beide Auslegungen</a:t>
            </a:r>
            <a:endParaRPr lang="en-US" sz="1450" dirty="0"/>
          </a:p>
        </p:txBody>
      </p:sp>
      <p:sp>
        <p:nvSpPr>
          <p:cNvPr id="17" name="Text 15"/>
          <p:cNvSpPr txBox="1"/>
          <p:nvPr/>
        </p:nvSpPr>
        <p:spPr>
          <a:xfrm>
            <a:off x="969264" y="4824095"/>
            <a:ext cx="6528816" cy="57086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Wir führen die Verknüpfung Grünkaffee → Röstcharge → verkaufte Einheit immer lückenlos. Die Zusatzkosten sind gering; eine nachträgliche Rekonstruktion wäre teuer.</a:t>
            </a:r>
            <a:endParaRPr lang="en-US" sz="1200" dirty="0"/>
          </a:p>
        </p:txBody>
      </p:sp>
      <p:sp>
        <p:nvSpPr>
          <p:cNvPr id="18" name="Shape 16"/>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EMPFEHLUNG</a:t>
            </a:r>
            <a:endParaRPr lang="en-US" sz="1050" dirty="0"/>
          </a:p>
        </p:txBody>
      </p:sp>
      <p:sp>
        <p:nvSpPr>
          <p:cNvPr id="20" name="Text 18"/>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Cambria" pitchFamily="34" charset="0"/>
                <a:ea typeface="Cambria" pitchFamily="34" charset="-122"/>
                <a:cs typeface="Cambria" pitchFamily="34" charset="-120"/>
              </a:rPr>
              <a:t>Rechtsgutachten beauftragen — idealerweise abgestimmt mit dem Kaffeeverband.</a:t>
            </a:r>
            <a:endParaRPr lang="en-US" sz="1400" dirty="0"/>
          </a:p>
          <a:p>
            <a:pPr algn="l" indent="0" marL="0">
              <a:lnSpc>
                <a:spcPct val="112000"/>
              </a:lnSpc>
              <a:buNone/>
            </a:pPr>
            <a:endParaRPr lang="en-US" sz="1400" dirty="0"/>
          </a:p>
          <a:p>
            <a:pPr algn="l" indent="0" marL="0">
              <a:lnSpc>
                <a:spcPct val="112000"/>
              </a:lnSpc>
              <a:buNone/>
            </a:pPr>
            <a:r>
              <a:rPr lang="en-US" sz="1400" b="1" dirty="0">
                <a:solidFill>
                  <a:srgbClr val="FFFFFF"/>
                </a:solidFill>
                <a:latin typeface="Cambria" pitchFamily="34" charset="0"/>
                <a:ea typeface="Cambria" pitchFamily="34" charset="-122"/>
                <a:cs typeface="Cambria" pitchFamily="34" charset="-120"/>
              </a:rPr>
              <a:t>Eine Branchenposition ist belastbarer als eine Einzelmeinung.</a:t>
            </a:r>
            <a:endParaRPr lang="en-US" sz="14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Wir behaupten hier keine Klarheit, die es nicht gibt. Die Quellenlage ist widersprüchlich — das ist ein Ergebnis, kein Versäumnis.</a:t>
            </a:r>
            <a:endParaRPr lang="en-US" sz="1300" dirty="0"/>
          </a:p>
        </p:txBody>
      </p:sp>
      <p:sp>
        <p:nvSpPr>
          <p:cNvPr id="23" name="Text 2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Quellenlage widersprüchlich: TraceX bzw. European Coffee Federation [recherchiert, uneinheitlich]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966960" y="-1097280"/>
            <a:ext cx="4023360" cy="4023360"/>
          </a:xfrm>
          <a:prstGeom prst="ellipse">
            <a:avLst/>
          </a:prstGeom>
          <a:solidFill>
            <a:srgbClr val="24503F"/>
          </a:solidFill>
          <a:ln w="12700">
            <a:solidFill>
              <a:srgbClr val="24503F"/>
            </a:solidFill>
            <a:prstDash val="solid"/>
          </a:ln>
        </p:spPr>
      </p:sp>
      <p:sp>
        <p:nvSpPr>
          <p:cNvPr id="3" name="Text 1"/>
          <p:cNvSpPr txBox="1"/>
          <p:nvPr/>
        </p:nvSpPr>
        <p:spPr>
          <a:xfrm>
            <a:off x="640080" y="1133856"/>
            <a:ext cx="9997135" cy="274320"/>
          </a:xfrm>
          <a:prstGeom prst="rect">
            <a:avLst/>
          </a:prstGeom>
          <a:noFill/>
          <a:ln/>
        </p:spPr>
        <p:txBody>
          <a:bodyPr wrap="square" lIns="0" tIns="0" rIns="0" bIns="0" rtlCol="0" anchor="ctr"/>
          <a:lstStyle/>
          <a:p>
            <a:pPr indent="0" marL="0">
              <a:buNone/>
            </a:pPr>
            <a:r>
              <a:rPr lang="en-US" sz="1150" b="1" spc="180" kern="0" dirty="0">
                <a:solidFill>
                  <a:srgbClr val="C9762F"/>
                </a:solidFill>
                <a:latin typeface="Calibri" pitchFamily="34" charset="0"/>
                <a:ea typeface="Calibri" pitchFamily="34" charset="-122"/>
                <a:cs typeface="Calibri" pitchFamily="34" charset="-120"/>
              </a:rPr>
              <a:t>BEFUND, DER DIE AUFGABENSTELLUNG KORRIGIERT</a:t>
            </a:r>
            <a:endParaRPr lang="en-US" sz="1150" dirty="0"/>
          </a:p>
        </p:txBody>
      </p:sp>
      <p:sp>
        <p:nvSpPr>
          <p:cNvPr id="4" name="Text 2"/>
          <p:cNvSpPr txBox="1"/>
          <p:nvPr/>
        </p:nvSpPr>
        <p:spPr>
          <a:xfrm>
            <a:off x="640080" y="1572768"/>
            <a:ext cx="9692640" cy="2194560"/>
          </a:xfrm>
          <a:prstGeom prst="rect">
            <a:avLst/>
          </a:prstGeom>
          <a:noFill/>
          <a:ln/>
        </p:spPr>
        <p:txBody>
          <a:bodyPr wrap="square" lIns="0" tIns="0" rIns="0" bIns="0" rtlCol="0" anchor="t"/>
          <a:lstStyle/>
          <a:p>
            <a:pPr algn="l" indent="0" marL="0">
              <a:lnSpc>
                <a:spcPct val="110000"/>
              </a:lnSpc>
              <a:buNone/>
            </a:pPr>
            <a:r>
              <a:rPr lang="en-US" sz="3200" b="1" dirty="0">
                <a:solidFill>
                  <a:srgbClr val="FFFFFF"/>
                </a:solidFill>
                <a:latin typeface="Cambria" pitchFamily="34" charset="0"/>
                <a:ea typeface="Cambria" pitchFamily="34" charset="-122"/>
                <a:cs typeface="Cambria" pitchFamily="34" charset="-120"/>
              </a:rPr>
              <a:t>Für Kaffee gibt es keine</a:t>
            </a:r>
            <a:endParaRPr lang="en-US" sz="3200" dirty="0"/>
          </a:p>
          <a:p>
            <a:pPr algn="l" indent="0" marL="0">
              <a:lnSpc>
                <a:spcPct val="110000"/>
              </a:lnSpc>
              <a:buNone/>
            </a:pPr>
            <a:r>
              <a:rPr lang="en-US" sz="3200" b="1" dirty="0">
                <a:solidFill>
                  <a:srgbClr val="FFFFFF"/>
                </a:solidFill>
                <a:latin typeface="Cambria" pitchFamily="34" charset="0"/>
                <a:ea typeface="Cambria" pitchFamily="34" charset="-122"/>
                <a:cs typeface="Cambria" pitchFamily="34" charset="-120"/>
              </a:rPr>
              <a:t>DPP-Pflicht. Die Ökodesign-</a:t>
            </a:r>
            <a:endParaRPr lang="en-US" sz="3200" dirty="0"/>
          </a:p>
          <a:p>
            <a:pPr algn="l" indent="0" marL="0">
              <a:lnSpc>
                <a:spcPct val="110000"/>
              </a:lnSpc>
              <a:buNone/>
            </a:pPr>
            <a:r>
              <a:rPr lang="en-US" sz="3200" b="1" dirty="0">
                <a:solidFill>
                  <a:srgbClr val="FFFFFF"/>
                </a:solidFill>
                <a:latin typeface="Cambria" pitchFamily="34" charset="0"/>
                <a:ea typeface="Cambria" pitchFamily="34" charset="-122"/>
                <a:cs typeface="Cambria" pitchFamily="34" charset="-120"/>
              </a:rPr>
              <a:t>Verordnung gilt hier nicht.</a:t>
            </a:r>
            <a:endParaRPr lang="en-US" sz="3200" dirty="0"/>
          </a:p>
        </p:txBody>
      </p:sp>
      <p:sp>
        <p:nvSpPr>
          <p:cNvPr id="5" name="Shape 3"/>
          <p:cNvSpPr/>
          <p:nvPr/>
        </p:nvSpPr>
        <p:spPr>
          <a:xfrm>
            <a:off x="658368" y="4069080"/>
            <a:ext cx="128016" cy="128016"/>
          </a:xfrm>
          <a:prstGeom prst="ellipse">
            <a:avLst/>
          </a:prstGeom>
          <a:solidFill>
            <a:srgbClr val="97BC62"/>
          </a:solidFill>
          <a:ln w="12700">
            <a:solidFill>
              <a:srgbClr val="97BC62"/>
            </a:solidFill>
            <a:prstDash val="solid"/>
          </a:ln>
        </p:spPr>
      </p:sp>
      <p:sp>
        <p:nvSpPr>
          <p:cNvPr id="6" name="Text 4"/>
          <p:cNvSpPr txBox="1"/>
          <p:nvPr/>
        </p:nvSpPr>
        <p:spPr>
          <a:xfrm>
            <a:off x="969264" y="3968496"/>
            <a:ext cx="9509760" cy="521208"/>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Artikel 1 Absatz 2 ESPR nimmt Lebensmittel im Sinne der VO (EG) 178/2002 ausdrücklich vom Anwendungsbereich aus</a:t>
            </a:r>
            <a:endParaRPr lang="en-US" sz="1350" dirty="0"/>
          </a:p>
        </p:txBody>
      </p:sp>
      <p:sp>
        <p:nvSpPr>
          <p:cNvPr id="7" name="Shape 5"/>
          <p:cNvSpPr/>
          <p:nvPr/>
        </p:nvSpPr>
        <p:spPr>
          <a:xfrm>
            <a:off x="658368" y="4626864"/>
            <a:ext cx="128016" cy="128016"/>
          </a:xfrm>
          <a:prstGeom prst="ellipse">
            <a:avLst/>
          </a:prstGeom>
          <a:solidFill>
            <a:srgbClr val="97BC62"/>
          </a:solidFill>
          <a:ln w="12700">
            <a:solidFill>
              <a:srgbClr val="97BC62"/>
            </a:solidFill>
            <a:prstDash val="solid"/>
          </a:ln>
        </p:spPr>
      </p:sp>
      <p:sp>
        <p:nvSpPr>
          <p:cNvPr id="8" name="Text 6"/>
          <p:cNvSpPr txBox="1"/>
          <p:nvPr/>
        </p:nvSpPr>
        <p:spPr>
          <a:xfrm>
            <a:off x="969264" y="4526280"/>
            <a:ext cx="9509760" cy="521208"/>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Der ESPR-Arbeitsplan 2025–2030 priorisiert Stahl, Textilien, Reifen, Aluminium, Möbel und Matratzen — kein Lebensmittel</a:t>
            </a:r>
            <a:endParaRPr lang="en-US" sz="1350" dirty="0"/>
          </a:p>
        </p:txBody>
      </p:sp>
      <p:sp>
        <p:nvSpPr>
          <p:cNvPr id="9" name="Shape 7"/>
          <p:cNvSpPr/>
          <p:nvPr/>
        </p:nvSpPr>
        <p:spPr>
          <a:xfrm>
            <a:off x="658368" y="5184648"/>
            <a:ext cx="128016" cy="128016"/>
          </a:xfrm>
          <a:prstGeom prst="ellipse">
            <a:avLst/>
          </a:prstGeom>
          <a:solidFill>
            <a:srgbClr val="97BC62"/>
          </a:solidFill>
          <a:ln w="12700">
            <a:solidFill>
              <a:srgbClr val="97BC62"/>
            </a:solidFill>
            <a:prstDash val="solid"/>
          </a:ln>
        </p:spPr>
      </p:sp>
      <p:sp>
        <p:nvSpPr>
          <p:cNvPr id="10" name="Text 8"/>
          <p:cNvSpPr txBox="1"/>
          <p:nvPr/>
        </p:nvSpPr>
        <p:spPr>
          <a:xfrm>
            <a:off x="969264" y="5084064"/>
            <a:ext cx="9509760" cy="521208"/>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Damit ist ein Digitaler Produktpass für Röstkaffee freiwilliges Marketing, keine Compliance-Ausgabe</a:t>
            </a:r>
            <a:endParaRPr lang="en-US" sz="1350" dirty="0"/>
          </a:p>
        </p:txBody>
      </p:sp>
      <p:sp>
        <p:nvSpPr>
          <p:cNvPr id="11" name="Shape 9"/>
          <p:cNvSpPr/>
          <p:nvPr/>
        </p:nvSpPr>
        <p:spPr>
          <a:xfrm>
            <a:off x="658368" y="5742432"/>
            <a:ext cx="128016" cy="128016"/>
          </a:xfrm>
          <a:prstGeom prst="ellipse">
            <a:avLst/>
          </a:prstGeom>
          <a:solidFill>
            <a:srgbClr val="97BC62"/>
          </a:solidFill>
          <a:ln w="12700">
            <a:solidFill>
              <a:srgbClr val="97BC62"/>
            </a:solidFill>
            <a:prstDash val="solid"/>
          </a:ln>
        </p:spPr>
      </p:sp>
      <p:sp>
        <p:nvSpPr>
          <p:cNvPr id="12" name="Text 10"/>
          <p:cNvSpPr txBox="1"/>
          <p:nvPr/>
        </p:nvSpPr>
        <p:spPr>
          <a:xfrm>
            <a:off x="969264" y="5641848"/>
            <a:ext cx="9509760" cy="521208"/>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Prüffrage an jeden Anbieter, der Ihnen einen DPP als Pflicht verkauft: Nennen Sie den delegierten Rechtsakt.</a:t>
            </a:r>
            <a:endParaRPr lang="en-US" sz="1350" dirty="0"/>
          </a:p>
        </p:txBody>
      </p:sp>
      <p:sp>
        <p:nvSpPr>
          <p:cNvPr id="13" name="Text 1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8FA894"/>
                </a:solidFill>
                <a:latin typeface="Calibri" pitchFamily="34" charset="0"/>
                <a:ea typeface="Calibri" pitchFamily="34" charset="-122"/>
                <a:cs typeface="Calibri" pitchFamily="34" charset="-120"/>
              </a:rPr>
              <a:t>VO (EU) 2024/1781 Art. 1 Abs. 2, EUR-Lex · ESPR-Arbeitsplan vom 16.04.2025 [recherchiert]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WAS BEI DER VERPACKUNG WIRKLICH PFLICHT WIRD</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PPWR — Verordnung (EU) 2025/40</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1670266" y="1664208"/>
            <a:ext cx="475488" cy="475488"/>
          </a:xfrm>
          <a:prstGeom prst="ellipse">
            <a:avLst/>
          </a:prstGeom>
          <a:solidFill>
            <a:srgbClr val="1B3A2F"/>
          </a:solidFill>
          <a:ln w="12700">
            <a:solidFill>
              <a:srgbClr val="1B3A2F"/>
            </a:solidFill>
            <a:prstDash val="solid"/>
          </a:ln>
        </p:spPr>
      </p:sp>
      <p:sp>
        <p:nvSpPr>
          <p:cNvPr id="7" name="Text 5"/>
          <p:cNvSpPr txBox="1"/>
          <p:nvPr/>
        </p:nvSpPr>
        <p:spPr>
          <a:xfrm>
            <a:off x="1670266"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640080"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841248"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Grundpflichten</a:t>
            </a:r>
            <a:endParaRPr lang="en-US" sz="1550" dirty="0"/>
          </a:p>
        </p:txBody>
      </p:sp>
      <p:sp>
        <p:nvSpPr>
          <p:cNvPr id="10" name="Text 8"/>
          <p:cNvSpPr txBox="1"/>
          <p:nvPr/>
        </p:nvSpPr>
        <p:spPr>
          <a:xfrm>
            <a:off x="841248"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seit 12.08.2026</a:t>
            </a:r>
            <a:endParaRPr lang="en-US" sz="1150" dirty="0"/>
          </a:p>
        </p:txBody>
      </p:sp>
      <p:sp>
        <p:nvSpPr>
          <p:cNvPr id="11" name="Text 9"/>
          <p:cNvSpPr txBox="1"/>
          <p:nvPr/>
        </p:nvSpPr>
        <p:spPr>
          <a:xfrm>
            <a:off x="841248"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Konformitätserklärung und technische Dokumentation. Herstelleridentifikation auf der Verpackung, per QR oder in Begleitpapieren. Ausdrücklich kein QR-Zwang.</a:t>
            </a:r>
            <a:endParaRPr lang="en-US" sz="1150" dirty="0"/>
          </a:p>
        </p:txBody>
      </p:sp>
      <p:sp>
        <p:nvSpPr>
          <p:cNvPr id="12" name="Shape 10"/>
          <p:cNvSpPr/>
          <p:nvPr/>
        </p:nvSpPr>
        <p:spPr>
          <a:xfrm>
            <a:off x="4462158" y="1664208"/>
            <a:ext cx="475488" cy="475488"/>
          </a:xfrm>
          <a:prstGeom prst="ellipse">
            <a:avLst/>
          </a:prstGeom>
          <a:solidFill>
            <a:srgbClr val="1B3A2F"/>
          </a:solidFill>
          <a:ln w="12700">
            <a:solidFill>
              <a:srgbClr val="1B3A2F"/>
            </a:solidFill>
            <a:prstDash val="solid"/>
          </a:ln>
        </p:spPr>
      </p:sp>
      <p:sp>
        <p:nvSpPr>
          <p:cNvPr id="13" name="Text 11"/>
          <p:cNvSpPr txBox="1"/>
          <p:nvPr/>
        </p:nvSpPr>
        <p:spPr>
          <a:xfrm>
            <a:off x="4462158"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3431972"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3633140" y="2487168"/>
            <a:ext cx="213352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Option der Staaten</a:t>
            </a:r>
            <a:endParaRPr lang="en-US" sz="1550" dirty="0"/>
          </a:p>
        </p:txBody>
      </p:sp>
      <p:sp>
        <p:nvSpPr>
          <p:cNvPr id="16" name="Text 14"/>
          <p:cNvSpPr txBox="1"/>
          <p:nvPr/>
        </p:nvSpPr>
        <p:spPr>
          <a:xfrm>
            <a:off x="3633140"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ab 12.02.2027</a:t>
            </a:r>
            <a:endParaRPr lang="en-US" sz="1150" dirty="0"/>
          </a:p>
        </p:txBody>
      </p:sp>
      <p:sp>
        <p:nvSpPr>
          <p:cNvPr id="17" name="Text 15"/>
          <p:cNvSpPr txBox="1"/>
          <p:nvPr/>
        </p:nvSpPr>
        <p:spPr>
          <a:xfrm>
            <a:off x="3633140"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Mitgliedstaaten können für Verpackungen mit Herstellerverantwortung ein QR-basiertes digitales Label vorschreiben. Eine Möglichkeit, keine EU-weite Pflicht.</a:t>
            </a:r>
            <a:endParaRPr lang="en-US" sz="1150" dirty="0"/>
          </a:p>
        </p:txBody>
      </p:sp>
      <p:sp>
        <p:nvSpPr>
          <p:cNvPr id="18" name="Shape 16"/>
          <p:cNvSpPr/>
          <p:nvPr/>
        </p:nvSpPr>
        <p:spPr>
          <a:xfrm>
            <a:off x="7254050" y="1664208"/>
            <a:ext cx="475488" cy="475488"/>
          </a:xfrm>
          <a:prstGeom prst="ellipse">
            <a:avLst/>
          </a:prstGeom>
          <a:solidFill>
            <a:srgbClr val="C9762F"/>
          </a:solidFill>
          <a:ln w="12700">
            <a:solidFill>
              <a:srgbClr val="C9762F"/>
            </a:solidFill>
            <a:prstDash val="solid"/>
          </a:ln>
        </p:spPr>
      </p:sp>
      <p:sp>
        <p:nvSpPr>
          <p:cNvPr id="19" name="Text 17"/>
          <p:cNvSpPr txBox="1"/>
          <p:nvPr/>
        </p:nvSpPr>
        <p:spPr>
          <a:xfrm>
            <a:off x="7254050"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Shape 18"/>
          <p:cNvSpPr/>
          <p:nvPr/>
        </p:nvSpPr>
        <p:spPr>
          <a:xfrm>
            <a:off x="6223864" y="2286000"/>
            <a:ext cx="2535860" cy="3218688"/>
          </a:xfrm>
          <a:prstGeom prst="roundRect">
            <a:avLst>
              <a:gd name="adj" fmla="val 2885"/>
            </a:avLst>
          </a:prstGeom>
          <a:solidFill>
            <a:srgbClr val="F2E3D0"/>
          </a:solidFill>
          <a:ln w="9525">
            <a:solidFill>
              <a:srgbClr val="F2E3D0"/>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6425032" y="2487168"/>
            <a:ext cx="2133524" cy="384048"/>
          </a:xfrm>
          <a:prstGeom prst="rect">
            <a:avLst/>
          </a:prstGeom>
          <a:noFill/>
          <a:ln/>
        </p:spPr>
        <p:txBody>
          <a:bodyPr wrap="square" lIns="0" tIns="0" rIns="0" bIns="0" rtlCol="0" anchor="t"/>
          <a:lstStyle/>
          <a:p>
            <a:pPr algn="l" indent="0" marL="0">
              <a:lnSpc>
                <a:spcPct val="100000"/>
              </a:lnSpc>
              <a:buNone/>
            </a:pPr>
            <a:r>
              <a:rPr lang="en-US" sz="1200" b="1" dirty="0">
                <a:solidFill>
                  <a:srgbClr val="1B3A2F"/>
                </a:solidFill>
                <a:latin typeface="Cambria" pitchFamily="34" charset="0"/>
                <a:ea typeface="Cambria" pitchFamily="34" charset="-122"/>
                <a:cs typeface="Cambria" pitchFamily="34" charset="-120"/>
              </a:rPr>
              <a:t>Harmonisierte Kennzeichnung</a:t>
            </a:r>
            <a:endParaRPr lang="en-US" sz="1200" dirty="0"/>
          </a:p>
        </p:txBody>
      </p:sp>
      <p:sp>
        <p:nvSpPr>
          <p:cNvPr id="22" name="Text 20"/>
          <p:cNvSpPr txBox="1"/>
          <p:nvPr/>
        </p:nvSpPr>
        <p:spPr>
          <a:xfrm>
            <a:off x="6425032"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ab 12.08.2028</a:t>
            </a:r>
            <a:endParaRPr lang="en-US" sz="1150" dirty="0"/>
          </a:p>
        </p:txBody>
      </p:sp>
      <p:sp>
        <p:nvSpPr>
          <p:cNvPr id="23" name="Text 21"/>
          <p:cNvSpPr txBox="1"/>
          <p:nvPr/>
        </p:nvSpPr>
        <p:spPr>
          <a:xfrm>
            <a:off x="6425032"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Piktogramme zu Material, Sortierung und Verwertbarkeit. Ein Datenträger — QR oder gleichwertig offen — wird Teil des Labels.</a:t>
            </a:r>
            <a:endParaRPr lang="en-US" sz="1150" dirty="0"/>
          </a:p>
        </p:txBody>
      </p:sp>
      <p:sp>
        <p:nvSpPr>
          <p:cNvPr id="24" name="Shape 22"/>
          <p:cNvSpPr/>
          <p:nvPr/>
        </p:nvSpPr>
        <p:spPr>
          <a:xfrm>
            <a:off x="10045941" y="1664208"/>
            <a:ext cx="475488" cy="475488"/>
          </a:xfrm>
          <a:prstGeom prst="ellipse">
            <a:avLst/>
          </a:prstGeom>
          <a:solidFill>
            <a:srgbClr val="1B3A2F"/>
          </a:solidFill>
          <a:ln w="12700">
            <a:solidFill>
              <a:srgbClr val="1B3A2F"/>
            </a:solidFill>
            <a:prstDash val="solid"/>
          </a:ln>
        </p:spPr>
      </p:sp>
      <p:sp>
        <p:nvSpPr>
          <p:cNvPr id="25" name="Text 23"/>
          <p:cNvSpPr txBox="1"/>
          <p:nvPr/>
        </p:nvSpPr>
        <p:spPr>
          <a:xfrm>
            <a:off x="10045941"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4"/>
          <p:cNvSpPr/>
          <p:nvPr/>
        </p:nvSpPr>
        <p:spPr>
          <a:xfrm>
            <a:off x="9015755" y="2286000"/>
            <a:ext cx="2535860" cy="3218688"/>
          </a:xfrm>
          <a:prstGeom prst="roundRect">
            <a:avLst>
              <a:gd name="adj" fmla="val 2885"/>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Text 25"/>
          <p:cNvSpPr txBox="1"/>
          <p:nvPr/>
        </p:nvSpPr>
        <p:spPr>
          <a:xfrm>
            <a:off x="9216923" y="2487168"/>
            <a:ext cx="2133524" cy="384048"/>
          </a:xfrm>
          <a:prstGeom prst="rect">
            <a:avLst/>
          </a:prstGeom>
          <a:noFill/>
          <a:ln/>
        </p:spPr>
        <p:txBody>
          <a:bodyPr wrap="square" lIns="0" tIns="0" rIns="0" bIns="0" rtlCol="0" anchor="t"/>
          <a:lstStyle/>
          <a:p>
            <a:pPr algn="l" indent="0" marL="0">
              <a:lnSpc>
                <a:spcPct val="100000"/>
              </a:lnSpc>
              <a:buNone/>
            </a:pPr>
            <a:r>
              <a:rPr lang="en-US" sz="1300" b="1" dirty="0">
                <a:solidFill>
                  <a:srgbClr val="1B3A2F"/>
                </a:solidFill>
                <a:latin typeface="Cambria" pitchFamily="34" charset="0"/>
                <a:ea typeface="Cambria" pitchFamily="34" charset="-122"/>
                <a:cs typeface="Cambria" pitchFamily="34" charset="-120"/>
              </a:rPr>
              <a:t>Was das für uns heißt</a:t>
            </a:r>
            <a:endParaRPr lang="en-US" sz="1300" dirty="0"/>
          </a:p>
        </p:txBody>
      </p:sp>
      <p:sp>
        <p:nvSpPr>
          <p:cNvPr id="28" name="Text 26"/>
          <p:cNvSpPr txBox="1"/>
          <p:nvPr/>
        </p:nvSpPr>
        <p:spPr>
          <a:xfrm>
            <a:off x="9216923" y="2889504"/>
            <a:ext cx="213352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Planungsfolge</a:t>
            </a:r>
            <a:endParaRPr lang="en-US" sz="1150" dirty="0"/>
          </a:p>
        </p:txBody>
      </p:sp>
      <p:sp>
        <p:nvSpPr>
          <p:cNvPr id="29" name="Text 27"/>
          <p:cNvSpPr txBox="1"/>
          <p:nvPr/>
        </p:nvSpPr>
        <p:spPr>
          <a:xfrm>
            <a:off x="9216923" y="3182112"/>
            <a:ext cx="213352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Wenn 2028 ohnehin ein Datenträger auf die Packung muss: ein QR-Code, eine Datenbasis für Pflichtangaben und freiwillige Herkunftsinfos.</a:t>
            </a:r>
            <a:endParaRPr lang="en-US" sz="1150" dirty="0"/>
          </a:p>
        </p:txBody>
      </p:sp>
      <p:sp>
        <p:nvSpPr>
          <p:cNvPr id="30" name="Shape 28"/>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1" name="Text 29"/>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Aber Vorsicht: Die PPWR verlangt Recycling-Angaben, keinen einzigen Herkunftsdatensatz. Sie ersetzt den DPP nicht, sie ist etwas anderes.</a:t>
            </a:r>
            <a:endParaRPr lang="en-US" sz="1300" dirty="0"/>
          </a:p>
        </p:txBody>
      </p:sp>
      <p:sp>
        <p:nvSpPr>
          <p:cNvPr id="32" name="Text 30"/>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 (EU) 2025/40, Art. 12 · DIHK-Merkblatt PPWR [recherchiert]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ZERTIFIZIERUNG</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Ersetzt Fairtrade die EUDR? Nein — und das ist ein harter Bruch</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6" name="Shape 4"/>
          <p:cNvSpPr/>
          <p:nvPr/>
        </p:nvSpPr>
        <p:spPr>
          <a:xfrm>
            <a:off x="640080" y="1664208"/>
            <a:ext cx="5327752" cy="3840480"/>
          </a:xfrm>
          <a:prstGeom prst="roundRect">
            <a:avLst>
              <a:gd name="adj" fmla="val 1905"/>
            </a:avLst>
          </a:prstGeom>
          <a:solidFill>
            <a:srgbClr val="FFFFFF"/>
          </a:solidFill>
          <a:ln w="9525">
            <a:solidFill>
              <a:srgbClr val="DDE3DE"/>
            </a:solidFill>
            <a:prstDash val="solid"/>
          </a:ln>
        </p:spPr>
      </p:sp>
      <p:sp>
        <p:nvSpPr>
          <p:cNvPr id="7" name="Shape 5"/>
          <p:cNvSpPr/>
          <p:nvPr/>
        </p:nvSpPr>
        <p:spPr>
          <a:xfrm>
            <a:off x="640080" y="1664208"/>
            <a:ext cx="5327752" cy="804672"/>
          </a:xfrm>
          <a:prstGeom prst="roundRect">
            <a:avLst>
              <a:gd name="adj" fmla="val 9091"/>
            </a:avLst>
          </a:prstGeom>
          <a:solidFill>
            <a:srgbClr val="DDE3DE"/>
          </a:solidFill>
          <a:ln w="12700">
            <a:solidFill>
              <a:srgbClr val="DDE3DE"/>
            </a:solidFill>
            <a:prstDash val="solid"/>
          </a:ln>
        </p:spPr>
      </p:sp>
      <p:sp>
        <p:nvSpPr>
          <p:cNvPr id="8" name="Text 6"/>
          <p:cNvSpPr txBox="1"/>
          <p:nvPr/>
        </p:nvSpPr>
        <p:spPr>
          <a:xfrm>
            <a:off x="841248"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Zertifizierungs-Massenbilanz</a:t>
            </a:r>
            <a:endParaRPr lang="en-US" sz="1500" dirty="0"/>
          </a:p>
        </p:txBody>
      </p:sp>
      <p:sp>
        <p:nvSpPr>
          <p:cNvPr id="9" name="Text 7"/>
          <p:cNvSpPr txBox="1"/>
          <p:nvPr/>
        </p:nvSpPr>
        <p:spPr>
          <a:xfrm>
            <a:off x="841248"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Fairtrade, Rainforest Alliance, Bio</a:t>
            </a:r>
            <a:endParaRPr lang="en-US" sz="1100" dirty="0"/>
          </a:p>
        </p:txBody>
      </p:sp>
      <p:sp>
        <p:nvSpPr>
          <p:cNvPr id="10" name="Text 8"/>
          <p:cNvSpPr txBox="1"/>
          <p:nvPr/>
        </p:nvSpPr>
        <p:spPr>
          <a:xfrm>
            <a:off x="841248" y="2615184"/>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Zertifizierte und nicht-zertifizierte Ware darf physisch gemischt werden</a:t>
            </a:r>
            <a:endParaRPr lang="en-US" sz="1200" dirty="0"/>
          </a:p>
        </p:txBody>
      </p:sp>
      <p:sp>
        <p:nvSpPr>
          <p:cNvPr id="11" name="Text 9"/>
          <p:cNvSpPr txBox="1"/>
          <p:nvPr/>
        </p:nvSpPr>
        <p:spPr>
          <a:xfrm>
            <a:off x="841248" y="3305556"/>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Entscheidend ist, dass die Mengenbuchhaltung stimmt</a:t>
            </a:r>
            <a:endParaRPr lang="en-US" sz="1200" dirty="0"/>
          </a:p>
        </p:txBody>
      </p:sp>
      <p:sp>
        <p:nvSpPr>
          <p:cNvPr id="12" name="Text 10"/>
          <p:cNvSpPr txBox="1"/>
          <p:nvPr/>
        </p:nvSpPr>
        <p:spPr>
          <a:xfrm>
            <a:off x="841248" y="3995928"/>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Eine Gutschrift beweist nichts über den Inhalt des konkreten Sacks</a:t>
            </a:r>
            <a:endParaRPr lang="en-US" sz="1200" dirty="0"/>
          </a:p>
        </p:txBody>
      </p:sp>
      <p:sp>
        <p:nvSpPr>
          <p:cNvPr id="13" name="Text 11"/>
          <p:cNvSpPr txBox="1"/>
          <p:nvPr/>
        </p:nvSpPr>
        <p:spPr>
          <a:xfrm>
            <a:off x="841248" y="4686300"/>
            <a:ext cx="4925416" cy="635508"/>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Für EUDR-Zwecke wertlos</a:t>
            </a:r>
            <a:endParaRPr lang="en-US" sz="1250" dirty="0"/>
          </a:p>
        </p:txBody>
      </p:sp>
      <p:sp>
        <p:nvSpPr>
          <p:cNvPr id="14" name="Shape 12"/>
          <p:cNvSpPr/>
          <p:nvPr/>
        </p:nvSpPr>
        <p:spPr>
          <a:xfrm>
            <a:off x="6223864" y="1664208"/>
            <a:ext cx="5327752" cy="3840480"/>
          </a:xfrm>
          <a:prstGeom prst="roundRect">
            <a:avLst>
              <a:gd name="adj" fmla="val 1905"/>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15" name="Shape 13"/>
          <p:cNvSpPr/>
          <p:nvPr/>
        </p:nvSpPr>
        <p:spPr>
          <a:xfrm>
            <a:off x="6223864" y="1664208"/>
            <a:ext cx="5327752" cy="804672"/>
          </a:xfrm>
          <a:prstGeom prst="roundRect">
            <a:avLst>
              <a:gd name="adj" fmla="val 9091"/>
            </a:avLst>
          </a:prstGeom>
          <a:solidFill>
            <a:srgbClr val="1B3A2F"/>
          </a:solidFill>
          <a:ln w="12700">
            <a:solidFill>
              <a:srgbClr val="1B3A2F"/>
            </a:solidFill>
            <a:prstDash val="solid"/>
          </a:ln>
        </p:spPr>
      </p:sp>
      <p:sp>
        <p:nvSpPr>
          <p:cNvPr id="16" name="Text 14"/>
          <p:cNvSpPr txBox="1"/>
          <p:nvPr/>
        </p:nvSpPr>
        <p:spPr>
          <a:xfrm>
            <a:off x="6425032"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EUDR-Anforderung</a:t>
            </a:r>
            <a:endParaRPr lang="en-US" sz="1500" dirty="0"/>
          </a:p>
        </p:txBody>
      </p:sp>
      <p:sp>
        <p:nvSpPr>
          <p:cNvPr id="17" name="Text 15"/>
          <p:cNvSpPr txBox="1"/>
          <p:nvPr/>
        </p:nvSpPr>
        <p:spPr>
          <a:xfrm>
            <a:off x="6425032"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Verordnung (EU) 2023/1115</a:t>
            </a:r>
            <a:endParaRPr lang="en-US" sz="1100" dirty="0"/>
          </a:p>
        </p:txBody>
      </p:sp>
      <p:sp>
        <p:nvSpPr>
          <p:cNvPr id="18" name="Text 16"/>
          <p:cNvSpPr txBox="1"/>
          <p:nvPr/>
        </p:nvSpPr>
        <p:spPr>
          <a:xfrm>
            <a:off x="6425032" y="2615184"/>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Geolokation der Parzellen, aus denen die tatsächlich gelieferte Charge stammt</a:t>
            </a:r>
            <a:endParaRPr lang="en-US" sz="1200" dirty="0"/>
          </a:p>
        </p:txBody>
      </p:sp>
      <p:sp>
        <p:nvSpPr>
          <p:cNvPr id="19" name="Text 17"/>
          <p:cNvSpPr txBox="1"/>
          <p:nvPr/>
        </p:nvSpPr>
        <p:spPr>
          <a:xfrm>
            <a:off x="6425032" y="3305556"/>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Vermischungslogik, keine Gutschriften</a:t>
            </a:r>
            <a:endParaRPr lang="en-US" sz="1200" dirty="0"/>
          </a:p>
        </p:txBody>
      </p:sp>
      <p:sp>
        <p:nvSpPr>
          <p:cNvPr id="20" name="Text 18"/>
          <p:cNvSpPr txBox="1"/>
          <p:nvPr/>
        </p:nvSpPr>
        <p:spPr>
          <a:xfrm>
            <a:off x="6425032" y="3995928"/>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Physische Zuordnung oder dokumentierter Genauigkeitsverlust</a:t>
            </a:r>
            <a:endParaRPr lang="en-US" sz="1200" dirty="0"/>
          </a:p>
        </p:txBody>
      </p:sp>
      <p:sp>
        <p:nvSpPr>
          <p:cNvPr id="21" name="Text 19"/>
          <p:cNvSpPr txBox="1"/>
          <p:nvPr/>
        </p:nvSpPr>
        <p:spPr>
          <a:xfrm>
            <a:off x="6425032" y="4686300"/>
            <a:ext cx="4925416" cy="635508"/>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Kein Zertifikat ersetzt die Sorgfaltserklärung</a:t>
            </a:r>
            <a:endParaRPr lang="en-US" sz="1250" dirty="0"/>
          </a:p>
        </p:txBody>
      </p:sp>
      <p:sp>
        <p:nvSpPr>
          <p:cNvPr id="22" name="Shape 20"/>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3" name="Text 21"/>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Aber: Zertifizierte Ketten sind besser dokumentiert. Fairtrade stellt seit Juni 2026 mit Fairtrace ein kostenloses Geolokationstool für Kooperativen bereit — das ist Ihre günstigste Datenquelle.</a:t>
            </a:r>
            <a:endParaRPr lang="en-US" sz="1300" dirty="0"/>
          </a:p>
        </p:txBody>
      </p:sp>
      <p:sp>
        <p:nvSpPr>
          <p:cNvPr id="24" name="Text 2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Zertifizierungslogik [recherchiert] · Fairtrace: Daily Coffee News, 16.06.2026 [recherchiert]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C</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Lieferkette und Datenmodell</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Wer liefert welche Daten, wo reißt die Kette —</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und was davon darf unveränderlich gespeichert werden?</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3  ·  ca. 10 Minuten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DIE KETTE, EHRLICH GEZEICHNET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Vom Kleinbauern zur Rösterei — und wo es reißt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40080" y="1801368"/>
            <a:ext cx="1801917" cy="2323338"/>
          </a:xfrm>
          <a:prstGeom prst="roundRect">
            <a:avLst>
              <a:gd name="adj" fmla="val 406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68096" y="2538794"/>
            <a:ext cx="1545885"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Kleinbauer</a:t>
            </a:r>
            <a:endParaRPr lang="en-US" sz="1350" dirty="0"/>
          </a:p>
        </p:txBody>
      </p:sp>
      <p:sp>
        <p:nvSpPr>
          <p:cNvPr id="8" name="Text 6"/>
          <p:cNvSpPr txBox="1"/>
          <p:nvPr/>
        </p:nvSpPr>
        <p:spPr>
          <a:xfrm>
            <a:off x="768096" y="2875979"/>
            <a:ext cx="1545885" cy="1120712"/>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Parzelle, Ernte.</a:t>
            </a:r>
            <a:endParaRPr lang="en-US" sz="1100" dirty="0"/>
          </a:p>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Vertrauensanker: schwach</a:t>
            </a:r>
            <a:endParaRPr lang="en-US" sz="1100" dirty="0"/>
          </a:p>
        </p:txBody>
      </p:sp>
      <p:sp>
        <p:nvSpPr>
          <p:cNvPr id="9" name="Text 7"/>
          <p:cNvSpPr txBox="1"/>
          <p:nvPr/>
        </p:nvSpPr>
        <p:spPr>
          <a:xfrm>
            <a:off x="2496861" y="2743581"/>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917485" y="1801368"/>
            <a:ext cx="1801917" cy="2323338"/>
          </a:xfrm>
          <a:prstGeom prst="roundRect">
            <a:avLst>
              <a:gd name="adj" fmla="val 406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3045501" y="2453577"/>
            <a:ext cx="1545885" cy="282321"/>
          </a:xfrm>
          <a:prstGeom prst="rect">
            <a:avLst/>
          </a:prstGeom>
          <a:noFill/>
          <a:ln/>
        </p:spPr>
        <p:txBody>
          <a:bodyPr wrap="square" lIns="0" tIns="0" rIns="0" bIns="0" rtlCol="0" anchor="t"/>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Kooperative</a:t>
            </a:r>
            <a:endParaRPr lang="en-US" sz="1350" dirty="0"/>
          </a:p>
        </p:txBody>
      </p:sp>
      <p:sp>
        <p:nvSpPr>
          <p:cNvPr id="12" name="Text 10"/>
          <p:cNvSpPr txBox="1"/>
          <p:nvPr/>
        </p:nvSpPr>
        <p:spPr>
          <a:xfrm>
            <a:off x="3045501" y="2790762"/>
            <a:ext cx="1545885" cy="1205929"/>
          </a:xfrm>
          <a:prstGeom prst="rect">
            <a:avLst/>
          </a:prstGeom>
          <a:noFill/>
          <a:ln/>
        </p:spPr>
        <p:txBody>
          <a:bodyPr wrap="square" lIns="0" tIns="0" rIns="0" bIns="0" rtlCol="0" anchor="t"/>
          <a:lstStyle/>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Erntecharge, Polygonerfassung.</a:t>
            </a:r>
            <a:endParaRPr lang="en-US" sz="1100" dirty="0"/>
          </a:p>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Anker: mittel, Institution</a:t>
            </a:r>
            <a:endParaRPr lang="en-US" sz="1100" dirty="0"/>
          </a:p>
        </p:txBody>
      </p:sp>
      <p:sp>
        <p:nvSpPr>
          <p:cNvPr id="13" name="Text 11"/>
          <p:cNvSpPr txBox="1"/>
          <p:nvPr/>
        </p:nvSpPr>
        <p:spPr>
          <a:xfrm>
            <a:off x="4774265" y="2743581"/>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5194889" y="1801368"/>
            <a:ext cx="1801917" cy="2323338"/>
          </a:xfrm>
          <a:prstGeom prst="roundRect">
            <a:avLst>
              <a:gd name="adj" fmla="val 406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5322905" y="2434209"/>
            <a:ext cx="1545885" cy="491490"/>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Trockenmühle &amp; Exporteur</a:t>
            </a:r>
            <a:endParaRPr lang="en-US" sz="1350" dirty="0"/>
          </a:p>
        </p:txBody>
      </p:sp>
      <p:sp>
        <p:nvSpPr>
          <p:cNvPr id="16" name="Text 14"/>
          <p:cNvSpPr txBox="1"/>
          <p:nvPr/>
        </p:nvSpPr>
        <p:spPr>
          <a:xfrm>
            <a:off x="5322905" y="2980563"/>
            <a:ext cx="1545885" cy="1016127"/>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Exportlot, Dokumente.</a:t>
            </a:r>
            <a:endParaRPr lang="en-US" sz="1100" dirty="0"/>
          </a:p>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Anker: mittel</a:t>
            </a:r>
            <a:endParaRPr lang="en-US" sz="1100" dirty="0"/>
          </a:p>
        </p:txBody>
      </p:sp>
      <p:sp>
        <p:nvSpPr>
          <p:cNvPr id="17" name="Text 15"/>
          <p:cNvSpPr txBox="1"/>
          <p:nvPr/>
        </p:nvSpPr>
        <p:spPr>
          <a:xfrm>
            <a:off x="7051670" y="2743581"/>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7472294" y="1801368"/>
            <a:ext cx="1801917" cy="2323338"/>
          </a:xfrm>
          <a:prstGeom prst="roundRect">
            <a:avLst>
              <a:gd name="adj" fmla="val 406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7600310" y="2538794"/>
            <a:ext cx="1545885"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Importeur</a:t>
            </a:r>
            <a:endParaRPr lang="en-US" sz="1350" dirty="0"/>
          </a:p>
        </p:txBody>
      </p:sp>
      <p:sp>
        <p:nvSpPr>
          <p:cNvPr id="20" name="Text 18"/>
          <p:cNvSpPr txBox="1"/>
          <p:nvPr/>
        </p:nvSpPr>
        <p:spPr>
          <a:xfrm>
            <a:off x="7600310" y="2875979"/>
            <a:ext cx="1545885" cy="1120712"/>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Nur bei Zukauf.</a:t>
            </a:r>
            <a:endParaRPr lang="en-US" sz="1100" dirty="0"/>
          </a:p>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Liefert die Referenznummer</a:t>
            </a:r>
            <a:endParaRPr lang="en-US" sz="1100" dirty="0"/>
          </a:p>
        </p:txBody>
      </p:sp>
      <p:sp>
        <p:nvSpPr>
          <p:cNvPr id="21" name="Text 19"/>
          <p:cNvSpPr txBox="1"/>
          <p:nvPr/>
        </p:nvSpPr>
        <p:spPr>
          <a:xfrm>
            <a:off x="9329075" y="2743581"/>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749699" y="1801368"/>
            <a:ext cx="1801917" cy="2323338"/>
          </a:xfrm>
          <a:prstGeom prst="roundRect">
            <a:avLst>
              <a:gd name="adj" fmla="val 406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23" name="Text 21"/>
          <p:cNvSpPr txBox="1"/>
          <p:nvPr/>
        </p:nvSpPr>
        <p:spPr>
          <a:xfrm>
            <a:off x="9877715" y="2453577"/>
            <a:ext cx="1545885" cy="282321"/>
          </a:xfrm>
          <a:prstGeom prst="rect">
            <a:avLst/>
          </a:prstGeom>
          <a:noFill/>
          <a:ln/>
        </p:spPr>
        <p:txBody>
          <a:bodyPr wrap="square" lIns="0" tIns="0" rIns="0" bIns="0" rtlCol="0" anchor="t"/>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Rösterei</a:t>
            </a:r>
            <a:endParaRPr lang="en-US" sz="1350" dirty="0"/>
          </a:p>
        </p:txBody>
      </p:sp>
      <p:sp>
        <p:nvSpPr>
          <p:cNvPr id="24" name="Text 22"/>
          <p:cNvSpPr txBox="1"/>
          <p:nvPr/>
        </p:nvSpPr>
        <p:spPr>
          <a:xfrm>
            <a:off x="9877715" y="2790762"/>
            <a:ext cx="1545885" cy="1205929"/>
          </a:xfrm>
          <a:prstGeom prst="rect">
            <a:avLst/>
          </a:prstGeom>
          <a:noFill/>
          <a:ln/>
        </p:spPr>
        <p:txBody>
          <a:bodyPr wrap="square" lIns="0" tIns="0" rIns="0" bIns="0" rtlCol="0" anchor="t"/>
          <a:lstStyle/>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Röstung, Blend, Abpackung.</a:t>
            </a:r>
            <a:endParaRPr lang="en-US" sz="1100" dirty="0"/>
          </a:p>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Anker: stark, eigene Geräte</a:t>
            </a:r>
            <a:endParaRPr lang="en-US" sz="1100" dirty="0"/>
          </a:p>
        </p:txBody>
      </p:sp>
      <p:sp>
        <p:nvSpPr>
          <p:cNvPr id="25" name="Text 23"/>
          <p:cNvSpPr txBox="1"/>
          <p:nvPr/>
        </p:nvSpPr>
        <p:spPr>
          <a:xfrm>
            <a:off x="640080" y="4325874"/>
            <a:ext cx="10911535" cy="219456"/>
          </a:xfrm>
          <a:prstGeom prst="rect">
            <a:avLst/>
          </a:prstGeom>
          <a:noFill/>
          <a:ln/>
        </p:spPr>
        <p:txBody>
          <a:bodyPr wrap="square" lIns="0" tIns="0" rIns="0" bIns="0" rtlCol="0" anchor="ctr"/>
          <a:lstStyle/>
          <a:p>
            <a:pPr indent="0" marL="0">
              <a:buNone/>
            </a:pPr>
            <a:r>
              <a:rPr lang="en-US" sz="1050" b="1" spc="140" kern="0" dirty="0">
                <a:solidFill>
                  <a:srgbClr val="A6352B"/>
                </a:solidFill>
                <a:latin typeface="Calibri" pitchFamily="34" charset="0"/>
                <a:ea typeface="Calibri" pitchFamily="34" charset="-122"/>
                <a:cs typeface="Calibri" pitchFamily="34" charset="-120"/>
              </a:rPr>
              <a:t>DIE VIER BRUCHSTELLEN — NACH ABSTEIGENDER WAHRSCHEINLICHKEIT</a:t>
            </a:r>
            <a:endParaRPr lang="en-US" sz="1050" dirty="0"/>
          </a:p>
        </p:txBody>
      </p:sp>
      <p:sp>
        <p:nvSpPr>
          <p:cNvPr id="26" name="Shape 24"/>
          <p:cNvSpPr/>
          <p:nvPr/>
        </p:nvSpPr>
        <p:spPr>
          <a:xfrm>
            <a:off x="640080" y="4600194"/>
            <a:ext cx="2577008" cy="730758"/>
          </a:xfrm>
          <a:prstGeom prst="roundRect">
            <a:avLst>
              <a:gd name="adj" fmla="val 7508"/>
            </a:avLst>
          </a:prstGeom>
          <a:solidFill>
            <a:srgbClr val="F6E4E2"/>
          </a:solidFill>
          <a:ln w="12700">
            <a:solidFill>
              <a:srgbClr val="F6E4E2"/>
            </a:solidFill>
            <a:prstDash val="solid"/>
          </a:ln>
        </p:spPr>
      </p:sp>
      <p:sp>
        <p:nvSpPr>
          <p:cNvPr id="27" name="Text 25"/>
          <p:cNvSpPr txBox="1"/>
          <p:nvPr/>
        </p:nvSpPr>
        <p:spPr>
          <a:xfrm>
            <a:off x="768096" y="4691634"/>
            <a:ext cx="2320976" cy="547878"/>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1 · Trockenmühle: mehrere Kooperativen in einem Verarbeitungslauf</a:t>
            </a:r>
            <a:endParaRPr lang="en-US" sz="1100" dirty="0"/>
          </a:p>
        </p:txBody>
      </p:sp>
      <p:sp>
        <p:nvSpPr>
          <p:cNvPr id="28" name="Shape 26"/>
          <p:cNvSpPr/>
          <p:nvPr/>
        </p:nvSpPr>
        <p:spPr>
          <a:xfrm>
            <a:off x="3418256" y="4600194"/>
            <a:ext cx="2577008" cy="730758"/>
          </a:xfrm>
          <a:prstGeom prst="roundRect">
            <a:avLst>
              <a:gd name="adj" fmla="val 7508"/>
            </a:avLst>
          </a:prstGeom>
          <a:solidFill>
            <a:srgbClr val="F6E4E2"/>
          </a:solidFill>
          <a:ln w="12700">
            <a:solidFill>
              <a:srgbClr val="F6E4E2"/>
            </a:solidFill>
            <a:prstDash val="solid"/>
          </a:ln>
        </p:spPr>
      </p:sp>
      <p:sp>
        <p:nvSpPr>
          <p:cNvPr id="29" name="Text 27"/>
          <p:cNvSpPr txBox="1"/>
          <p:nvPr/>
        </p:nvSpPr>
        <p:spPr>
          <a:xfrm>
            <a:off x="3546272" y="4691634"/>
            <a:ext cx="2320976" cy="547878"/>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2 · Sammelstelle: Kleinbauern liefern in gemeinsame Behälter</a:t>
            </a:r>
            <a:endParaRPr lang="en-US" sz="1100" dirty="0"/>
          </a:p>
        </p:txBody>
      </p:sp>
      <p:sp>
        <p:nvSpPr>
          <p:cNvPr id="30" name="Shape 28"/>
          <p:cNvSpPr/>
          <p:nvPr/>
        </p:nvSpPr>
        <p:spPr>
          <a:xfrm>
            <a:off x="6196432" y="4600194"/>
            <a:ext cx="2577008" cy="730758"/>
          </a:xfrm>
          <a:prstGeom prst="roundRect">
            <a:avLst>
              <a:gd name="adj" fmla="val 7508"/>
            </a:avLst>
          </a:prstGeom>
          <a:solidFill>
            <a:srgbClr val="F6E4E2"/>
          </a:solidFill>
          <a:ln w="12700">
            <a:solidFill>
              <a:srgbClr val="F6E4E2"/>
            </a:solidFill>
            <a:prstDash val="solid"/>
          </a:ln>
        </p:spPr>
      </p:sp>
      <p:sp>
        <p:nvSpPr>
          <p:cNvPr id="31" name="Text 29"/>
          <p:cNvSpPr txBox="1"/>
          <p:nvPr/>
        </p:nvSpPr>
        <p:spPr>
          <a:xfrm>
            <a:off x="6324448" y="4691634"/>
            <a:ext cx="2320976" cy="547878"/>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3 · Unser Blend: n Herkünfte in einer Verkaufseinheit</a:t>
            </a:r>
            <a:endParaRPr lang="en-US" sz="1100" dirty="0"/>
          </a:p>
        </p:txBody>
      </p:sp>
      <p:sp>
        <p:nvSpPr>
          <p:cNvPr id="32" name="Shape 30"/>
          <p:cNvSpPr/>
          <p:nvPr/>
        </p:nvSpPr>
        <p:spPr>
          <a:xfrm>
            <a:off x="8974607" y="4600194"/>
            <a:ext cx="2577008" cy="730758"/>
          </a:xfrm>
          <a:prstGeom prst="roundRect">
            <a:avLst>
              <a:gd name="adj" fmla="val 7508"/>
            </a:avLst>
          </a:prstGeom>
          <a:solidFill>
            <a:srgbClr val="F6E4E2"/>
          </a:solidFill>
          <a:ln w="12700">
            <a:solidFill>
              <a:srgbClr val="F6E4E2"/>
            </a:solidFill>
            <a:prstDash val="solid"/>
          </a:ln>
        </p:spPr>
      </p:sp>
      <p:sp>
        <p:nvSpPr>
          <p:cNvPr id="33" name="Text 31"/>
          <p:cNvSpPr txBox="1"/>
          <p:nvPr/>
        </p:nvSpPr>
        <p:spPr>
          <a:xfrm>
            <a:off x="9102623" y="4691634"/>
            <a:ext cx="2320976" cy="547878"/>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4 · Unser Silo: Restbestände mehrerer Partien ohne FIFO-Disziplin</a:t>
            </a:r>
            <a:endParaRPr lang="en-US" sz="1100" dirty="0"/>
          </a:p>
        </p:txBody>
      </p:sp>
      <p:sp>
        <p:nvSpPr>
          <p:cNvPr id="34" name="Shape 32"/>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5" name="Text 33"/>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Der zentrale Satz: Keine dieser vier Bruchstellen wird durch einen Ledger repariert. Eine Blockchain macht sie nur unveränderlich dokumentiert.</a:t>
            </a:r>
            <a:endParaRPr lang="en-US" sz="1300" dirty="0"/>
          </a:p>
        </p:txBody>
      </p:sp>
      <p:sp>
        <p:nvSpPr>
          <p:cNvPr id="36" name="Text 34"/>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Kettenstruktur und Bruchstellen [angenommen, branchenüblich]</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ANREIZE UND WIDERSTÄNDE</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Warum Akteure mitmachen — oder eben nicht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40080" y="1664208"/>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1B3A2F"/>
          </a:solidFill>
          <a:ln w="12700">
            <a:solidFill>
              <a:srgbClr val="1B3A2F"/>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Kleinbauer</a:t>
            </a:r>
            <a:endParaRPr lang="en-US" sz="1500" dirty="0"/>
          </a:p>
        </p:txBody>
      </p:sp>
      <p:sp>
        <p:nvSpPr>
          <p:cNvPr id="10" name="Text 8"/>
          <p:cNvSpPr txBox="1"/>
          <p:nvPr/>
        </p:nvSpPr>
        <p:spPr>
          <a:xfrm>
            <a:off x="877824" y="2542032"/>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Marktzugang — ohne Daten kein Verkauf nach Europa. Das ist ein Zwang, kein Angebot.</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Widerstand: kein Smartphone, teils keine formalen Landtitel, berechtigte Sorge vor Weitergabe an Steuer- und Behörden.</a:t>
            </a:r>
            <a:endParaRPr lang="en-US" sz="900" dirty="0"/>
          </a:p>
        </p:txBody>
      </p:sp>
      <p:sp>
        <p:nvSpPr>
          <p:cNvPr id="11" name="Shape 9"/>
          <p:cNvSpPr/>
          <p:nvPr/>
        </p:nvSpPr>
        <p:spPr>
          <a:xfrm>
            <a:off x="4356506" y="1664208"/>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97BC62"/>
          </a:solidFill>
          <a:ln w="12700">
            <a:solidFill>
              <a:srgbClr val="97BC62"/>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Kooperative</a:t>
            </a:r>
            <a:endParaRPr lang="en-US" sz="1500" dirty="0"/>
          </a:p>
        </p:txBody>
      </p:sp>
      <p:sp>
        <p:nvSpPr>
          <p:cNvPr id="15" name="Text 13"/>
          <p:cNvSpPr txBox="1"/>
          <p:nvPr/>
        </p:nvSpPr>
        <p:spPr>
          <a:xfrm>
            <a:off x="4594250" y="2542032"/>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existenziell — die EUDR-Fähigkeit entscheidet über die Absatzfähigkeit der gesamten Mitgliederernte.</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Widerstand: Kosten der Kartierung, und fünf Käufer, die fünf verschiedene Formate verlangen.</a:t>
            </a:r>
            <a:endParaRPr lang="en-US" sz="900" dirty="0"/>
          </a:p>
        </p:txBody>
      </p:sp>
      <p:sp>
        <p:nvSpPr>
          <p:cNvPr id="16" name="Shape 14"/>
          <p:cNvSpPr/>
          <p:nvPr/>
        </p:nvSpPr>
        <p:spPr>
          <a:xfrm>
            <a:off x="8072933" y="1664208"/>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Exporteur</a:t>
            </a:r>
            <a:endParaRPr lang="en-US" sz="1500" dirty="0"/>
          </a:p>
        </p:txBody>
      </p:sp>
      <p:sp>
        <p:nvSpPr>
          <p:cNvPr id="20" name="Text 18"/>
          <p:cNvSpPr txBox="1"/>
          <p:nvPr/>
        </p:nvSpPr>
        <p:spPr>
          <a:xfrm>
            <a:off x="8310677" y="2542032"/>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hoch, er verliert sonst den EU-Absatz.</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Widerstand: Rückverfolgbarkeit bis zur Parzelle heißt getrennte Verarbeitungsläufe — und damit echte Zusatzkosten in der Trockenmühle.</a:t>
            </a:r>
            <a:endParaRPr lang="en-US" sz="900" dirty="0"/>
          </a:p>
        </p:txBody>
      </p:sp>
      <p:sp>
        <p:nvSpPr>
          <p:cNvPr id="21" name="Shape 19"/>
          <p:cNvSpPr/>
          <p:nvPr/>
        </p:nvSpPr>
        <p:spPr>
          <a:xfrm>
            <a:off x="640080" y="4069080"/>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4233672"/>
            <a:ext cx="347472" cy="347472"/>
          </a:xfrm>
          <a:prstGeom prst="ellipse">
            <a:avLst/>
          </a:prstGeom>
          <a:solidFill>
            <a:srgbClr val="1B3A2F"/>
          </a:solidFill>
          <a:ln w="12700">
            <a:solidFill>
              <a:srgbClr val="1B3A2F"/>
            </a:solidFill>
            <a:prstDash val="solid"/>
          </a:ln>
        </p:spPr>
      </p:sp>
      <p:sp>
        <p:nvSpPr>
          <p:cNvPr id="23" name="Text 21"/>
          <p:cNvSpPr txBox="1"/>
          <p:nvPr/>
        </p:nvSpPr>
        <p:spPr>
          <a:xfrm>
            <a:off x="877824" y="42336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636008"/>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Importeur</a:t>
            </a:r>
            <a:endParaRPr lang="en-US" sz="1500" dirty="0"/>
          </a:p>
        </p:txBody>
      </p:sp>
      <p:sp>
        <p:nvSpPr>
          <p:cNvPr id="25" name="Text 23"/>
          <p:cNvSpPr txBox="1"/>
          <p:nvPr/>
        </p:nvSpPr>
        <p:spPr>
          <a:xfrm>
            <a:off x="877824" y="4946904"/>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er ist selbst Primärbetreiber und trägt das Risiko.</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Widerstand: Er schützt seine Bezugsquellen. Er gibt uns die Referenznummer — die Parzellendaten dahinter nicht. Das ist legitim und ausreichend.</a:t>
            </a:r>
            <a:endParaRPr lang="en-US" sz="900" dirty="0"/>
          </a:p>
        </p:txBody>
      </p:sp>
      <p:sp>
        <p:nvSpPr>
          <p:cNvPr id="26" name="Shape 24"/>
          <p:cNvSpPr/>
          <p:nvPr/>
        </p:nvSpPr>
        <p:spPr>
          <a:xfrm>
            <a:off x="4356506" y="4069080"/>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4233672"/>
            <a:ext cx="347472" cy="347472"/>
          </a:xfrm>
          <a:prstGeom prst="ellipse">
            <a:avLst/>
          </a:prstGeom>
          <a:solidFill>
            <a:srgbClr val="A6352B"/>
          </a:solidFill>
          <a:ln w="12700">
            <a:solidFill>
              <a:srgbClr val="A6352B"/>
            </a:solidFill>
            <a:prstDash val="solid"/>
          </a:ln>
        </p:spPr>
      </p:sp>
      <p:sp>
        <p:nvSpPr>
          <p:cNvPr id="28" name="Text 26"/>
          <p:cNvSpPr txBox="1"/>
          <p:nvPr/>
        </p:nvSpPr>
        <p:spPr>
          <a:xfrm>
            <a:off x="4594250" y="42336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636008"/>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Unsere Röstmannschaft</a:t>
            </a:r>
            <a:endParaRPr lang="en-US" sz="1500" dirty="0"/>
          </a:p>
        </p:txBody>
      </p:sp>
      <p:sp>
        <p:nvSpPr>
          <p:cNvPr id="30" name="Text 28"/>
          <p:cNvSpPr txBox="1"/>
          <p:nvPr/>
        </p:nvSpPr>
        <p:spPr>
          <a:xfrm>
            <a:off x="4594250" y="4946904"/>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gering. Für sie ist es Zusatzarbeit.</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Widerstand: Jede zusätzliche Minute je Charge wird umgangen, sobald der Betrieb hektisch wird. Das ist das häufigste Scheiterkriterium — nicht die Technik.</a:t>
            </a:r>
            <a:endParaRPr lang="en-US" sz="900" dirty="0"/>
          </a:p>
        </p:txBody>
      </p:sp>
      <p:sp>
        <p:nvSpPr>
          <p:cNvPr id="31" name="Shape 29"/>
          <p:cNvSpPr/>
          <p:nvPr/>
        </p:nvSpPr>
        <p:spPr>
          <a:xfrm>
            <a:off x="8072933" y="4069080"/>
            <a:ext cx="3478682" cy="2185416"/>
          </a:xfrm>
          <a:prstGeom prst="roundRect">
            <a:avLst>
              <a:gd name="adj" fmla="val 3347"/>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4233672"/>
            <a:ext cx="347472" cy="347472"/>
          </a:xfrm>
          <a:prstGeom prst="ellipse">
            <a:avLst/>
          </a:prstGeom>
          <a:solidFill>
            <a:srgbClr val="1B3A2F"/>
          </a:solidFill>
          <a:ln w="12700">
            <a:solidFill>
              <a:srgbClr val="1B3A2F"/>
            </a:solidFill>
            <a:prstDash val="solid"/>
          </a:ln>
        </p:spPr>
      </p:sp>
      <p:sp>
        <p:nvSpPr>
          <p:cNvPr id="33" name="Text 31"/>
          <p:cNvSpPr txBox="1"/>
          <p:nvPr/>
        </p:nvSpPr>
        <p:spPr>
          <a:xfrm>
            <a:off x="8310677" y="42336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10677" y="4636008"/>
            <a:ext cx="3003194"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B2B-Kunde</a:t>
            </a:r>
            <a:endParaRPr lang="en-US" sz="1500" dirty="0"/>
          </a:p>
        </p:txBody>
      </p:sp>
      <p:sp>
        <p:nvSpPr>
          <p:cNvPr id="35" name="Text 33"/>
          <p:cNvSpPr txBox="1"/>
          <p:nvPr/>
        </p:nvSpPr>
        <p:spPr>
          <a:xfrm>
            <a:off x="8310677" y="4946904"/>
            <a:ext cx="3003194" cy="1179576"/>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Anreiz: eigene Compliance und die eigene Scope-3-Bilanz.</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Der einzige Akteur in der ganzen Kette, der für Verifizierbarkeit tatsächlich zahlen könnte. Ob er es tut, ist unsere offene Kernfrage.</a:t>
            </a:r>
            <a:endParaRPr lang="en-US" sz="900" dirty="0"/>
          </a:p>
        </p:txBody>
      </p:sp>
      <p:sp>
        <p:nvSpPr>
          <p:cNvPr id="36" name="Text 34"/>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Akteursanalyse [angenommen, aus Branchenpraxis abgeleitet]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DATENMODELL</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GS1 EPCIS 2.0 statt Eigenformat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Der Standard bildet genau ab, was wir brauchen</a:t>
            </a:r>
            <a:endParaRPr lang="en-US" sz="1500" dirty="0"/>
          </a:p>
        </p:txBody>
      </p:sp>
      <p:sp>
        <p:nvSpPr>
          <p:cNvPr id="8" name="Text 6"/>
          <p:cNvSpPr txBox="1"/>
          <p:nvPr/>
        </p:nvSpPr>
        <p:spPr>
          <a:xfrm>
            <a:off x="969264" y="1951482"/>
            <a:ext cx="6528816" cy="56311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Ereignisse mit „was, wann, wo, warum", dazu Aggregation — Sack zu Palette — und Transformation, also Grünkaffee zu Röstkaffee. Version 2.0 spricht REST und JSON statt SOAP.</a:t>
            </a:r>
            <a:endParaRPr lang="en-US" sz="1200" dirty="0"/>
          </a:p>
        </p:txBody>
      </p:sp>
      <p:sp>
        <p:nvSpPr>
          <p:cNvPr id="9" name="Shape 7"/>
          <p:cNvSpPr/>
          <p:nvPr/>
        </p:nvSpPr>
        <p:spPr>
          <a:xfrm>
            <a:off x="658368" y="273405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62432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Für die EUDR existiert bereits eine Umsetzungshilfe</a:t>
            </a:r>
            <a:endParaRPr lang="en-US" sz="1500" dirty="0"/>
          </a:p>
        </p:txBody>
      </p:sp>
      <p:sp>
        <p:nvSpPr>
          <p:cNvPr id="11" name="Text 9"/>
          <p:cNvSpPr txBox="1"/>
          <p:nvPr/>
        </p:nvSpPr>
        <p:spPr>
          <a:xfrm>
            <a:off x="969264" y="2911602"/>
            <a:ext cx="6528816" cy="56311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GS1 Germany hat eine EUDR-Implementierungsrichtlinie veröffentlicht; der GS1-EUDR-Standard referenziert EPCIS als Mechanismus zur Übermittlung von Referenz- und Verifikationsnummern.</a:t>
            </a:r>
            <a:endParaRPr lang="en-US" sz="1200" dirty="0"/>
          </a:p>
        </p:txBody>
      </p:sp>
      <p:sp>
        <p:nvSpPr>
          <p:cNvPr id="12" name="Shape 10"/>
          <p:cNvSpPr/>
          <p:nvPr/>
        </p:nvSpPr>
        <p:spPr>
          <a:xfrm>
            <a:off x="658368" y="369417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358444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Unsere Handelspartner sprechen ohnehin GS1</a:t>
            </a:r>
            <a:endParaRPr lang="en-US" sz="1500" dirty="0"/>
          </a:p>
        </p:txBody>
      </p:sp>
      <p:sp>
        <p:nvSpPr>
          <p:cNvPr id="14" name="Text 12"/>
          <p:cNvSpPr txBox="1"/>
          <p:nvPr/>
        </p:nvSpPr>
        <p:spPr>
          <a:xfrm>
            <a:off x="969264" y="387172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GTIN, GLN und SSCC sind im Lebensmitteleinzelhandel gesetzt. Ein Eigenformat müssten wir an jeder Schnittstelle übersetzen.</a:t>
            </a:r>
            <a:endParaRPr lang="en-US" sz="1250" dirty="0"/>
          </a:p>
        </p:txBody>
      </p:sp>
      <p:sp>
        <p:nvSpPr>
          <p:cNvPr id="15" name="Shape 13"/>
          <p:cNvSpPr/>
          <p:nvPr/>
        </p:nvSpPr>
        <p:spPr>
          <a:xfrm>
            <a:off x="658368" y="4654296"/>
            <a:ext cx="137160" cy="137160"/>
          </a:xfrm>
          <a:prstGeom prst="ellipse">
            <a:avLst/>
          </a:prstGeom>
          <a:solidFill>
            <a:srgbClr val="C9762F"/>
          </a:solidFill>
          <a:ln w="12700">
            <a:solidFill>
              <a:srgbClr val="C9762F"/>
            </a:solidFill>
            <a:prstDash val="solid"/>
          </a:ln>
        </p:spPr>
      </p:sp>
      <p:sp>
        <p:nvSpPr>
          <p:cNvPr id="16" name="Text 14"/>
          <p:cNvSpPr txBox="1"/>
          <p:nvPr/>
        </p:nvSpPr>
        <p:spPr>
          <a:xfrm>
            <a:off x="969264" y="454456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Die ehrliche Einschränkung: nicht bis zum Feld</a:t>
            </a:r>
            <a:endParaRPr lang="en-US" sz="1500" dirty="0"/>
          </a:p>
        </p:txBody>
      </p:sp>
      <p:sp>
        <p:nvSpPr>
          <p:cNvPr id="17" name="Text 15"/>
          <p:cNvSpPr txBox="1"/>
          <p:nvPr/>
        </p:nvSpPr>
        <p:spPr>
          <a:xfrm>
            <a:off x="969264" y="483184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Kooperativen werden kein EPCIS senden. Upstream nehmen wir CSV, GeoJSON und Excel entgegen; EPCIS ist unser internes Modell ab Wareneingang.</a:t>
            </a:r>
            <a:endParaRPr lang="en-US" sz="1250" dirty="0"/>
          </a:p>
        </p:txBody>
      </p:sp>
      <p:sp>
        <p:nvSpPr>
          <p:cNvPr id="18" name="Shape 16"/>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ENTITÄTEN</a:t>
            </a:r>
            <a:endParaRPr lang="en-US" sz="1050" dirty="0"/>
          </a:p>
        </p:txBody>
      </p:sp>
      <p:sp>
        <p:nvSpPr>
          <p:cNvPr id="20" name="Text 18"/>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Parzelle</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Erntecharge</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Exportlot</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Grünkaffeepartie</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Röstcharge</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Blend</a:t>
            </a:r>
            <a:endParaRPr lang="en-US" sz="1500" dirty="0"/>
          </a:p>
          <a:p>
            <a:pPr algn="l" indent="0" marL="0">
              <a:lnSpc>
                <a:spcPct val="112000"/>
              </a:lnSpc>
              <a:buNone/>
            </a:pPr>
            <a:r>
              <a:rPr lang="en-US" sz="1500" b="1" dirty="0">
                <a:solidFill>
                  <a:srgbClr val="FFFFFF"/>
                </a:solidFill>
                <a:latin typeface="Cambria" pitchFamily="34" charset="0"/>
                <a:ea typeface="Cambria" pitchFamily="34" charset="-122"/>
                <a:cs typeface="Cambria" pitchFamily="34" charset="-120"/>
              </a:rPr>
              <a:t>Verpackungseinheit</a:t>
            </a:r>
            <a:endParaRPr lang="en-US" sz="15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Grundregel: Jede Entität hat genau einen verantwortlichen Erfasser und genau einen Erfassungszeitstempel. Ohne diese zwei Felder funktioniert das Evidence Grading nicht.</a:t>
            </a:r>
            <a:endParaRPr lang="en-US" sz="1300" dirty="0"/>
          </a:p>
        </p:txBody>
      </p:sp>
      <p:sp>
        <p:nvSpPr>
          <p:cNvPr id="23" name="Text 2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GS1 EPCIS 2.0 · GS1 Germany EUDR Implementation Guideline v1.11 [recherchiert]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DATENSCHUTZ</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Der Konflikt: Löschrecht gegen Unveränderlichkeit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40080"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97BC62"/>
          </a:solidFill>
          <a:ln w="12700">
            <a:solidFill>
              <a:srgbClr val="97BC62"/>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Off-chain, zugriffsbeschränkt</a:t>
            </a:r>
            <a:endParaRPr lang="en-US" sz="1450" dirty="0"/>
          </a:p>
        </p:txBody>
      </p:sp>
      <p:sp>
        <p:nvSpPr>
          <p:cNvPr id="10" name="Text 8"/>
          <p:cNvSpPr txBox="1"/>
          <p:nvPr/>
        </p:nvSpPr>
        <p:spPr>
          <a:xfrm>
            <a:off x="877824"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Parzellengeometrien, Erzeugernamen, Landtitel, Verträge, Preise, alle Dokumente.</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Vollständig löschbar. DSGVO-konform.</a:t>
            </a:r>
            <a:endParaRPr lang="en-US" sz="900" dirty="0"/>
          </a:p>
        </p:txBody>
      </p:sp>
      <p:sp>
        <p:nvSpPr>
          <p:cNvPr id="11" name="Shape 9"/>
          <p:cNvSpPr/>
          <p:nvPr/>
        </p:nvSpPr>
        <p:spPr>
          <a:xfrm>
            <a:off x="4356506"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Off-chain, veröffentlicht</a:t>
            </a:r>
            <a:endParaRPr lang="en-US" sz="1450" dirty="0"/>
          </a:p>
        </p:txBody>
      </p:sp>
      <p:sp>
        <p:nvSpPr>
          <p:cNvPr id="15" name="Text 13"/>
          <p:cNvSpPr txBox="1"/>
          <p:nvPr/>
        </p:nvSpPr>
        <p:spPr>
          <a:xfrm>
            <a:off x="4594250"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Land, Region, Kooperative, Höhenlage, Varietät, Aufbereitung, Erntejahr.</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Niemals Parzellengeometrie. Niemals Erzeugername.</a:t>
            </a:r>
            <a:endParaRPr lang="en-US" sz="900" dirty="0"/>
          </a:p>
        </p:txBody>
      </p:sp>
      <p:sp>
        <p:nvSpPr>
          <p:cNvPr id="16" name="Shape 14"/>
          <p:cNvSpPr/>
          <p:nvPr/>
        </p:nvSpPr>
        <p:spPr>
          <a:xfrm>
            <a:off x="8072933"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A6352B"/>
          </a:solidFill>
          <a:ln w="12700">
            <a:solidFill>
              <a:srgbClr val="A6352B"/>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Verankert — nur Hashes</a:t>
            </a:r>
            <a:endParaRPr lang="en-US" sz="1450" dirty="0"/>
          </a:p>
        </p:txBody>
      </p:sp>
      <p:sp>
        <p:nvSpPr>
          <p:cNvPr id="20" name="Text 18"/>
          <p:cNvSpPr txBox="1"/>
          <p:nvPr/>
        </p:nvSpPr>
        <p:spPr>
          <a:xfrm>
            <a:off x="8310677"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Nie ein Dokument, nie eine Koordinate, nie ein Name, nie ein Pseudonym mit Wiedererkennungswert.</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Nicht löschbar — deshalb Karte 4 bis 6.</a:t>
            </a:r>
            <a:endParaRPr lang="en-US" sz="900" dirty="0"/>
          </a:p>
        </p:txBody>
      </p:sp>
      <p:sp>
        <p:nvSpPr>
          <p:cNvPr id="21" name="Shape 19"/>
          <p:cNvSpPr/>
          <p:nvPr/>
        </p:nvSpPr>
        <p:spPr>
          <a:xfrm>
            <a:off x="640080"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3858768"/>
            <a:ext cx="347472" cy="347472"/>
          </a:xfrm>
          <a:prstGeom prst="ellipse">
            <a:avLst/>
          </a:prstGeom>
          <a:solidFill>
            <a:srgbClr val="1B3A2F"/>
          </a:solidFill>
          <a:ln w="12700">
            <a:solidFill>
              <a:srgbClr val="1B3A2F"/>
            </a:solidFill>
            <a:prstDash val="solid"/>
          </a:ln>
        </p:spPr>
      </p:sp>
      <p:sp>
        <p:nvSpPr>
          <p:cNvPr id="23" name="Text 21"/>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Das Problem mit blanken Hashes</a:t>
            </a:r>
            <a:endParaRPr lang="en-US" sz="1450" dirty="0"/>
          </a:p>
        </p:txBody>
      </p:sp>
      <p:sp>
        <p:nvSpPr>
          <p:cNvPr id="25" name="Text 23"/>
          <p:cNvSpPr txBox="1"/>
          <p:nvPr/>
        </p:nvSpPr>
        <p:spPr>
          <a:xfrm>
            <a:off x="877824"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Ein Hash über eine Koordinate ist nicht anonym. Der Suchraum von Koordinaten ist klein genug, um ihn per Brute Force zu durchsuchen.</a:t>
            </a:r>
            <a:endParaRPr lang="en-US" sz="900" dirty="0"/>
          </a:p>
        </p:txBody>
      </p:sp>
      <p:sp>
        <p:nvSpPr>
          <p:cNvPr id="26" name="Shape 24"/>
          <p:cNvSpPr/>
          <p:nvPr/>
        </p:nvSpPr>
        <p:spPr>
          <a:xfrm>
            <a:off x="4356506"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3858768"/>
            <a:ext cx="347472" cy="347472"/>
          </a:xfrm>
          <a:prstGeom prst="ellipse">
            <a:avLst/>
          </a:prstGeom>
          <a:solidFill>
            <a:srgbClr val="97BC62"/>
          </a:solidFill>
          <a:ln w="12700">
            <a:solidFill>
              <a:srgbClr val="97BC62"/>
            </a:solidFill>
            <a:prstDash val="solid"/>
          </a:ln>
        </p:spPr>
      </p:sp>
      <p:sp>
        <p:nvSpPr>
          <p:cNvPr id="28" name="Text 26"/>
          <p:cNvSpPr txBox="1"/>
          <p:nvPr/>
        </p:nvSpPr>
        <p:spPr>
          <a:xfrm>
            <a:off x="4594250" y="3858768"/>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Die Lösung: Crypto-Shredding</a:t>
            </a:r>
            <a:endParaRPr lang="en-US" sz="1450" dirty="0"/>
          </a:p>
        </p:txBody>
      </p:sp>
      <p:sp>
        <p:nvSpPr>
          <p:cNvPr id="30" name="Text 28"/>
          <p:cNvSpPr txBox="1"/>
          <p:nvPr/>
        </p:nvSpPr>
        <p:spPr>
          <a:xfrm>
            <a:off x="4594250"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Je Datensatz ein zufälliges Salt, ausschließlich off-chain gespeichert. Verankert wird der Hash aus Salt plus Datensatz.</a:t>
            </a:r>
            <a:endParaRPr lang="en-US" sz="900" dirty="0"/>
          </a:p>
        </p:txBody>
      </p:sp>
      <p:sp>
        <p:nvSpPr>
          <p:cNvPr id="31" name="Shape 29"/>
          <p:cNvSpPr/>
          <p:nvPr/>
        </p:nvSpPr>
        <p:spPr>
          <a:xfrm>
            <a:off x="8072933"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58768"/>
            <a:ext cx="347472" cy="347472"/>
          </a:xfrm>
          <a:prstGeom prst="ellipse">
            <a:avLst/>
          </a:prstGeom>
          <a:solidFill>
            <a:srgbClr val="1B3A2F"/>
          </a:solidFill>
          <a:ln w="12700">
            <a:solidFill>
              <a:srgbClr val="1B3A2F"/>
            </a:solidFill>
            <a:prstDash val="solid"/>
          </a:ln>
        </p:spPr>
      </p:sp>
      <p:sp>
        <p:nvSpPr>
          <p:cNvPr id="33" name="Text 31"/>
          <p:cNvSpPr txBox="1"/>
          <p:nvPr/>
        </p:nvSpPr>
        <p:spPr>
          <a:xfrm>
            <a:off x="8310677"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10677"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Beim Löschverlangen</a:t>
            </a:r>
            <a:endParaRPr lang="en-US" sz="1450" dirty="0"/>
          </a:p>
        </p:txBody>
      </p:sp>
      <p:sp>
        <p:nvSpPr>
          <p:cNvPr id="35" name="Text 33"/>
          <p:cNvSpPr txBox="1"/>
          <p:nvPr/>
        </p:nvSpPr>
        <p:spPr>
          <a:xfrm>
            <a:off x="8310677"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Datensatz und Salt werden gelöscht. Zurück bleibt ein Hash, der ohne Salt nicht mehr rückführbar ist. Die Prüfbarkeit dieses Datensatzes ist dauerhaft verloren — das ist der Preis.</a:t>
            </a:r>
            <a:endParaRPr lang="en-US" sz="900" dirty="0"/>
          </a:p>
        </p:txBody>
      </p:sp>
      <p:sp>
        <p:nvSpPr>
          <p:cNvPr id="36" name="Shape 3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7" name="Text 3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Solange wir nicht verankern, existiert dieser Konflikt gar nicht. Ein weiterer Grund, die Blockchain nicht vorzuziehen.</a:t>
            </a:r>
            <a:endParaRPr lang="en-US" sz="1300" dirty="0"/>
          </a:p>
        </p:txBody>
      </p:sp>
      <p:sp>
        <p:nvSpPr>
          <p:cNvPr id="38" name="Text 36"/>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Einordnung als personenbezogenes Datum [angenommen, vorsichtige Auslegung] · Crypto-Shredding etabliert, aber nicht höchstrichterlich bestätigt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AUS DEM REFERENZFALL ÜBERNOMMEN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Evidence Grading — schwache Daten kennzeichnen statt ablehnen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40080" y="1664208"/>
            <a:ext cx="5327752" cy="3840480"/>
          </a:xfrm>
          <a:prstGeom prst="roundRect">
            <a:avLst>
              <a:gd name="adj" fmla="val 1905"/>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640080" y="1664208"/>
            <a:ext cx="5327752" cy="804672"/>
          </a:xfrm>
          <a:prstGeom prst="roundRect">
            <a:avLst>
              <a:gd name="adj" fmla="val 9091"/>
            </a:avLst>
          </a:prstGeom>
          <a:solidFill>
            <a:srgbClr val="1B3A2F"/>
          </a:solidFill>
          <a:ln w="12700">
            <a:solidFill>
              <a:srgbClr val="1B3A2F"/>
            </a:solidFill>
            <a:prstDash val="solid"/>
          </a:ln>
        </p:spPr>
      </p:sp>
      <p:sp>
        <p:nvSpPr>
          <p:cNvPr id="8" name="Text 6"/>
          <p:cNvSpPr txBox="1"/>
          <p:nvPr/>
        </p:nvSpPr>
        <p:spPr>
          <a:xfrm>
            <a:off x="841248"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Verified</a:t>
            </a:r>
            <a:endParaRPr lang="en-US" sz="1500" dirty="0"/>
          </a:p>
        </p:txBody>
      </p:sp>
      <p:sp>
        <p:nvSpPr>
          <p:cNvPr id="9" name="Text 7"/>
          <p:cNvSpPr txBox="1"/>
          <p:nvPr/>
        </p:nvSpPr>
        <p:spPr>
          <a:xfrm>
            <a:off x="841248"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zeitgleich, signiert, unverändert</a:t>
            </a:r>
            <a:endParaRPr lang="en-US" sz="1100" dirty="0"/>
          </a:p>
        </p:txBody>
      </p:sp>
      <p:sp>
        <p:nvSpPr>
          <p:cNvPr id="10" name="Text 8"/>
          <p:cNvSpPr txBox="1"/>
          <p:nvPr/>
        </p:nvSpPr>
        <p:spPr>
          <a:xfrm>
            <a:off x="841248" y="2615184"/>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Ereigniszeit und Erfassungszeit liegen unter 15 Minuten auseinander</a:t>
            </a:r>
            <a:endParaRPr lang="en-US" sz="1200" dirty="0"/>
          </a:p>
        </p:txBody>
      </p:sp>
      <p:sp>
        <p:nvSpPr>
          <p:cNvPr id="11" name="Text 9"/>
          <p:cNvSpPr txBox="1"/>
          <p:nvPr/>
        </p:nvSpPr>
        <p:spPr>
          <a:xfrm>
            <a:off x="841248" y="3167482"/>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Identifizierter Erfasser mit gültigem Schlüssel — gültig zum Ereigniszeitpunkt</a:t>
            </a:r>
            <a:endParaRPr lang="en-US" sz="1200" dirty="0"/>
          </a:p>
        </p:txBody>
      </p:sp>
      <p:sp>
        <p:nvSpPr>
          <p:cNvPr id="12" name="Text 10"/>
          <p:cNvSpPr txBox="1"/>
          <p:nvPr/>
        </p:nvSpPr>
        <p:spPr>
          <a:xfrm>
            <a:off x="841248" y="3719779"/>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Wert kommt aus einem angebundenen Gerät, nicht aus einem Freitextfeld</a:t>
            </a:r>
            <a:endParaRPr lang="en-US" sz="1200" dirty="0"/>
          </a:p>
        </p:txBody>
      </p:sp>
      <p:sp>
        <p:nvSpPr>
          <p:cNvPr id="13" name="Text 11"/>
          <p:cNvSpPr txBox="1"/>
          <p:nvPr/>
        </p:nvSpPr>
        <p:spPr>
          <a:xfrm>
            <a:off x="841248" y="4272077"/>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nachträgliche Korrektur</a:t>
            </a:r>
            <a:endParaRPr lang="en-US" sz="1200" dirty="0"/>
          </a:p>
        </p:txBody>
      </p:sp>
      <p:sp>
        <p:nvSpPr>
          <p:cNvPr id="14" name="Text 12"/>
          <p:cNvSpPr txBox="1"/>
          <p:nvPr/>
        </p:nvSpPr>
        <p:spPr>
          <a:xfrm>
            <a:off x="841248" y="4824374"/>
            <a:ext cx="4925416" cy="49743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Beispiel: die Auswaage einer Röstcharge</a:t>
            </a:r>
            <a:endParaRPr lang="en-US" sz="1250" dirty="0"/>
          </a:p>
        </p:txBody>
      </p:sp>
      <p:sp>
        <p:nvSpPr>
          <p:cNvPr id="15" name="Shape 13"/>
          <p:cNvSpPr/>
          <p:nvPr/>
        </p:nvSpPr>
        <p:spPr>
          <a:xfrm>
            <a:off x="6223864" y="1664208"/>
            <a:ext cx="5327752" cy="3840480"/>
          </a:xfrm>
          <a:prstGeom prst="roundRect">
            <a:avLst>
              <a:gd name="adj" fmla="val 1905"/>
            </a:avLst>
          </a:prstGeom>
          <a:solidFill>
            <a:srgbClr val="FFFFFF"/>
          </a:solidFill>
          <a:ln w="9525">
            <a:solidFill>
              <a:srgbClr val="DDE3DE"/>
            </a:solidFill>
            <a:prstDash val="solid"/>
          </a:ln>
        </p:spPr>
      </p:sp>
      <p:sp>
        <p:nvSpPr>
          <p:cNvPr id="16" name="Shape 14"/>
          <p:cNvSpPr/>
          <p:nvPr/>
        </p:nvSpPr>
        <p:spPr>
          <a:xfrm>
            <a:off x="6223864" y="1664208"/>
            <a:ext cx="5327752" cy="804672"/>
          </a:xfrm>
          <a:prstGeom prst="roundRect">
            <a:avLst>
              <a:gd name="adj" fmla="val 9091"/>
            </a:avLst>
          </a:prstGeom>
          <a:solidFill>
            <a:srgbClr val="DDE3DE"/>
          </a:solidFill>
          <a:ln w="12700">
            <a:solidFill>
              <a:srgbClr val="DDE3DE"/>
            </a:solidFill>
            <a:prstDash val="solid"/>
          </a:ln>
        </p:spPr>
      </p:sp>
      <p:sp>
        <p:nvSpPr>
          <p:cNvPr id="17" name="Text 15"/>
          <p:cNvSpPr txBox="1"/>
          <p:nvPr/>
        </p:nvSpPr>
        <p:spPr>
          <a:xfrm>
            <a:off x="6425032"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Declared</a:t>
            </a:r>
            <a:endParaRPr lang="en-US" sz="1500" dirty="0"/>
          </a:p>
        </p:txBody>
      </p:sp>
      <p:sp>
        <p:nvSpPr>
          <p:cNvPr id="18" name="Text 16"/>
          <p:cNvSpPr txBox="1"/>
          <p:nvPr/>
        </p:nvSpPr>
        <p:spPr>
          <a:xfrm>
            <a:off x="6425032"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erklärt, aber nicht zeitgleich erfasst</a:t>
            </a:r>
            <a:endParaRPr lang="en-US" sz="1100" dirty="0"/>
          </a:p>
        </p:txBody>
      </p:sp>
      <p:sp>
        <p:nvSpPr>
          <p:cNvPr id="19" name="Text 17"/>
          <p:cNvSpPr txBox="1"/>
          <p:nvPr/>
        </p:nvSpPr>
        <p:spPr>
          <a:xfrm>
            <a:off x="6425032" y="2615184"/>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Von einer benannten Partei erklärt</a:t>
            </a:r>
            <a:endParaRPr lang="en-US" sz="1200" dirty="0"/>
          </a:p>
        </p:txBody>
      </p:sp>
      <p:sp>
        <p:nvSpPr>
          <p:cNvPr id="20" name="Text 18"/>
          <p:cNvSpPr txBox="1"/>
          <p:nvPr/>
        </p:nvSpPr>
        <p:spPr>
          <a:xfrm>
            <a:off x="6425032" y="3167482"/>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Nicht zeitgleich erfasst oder nicht vom Handelnden selbst signiert</a:t>
            </a:r>
            <a:endParaRPr lang="en-US" sz="1200" dirty="0"/>
          </a:p>
        </p:txBody>
      </p:sp>
      <p:sp>
        <p:nvSpPr>
          <p:cNvPr id="21" name="Text 19"/>
          <p:cNvSpPr txBox="1"/>
          <p:nvPr/>
        </p:nvSpPr>
        <p:spPr>
          <a:xfrm>
            <a:off x="6425032" y="3719779"/>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Stellvertretende Erfassung fällt immer hierunter</a:t>
            </a:r>
            <a:endParaRPr lang="en-US" sz="1200" dirty="0"/>
          </a:p>
        </p:txBody>
      </p:sp>
      <p:sp>
        <p:nvSpPr>
          <p:cNvPr id="22" name="Text 20"/>
          <p:cNvSpPr txBox="1"/>
          <p:nvPr/>
        </p:nvSpPr>
        <p:spPr>
          <a:xfrm>
            <a:off x="6425032" y="4272077"/>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Eine Korrektur stuft von Verified auf Declared herab</a:t>
            </a:r>
            <a:endParaRPr lang="en-US" sz="1200" dirty="0"/>
          </a:p>
        </p:txBody>
      </p:sp>
      <p:sp>
        <p:nvSpPr>
          <p:cNvPr id="23" name="Text 21"/>
          <p:cNvSpPr txBox="1"/>
          <p:nvPr/>
        </p:nvSpPr>
        <p:spPr>
          <a:xfrm>
            <a:off x="6425032" y="4824374"/>
            <a:ext cx="4925416" cy="49743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Beispiel: die Parzellendaten der Kooperative</a:t>
            </a:r>
            <a:endParaRPr lang="en-US" sz="1250" dirty="0"/>
          </a:p>
        </p:txBody>
      </p:sp>
      <p:sp>
        <p:nvSpPr>
          <p:cNvPr id="24" name="Shape 22"/>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5" name="Text 23"/>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Aggregationsregel: Die Kette ist so stark wie ihr schwächstes Glied — und das schwächste Glied wird benannt. Keine Prozentzahl, kein Trust Score.</a:t>
            </a:r>
            <a:endParaRPr lang="en-US" sz="1300" dirty="0"/>
          </a:p>
        </p:txBody>
      </p:sp>
      <p:sp>
        <p:nvSpPr>
          <p:cNvPr id="26" name="Text 24"/>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Konzept aus dem Kakao-Piloten übernommen, Regeln von uns ausformuliert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IDENTITÄT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DIDs für alle? Nein — abgestuft nach Realität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3</a:t>
            </a:r>
            <a:endParaRPr lang="en-US" sz="1300" dirty="0"/>
          </a:p>
        </p:txBody>
      </p:sp>
      <p:sp>
        <p:nvSpPr>
          <p:cNvPr id="6" name="Shape 4"/>
          <p:cNvSpPr/>
          <p:nvPr/>
        </p:nvSpPr>
        <p:spPr>
          <a:xfrm>
            <a:off x="640080"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97BC62"/>
          </a:solidFill>
          <a:ln w="12700">
            <a:solidFill>
              <a:srgbClr val="97BC62"/>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Rösterei, Geräte, Mitarbeitende</a:t>
            </a:r>
            <a:endParaRPr lang="en-US" sz="1450" dirty="0"/>
          </a:p>
        </p:txBody>
      </p:sp>
      <p:sp>
        <p:nvSpPr>
          <p:cNvPr id="10" name="Text 8"/>
          <p:cNvSpPr txBox="1"/>
          <p:nvPr/>
        </p:nvSpPr>
        <p:spPr>
          <a:xfrm>
            <a:off x="877824" y="2753614"/>
            <a:ext cx="3003194" cy="2623058"/>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Volle Signatur. Schlüssel auf Firmengeräten, Erfassung signiert, vertrauenswürdiger Zeitstempel.</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 Stufe Verified. Hier ist Kryptografie sinnvoll und billig, weil wir die Geräte kontrollieren.</a:t>
            </a:r>
            <a:endParaRPr lang="en-US" sz="1200" dirty="0"/>
          </a:p>
        </p:txBody>
      </p:sp>
      <p:sp>
        <p:nvSpPr>
          <p:cNvPr id="11" name="Shape 9"/>
          <p:cNvSpPr/>
          <p:nvPr/>
        </p:nvSpPr>
        <p:spPr>
          <a:xfrm>
            <a:off x="4356506"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Exporteur, Importeur, größere Kooperative</a:t>
            </a:r>
            <a:endParaRPr lang="en-US" sz="1450" dirty="0"/>
          </a:p>
        </p:txBody>
      </p:sp>
      <p:sp>
        <p:nvSpPr>
          <p:cNvPr id="15" name="Text 13"/>
          <p:cNvSpPr txBox="1"/>
          <p:nvPr/>
        </p:nvSpPr>
        <p:spPr>
          <a:xfrm>
            <a:off x="4594250" y="2753614"/>
            <a:ext cx="3003194" cy="2623058"/>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Signatur möglich, wenn vertraglich vereinbart. Einfachstes tragfähiges Mittel: ein Schlüssel je Organisation, nicht je Person.</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 Vertragsdurchsetzung wirkt hier stärker als Technik.</a:t>
            </a:r>
            <a:endParaRPr lang="en-US" sz="1200" dirty="0"/>
          </a:p>
        </p:txBody>
      </p:sp>
      <p:sp>
        <p:nvSpPr>
          <p:cNvPr id="16" name="Shape 14"/>
          <p:cNvSpPr/>
          <p:nvPr/>
        </p:nvSpPr>
        <p:spPr>
          <a:xfrm>
            <a:off x="8072933"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A6352B"/>
          </a:solidFill>
          <a:ln w="12700">
            <a:solidFill>
              <a:srgbClr val="A6352B"/>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Kleinbauer ohne Smartphone</a:t>
            </a:r>
            <a:endParaRPr lang="en-US" sz="1450" dirty="0"/>
          </a:p>
        </p:txBody>
      </p:sp>
      <p:sp>
        <p:nvSpPr>
          <p:cNvPr id="20" name="Text 18"/>
          <p:cNvSpPr txBox="1"/>
          <p:nvPr/>
        </p:nvSpPr>
        <p:spPr>
          <a:xfrm>
            <a:off x="8310677" y="2542032"/>
            <a:ext cx="3003194" cy="2834640"/>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Keine eigene Signatur. Stellvertretende Erfassung durch die Kooperative, gekennzeichnet als „erfasst durch X am Y".</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 Stufe Declared. Alles andere wäre Fiktion.</a:t>
            </a:r>
            <a:endParaRPr lang="en-US" sz="12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Der Satz, der im Referenzfall fehlt: Stellvertretende Erfassung verschiebt den Vertrauensanker von der Person auf die Institution — sie schafft ihn nicht.</a:t>
            </a:r>
            <a:endParaRPr lang="en-US" sz="1300" dirty="0"/>
          </a:p>
        </p:txBody>
      </p:sp>
      <p:sp>
        <p:nvSpPr>
          <p:cNvPr id="23" name="Text 2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Widerrufslogik: Sperrliste je Organisationsschlüssel, geprüft zum Ereigniszeitpunkt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D</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Architektur und Massenbilanz</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Drei Optionen, die Gegenthese zur Blockchain</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und die Mathematik der Röstung</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4  ·  ca. 10 Minuten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ARCHITEKTUR</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Drei Optionen, ergebnisoffen bewertet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40080" y="1664208"/>
            <a:ext cx="3466490" cy="4590288"/>
          </a:xfrm>
          <a:prstGeom prst="roundRect">
            <a:avLst>
              <a:gd name="adj" fmla="val 2110"/>
            </a:avLst>
          </a:prstGeom>
          <a:solidFill>
            <a:srgbClr val="FFFFFF"/>
          </a:solidFill>
          <a:ln w="9525">
            <a:solidFill>
              <a:srgbClr val="DDE3DE"/>
            </a:solidFill>
            <a:prstDash val="solid"/>
          </a:ln>
        </p:spPr>
      </p:sp>
      <p:sp>
        <p:nvSpPr>
          <p:cNvPr id="7" name="Shape 5"/>
          <p:cNvSpPr/>
          <p:nvPr/>
        </p:nvSpPr>
        <p:spPr>
          <a:xfrm>
            <a:off x="640080" y="1664208"/>
            <a:ext cx="3466490" cy="804672"/>
          </a:xfrm>
          <a:prstGeom prst="roundRect">
            <a:avLst>
              <a:gd name="adj" fmla="val 9091"/>
            </a:avLst>
          </a:prstGeom>
          <a:solidFill>
            <a:srgbClr val="DDE3DE"/>
          </a:solidFill>
          <a:ln w="12700">
            <a:solidFill>
              <a:srgbClr val="DDE3DE"/>
            </a:solidFill>
            <a:prstDash val="solid"/>
          </a:ln>
        </p:spPr>
      </p:sp>
      <p:sp>
        <p:nvSpPr>
          <p:cNvPr id="8" name="Text 6"/>
          <p:cNvSpPr txBox="1"/>
          <p:nvPr/>
        </p:nvSpPr>
        <p:spPr>
          <a:xfrm>
            <a:off x="841248" y="1755648"/>
            <a:ext cx="3064154"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A · Zukauf</a:t>
            </a:r>
            <a:endParaRPr lang="en-US" sz="1500" dirty="0"/>
          </a:p>
        </p:txBody>
      </p:sp>
      <p:sp>
        <p:nvSpPr>
          <p:cNvPr id="9" name="Text 7"/>
          <p:cNvSpPr txBox="1"/>
          <p:nvPr/>
        </p:nvSpPr>
        <p:spPr>
          <a:xfrm>
            <a:off x="841248" y="2084832"/>
            <a:ext cx="3064154"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Compliance-SaaS plus ERP, kein Ledger</a:t>
            </a:r>
            <a:endParaRPr lang="en-US" sz="1100" dirty="0"/>
          </a:p>
        </p:txBody>
      </p:sp>
      <p:sp>
        <p:nvSpPr>
          <p:cNvPr id="10" name="Text 8"/>
          <p:cNvSpPr txBox="1"/>
          <p:nvPr/>
        </p:nvSpPr>
        <p:spPr>
          <a:xfrm>
            <a:off x="841248" y="2615184"/>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Volle EUDR-Konformität für beide Pfade</a:t>
            </a:r>
            <a:endParaRPr lang="en-US" sz="1200" dirty="0"/>
          </a:p>
        </p:txBody>
      </p:sp>
      <p:sp>
        <p:nvSpPr>
          <p:cNvPr id="11" name="Text 9"/>
          <p:cNvSpPr txBox="1"/>
          <p:nvPr/>
        </p:nvSpPr>
        <p:spPr>
          <a:xfrm>
            <a:off x="841248" y="3317443"/>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Geodaten, Risikoscreening, TRACES, Referenznummern</a:t>
            </a:r>
            <a:endParaRPr lang="en-US" sz="1200" dirty="0"/>
          </a:p>
        </p:txBody>
      </p:sp>
      <p:sp>
        <p:nvSpPr>
          <p:cNvPr id="12" name="Text 10"/>
          <p:cNvSpPr txBox="1"/>
          <p:nvPr/>
        </p:nvSpPr>
        <p:spPr>
          <a:xfrm>
            <a:off x="841248" y="401970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Kein Chargenmodell über Röstung und Blend, kein CO₂ je Charge, kein Produktpass</a:t>
            </a:r>
            <a:endParaRPr lang="en-US" sz="1200" dirty="0"/>
          </a:p>
        </p:txBody>
      </p:sp>
      <p:sp>
        <p:nvSpPr>
          <p:cNvPr id="13" name="Text 11"/>
          <p:cNvSpPr txBox="1"/>
          <p:nvPr/>
        </p:nvSpPr>
        <p:spPr>
          <a:xfrm>
            <a:off x="841248" y="472196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6–10 Wochen bis produktiv</a:t>
            </a:r>
            <a:endParaRPr lang="en-US" sz="1200" dirty="0"/>
          </a:p>
        </p:txBody>
      </p:sp>
      <p:sp>
        <p:nvSpPr>
          <p:cNvPr id="14" name="Text 12"/>
          <p:cNvSpPr txBox="1"/>
          <p:nvPr/>
        </p:nvSpPr>
        <p:spPr>
          <a:xfrm>
            <a:off x="841248" y="5424221"/>
            <a:ext cx="3064154" cy="647395"/>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Zwingend. Das ist Phase 0.</a:t>
            </a:r>
            <a:endParaRPr lang="en-US" sz="1250" dirty="0"/>
          </a:p>
        </p:txBody>
      </p:sp>
      <p:sp>
        <p:nvSpPr>
          <p:cNvPr id="15" name="Shape 13"/>
          <p:cNvSpPr/>
          <p:nvPr/>
        </p:nvSpPr>
        <p:spPr>
          <a:xfrm>
            <a:off x="4362602" y="1664208"/>
            <a:ext cx="3466490" cy="4590288"/>
          </a:xfrm>
          <a:prstGeom prst="roundRect">
            <a:avLst>
              <a:gd name="adj" fmla="val 2110"/>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16" name="Shape 14"/>
          <p:cNvSpPr/>
          <p:nvPr/>
        </p:nvSpPr>
        <p:spPr>
          <a:xfrm>
            <a:off x="4362602" y="1664208"/>
            <a:ext cx="3466490" cy="804672"/>
          </a:xfrm>
          <a:prstGeom prst="roundRect">
            <a:avLst>
              <a:gd name="adj" fmla="val 9091"/>
            </a:avLst>
          </a:prstGeom>
          <a:solidFill>
            <a:srgbClr val="1B3A2F"/>
          </a:solidFill>
          <a:ln w="12700">
            <a:solidFill>
              <a:srgbClr val="1B3A2F"/>
            </a:solidFill>
            <a:prstDash val="solid"/>
          </a:ln>
        </p:spPr>
      </p:sp>
      <p:sp>
        <p:nvSpPr>
          <p:cNvPr id="17" name="Text 15"/>
          <p:cNvSpPr txBox="1"/>
          <p:nvPr/>
        </p:nvSpPr>
        <p:spPr>
          <a:xfrm>
            <a:off x="4563770" y="1755648"/>
            <a:ext cx="3064154"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B · Hybrid</a:t>
            </a:r>
            <a:endParaRPr lang="en-US" sz="1500" dirty="0"/>
          </a:p>
        </p:txBody>
      </p:sp>
      <p:sp>
        <p:nvSpPr>
          <p:cNvPr id="18" name="Text 16"/>
          <p:cNvSpPr txBox="1"/>
          <p:nvPr/>
        </p:nvSpPr>
        <p:spPr>
          <a:xfrm>
            <a:off x="4563770" y="2084832"/>
            <a:ext cx="3064154"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Zukauf plus schlanker Eigenbau</a:t>
            </a:r>
            <a:endParaRPr lang="en-US" sz="1100" dirty="0"/>
          </a:p>
        </p:txBody>
      </p:sp>
      <p:sp>
        <p:nvSpPr>
          <p:cNvPr id="19" name="Text 17"/>
          <p:cNvSpPr txBox="1"/>
          <p:nvPr/>
        </p:nvSpPr>
        <p:spPr>
          <a:xfrm>
            <a:off x="4563770" y="2615184"/>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Alles aus A, plus durchgängige Chargenkette</a:t>
            </a:r>
            <a:endParaRPr lang="en-US" sz="1200" dirty="0"/>
          </a:p>
        </p:txBody>
      </p:sp>
      <p:sp>
        <p:nvSpPr>
          <p:cNvPr id="20" name="Text 18"/>
          <p:cNvSpPr txBox="1"/>
          <p:nvPr/>
        </p:nvSpPr>
        <p:spPr>
          <a:xfrm>
            <a:off x="4563770" y="3317443"/>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CO₂ je Röstcharge, Evidence Grading, freiwilliger Produktpass</a:t>
            </a:r>
            <a:endParaRPr lang="en-US" sz="1200" dirty="0"/>
          </a:p>
        </p:txBody>
      </p:sp>
      <p:sp>
        <p:nvSpPr>
          <p:cNvPr id="21" name="Text 19"/>
          <p:cNvSpPr txBox="1"/>
          <p:nvPr/>
        </p:nvSpPr>
        <p:spPr>
          <a:xfrm>
            <a:off x="4563770" y="401970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Verankerung wird vorbereitet, aber nicht aktiviert</a:t>
            </a:r>
            <a:endParaRPr lang="en-US" sz="1200" dirty="0"/>
          </a:p>
        </p:txBody>
      </p:sp>
      <p:sp>
        <p:nvSpPr>
          <p:cNvPr id="22" name="Text 20"/>
          <p:cNvSpPr txBox="1"/>
          <p:nvPr/>
        </p:nvSpPr>
        <p:spPr>
          <a:xfrm>
            <a:off x="4563770" y="472196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4–8 Monate nach Phase 0</a:t>
            </a:r>
            <a:endParaRPr lang="en-US" sz="1200" dirty="0"/>
          </a:p>
        </p:txBody>
      </p:sp>
      <p:sp>
        <p:nvSpPr>
          <p:cNvPr id="23" name="Text 21"/>
          <p:cNvSpPr txBox="1"/>
          <p:nvPr/>
        </p:nvSpPr>
        <p:spPr>
          <a:xfrm>
            <a:off x="4563770" y="5424221"/>
            <a:ext cx="3064154" cy="647395"/>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Unsere Empfehlung.</a:t>
            </a:r>
            <a:endParaRPr lang="en-US" sz="1250" dirty="0"/>
          </a:p>
        </p:txBody>
      </p:sp>
      <p:sp>
        <p:nvSpPr>
          <p:cNvPr id="24" name="Shape 22"/>
          <p:cNvSpPr/>
          <p:nvPr/>
        </p:nvSpPr>
        <p:spPr>
          <a:xfrm>
            <a:off x="8085125" y="1664208"/>
            <a:ext cx="3466490" cy="4590288"/>
          </a:xfrm>
          <a:prstGeom prst="roundRect">
            <a:avLst>
              <a:gd name="adj" fmla="val 2110"/>
            </a:avLst>
          </a:prstGeom>
          <a:solidFill>
            <a:srgbClr val="FFFFFF"/>
          </a:solidFill>
          <a:ln w="9525">
            <a:solidFill>
              <a:srgbClr val="DDE3DE"/>
            </a:solidFill>
            <a:prstDash val="solid"/>
          </a:ln>
        </p:spPr>
      </p:sp>
      <p:sp>
        <p:nvSpPr>
          <p:cNvPr id="25" name="Shape 23"/>
          <p:cNvSpPr/>
          <p:nvPr/>
        </p:nvSpPr>
        <p:spPr>
          <a:xfrm>
            <a:off x="8085125" y="1664208"/>
            <a:ext cx="3466490" cy="804672"/>
          </a:xfrm>
          <a:prstGeom prst="roundRect">
            <a:avLst>
              <a:gd name="adj" fmla="val 9091"/>
            </a:avLst>
          </a:prstGeom>
          <a:solidFill>
            <a:srgbClr val="DDE3DE"/>
          </a:solidFill>
          <a:ln w="12700">
            <a:solidFill>
              <a:srgbClr val="DDE3DE"/>
            </a:solidFill>
            <a:prstDash val="solid"/>
          </a:ln>
        </p:spPr>
      </p:sp>
      <p:sp>
        <p:nvSpPr>
          <p:cNvPr id="26" name="Text 24"/>
          <p:cNvSpPr txBox="1"/>
          <p:nvPr/>
        </p:nvSpPr>
        <p:spPr>
          <a:xfrm>
            <a:off x="8286293" y="1755648"/>
            <a:ext cx="3064154"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C · Referenzfall-Klon</a:t>
            </a:r>
            <a:endParaRPr lang="en-US" sz="1500" dirty="0"/>
          </a:p>
        </p:txBody>
      </p:sp>
      <p:sp>
        <p:nvSpPr>
          <p:cNvPr id="27" name="Text 25"/>
          <p:cNvSpPr txBox="1"/>
          <p:nvPr/>
        </p:nvSpPr>
        <p:spPr>
          <a:xfrm>
            <a:off x="8286293" y="2084832"/>
            <a:ext cx="3064154"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TrackTrace, Hedera, Token, Marker</a:t>
            </a:r>
            <a:endParaRPr lang="en-US" sz="1100" dirty="0"/>
          </a:p>
        </p:txBody>
      </p:sp>
      <p:sp>
        <p:nvSpPr>
          <p:cNvPr id="28" name="Text 26"/>
          <p:cNvSpPr txBox="1"/>
          <p:nvPr/>
        </p:nvSpPr>
        <p:spPr>
          <a:xfrm>
            <a:off x="8286293" y="2615184"/>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Alles aus B, plus verteilte Schreibrechte und Token-Ownership</a:t>
            </a:r>
            <a:endParaRPr lang="en-US" sz="1200" dirty="0"/>
          </a:p>
        </p:txBody>
      </p:sp>
      <p:sp>
        <p:nvSpPr>
          <p:cNvPr id="29" name="Text 27"/>
          <p:cNvSpPr txBox="1"/>
          <p:nvPr/>
        </p:nvSpPr>
        <p:spPr>
          <a:xfrm>
            <a:off x="8286293" y="3317443"/>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Zusätzlich: Schlüsselverwaltung über Organisationsgrenzen, Partner-Onboarding, Rechtsklärung</a:t>
            </a:r>
            <a:endParaRPr lang="en-US" sz="1200" dirty="0"/>
          </a:p>
        </p:txBody>
      </p:sp>
      <p:sp>
        <p:nvSpPr>
          <p:cNvPr id="30" name="Text 28"/>
          <p:cNvSpPr txBox="1"/>
          <p:nvPr/>
        </p:nvSpPr>
        <p:spPr>
          <a:xfrm>
            <a:off x="8286293" y="401970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Starke Anbieterbindung in einem jungen Markt</a:t>
            </a:r>
            <a:endParaRPr lang="en-US" sz="1200" dirty="0"/>
          </a:p>
        </p:txBody>
      </p:sp>
      <p:sp>
        <p:nvSpPr>
          <p:cNvPr id="31" name="Text 29"/>
          <p:cNvSpPr txBox="1"/>
          <p:nvPr/>
        </p:nvSpPr>
        <p:spPr>
          <a:xfrm>
            <a:off x="8286293" y="4721962"/>
            <a:ext cx="3064154" cy="647395"/>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12–24 Monate mit Partner-Onboarding</a:t>
            </a:r>
            <a:endParaRPr lang="en-US" sz="1200" dirty="0"/>
          </a:p>
        </p:txBody>
      </p:sp>
      <p:sp>
        <p:nvSpPr>
          <p:cNvPr id="32" name="Text 30"/>
          <p:cNvSpPr txBox="1"/>
          <p:nvPr/>
        </p:nvSpPr>
        <p:spPr>
          <a:xfrm>
            <a:off x="8286293" y="5424221"/>
            <a:ext cx="3064154" cy="647395"/>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Heute nicht begründbar.</a:t>
            </a:r>
            <a:endParaRPr lang="en-US" sz="1250" dirty="0"/>
          </a:p>
        </p:txBody>
      </p:sp>
      <p:sp>
        <p:nvSpPr>
          <p:cNvPr id="33" name="Text 3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Zeitangaben [geschätzt] · Funktionsumfang aus Anbieterunterlagen [recherchiert]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DIE GEGENTHESE, ERNSTHAFT GEPRÜFT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Reicht eine signierte Datenbank mit Zeitstempel?</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Zeitgleichheitsnachweis — brauchen wir. Geht ohne Chain.</a:t>
            </a:r>
            <a:endParaRPr lang="en-US" sz="1500" dirty="0"/>
          </a:p>
        </p:txBody>
      </p:sp>
      <p:sp>
        <p:nvSpPr>
          <p:cNvPr id="8" name="Text 6"/>
          <p:cNvSpPr txBox="1"/>
          <p:nvPr/>
        </p:nvSpPr>
        <p:spPr>
          <a:xfrm>
            <a:off x="969264" y="1951482"/>
            <a:ext cx="6528816" cy="56311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Merkle-Root je Tag plus qualifizierter eIDAS-Zeitstempel. Vor einem EU-Gericht hat ein qualifizierter Zeitstempel höhere Beweiskraft als eine Chain-Transaktion.</a:t>
            </a:r>
            <a:endParaRPr lang="en-US" sz="1200" dirty="0"/>
          </a:p>
        </p:txBody>
      </p:sp>
      <p:sp>
        <p:nvSpPr>
          <p:cNvPr id="9" name="Shape 7"/>
          <p:cNvSpPr/>
          <p:nvPr/>
        </p:nvSpPr>
        <p:spPr>
          <a:xfrm>
            <a:off x="658368" y="273405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624328"/>
            <a:ext cx="6528816" cy="422453"/>
          </a:xfrm>
          <a:prstGeom prst="rect">
            <a:avLst/>
          </a:prstGeom>
          <a:noFill/>
          <a:ln/>
        </p:spPr>
        <p:txBody>
          <a:bodyPr wrap="square" lIns="0" tIns="0" rIns="0" bIns="0" rtlCol="0" anchor="t"/>
          <a:lstStyle/>
          <a:p>
            <a:pPr algn="l" indent="0" marL="0">
              <a:lnSpc>
                <a:spcPct val="102000"/>
              </a:lnSpc>
              <a:buNone/>
            </a:pPr>
            <a:r>
              <a:rPr lang="en-US" sz="1350" b="1" dirty="0">
                <a:solidFill>
                  <a:srgbClr val="17241F"/>
                </a:solidFill>
                <a:latin typeface="Calibri" pitchFamily="34" charset="0"/>
                <a:ea typeface="Calibri" pitchFamily="34" charset="-122"/>
                <a:cs typeface="Calibri" pitchFamily="34" charset="-120"/>
              </a:rPr>
              <a:t>Manipulationsschutz gegen uns selbst — brauchen wir. Geht ohne Chain.</a:t>
            </a:r>
            <a:endParaRPr lang="en-US" sz="1350" dirty="0"/>
          </a:p>
        </p:txBody>
      </p:sp>
      <p:sp>
        <p:nvSpPr>
          <p:cNvPr id="11" name="Text 9"/>
          <p:cNvSpPr txBox="1"/>
          <p:nvPr/>
        </p:nvSpPr>
        <p:spPr>
          <a:xfrm>
            <a:off x="969264" y="3097530"/>
            <a:ext cx="6528816" cy="377190"/>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Append-only-Datenhaltung, externer Zeitstempel, Testat der Kontrollen durch einen Wirtschaftsprüfer.</a:t>
            </a:r>
            <a:endParaRPr lang="en-US" sz="1200" dirty="0"/>
          </a:p>
        </p:txBody>
      </p:sp>
      <p:sp>
        <p:nvSpPr>
          <p:cNvPr id="12" name="Shape 10"/>
          <p:cNvSpPr/>
          <p:nvPr/>
        </p:nvSpPr>
        <p:spPr>
          <a:xfrm>
            <a:off x="658368" y="369417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3584448"/>
            <a:ext cx="6528816" cy="422453"/>
          </a:xfrm>
          <a:prstGeom prst="rect">
            <a:avLst/>
          </a:prstGeom>
          <a:noFill/>
          <a:ln/>
        </p:spPr>
        <p:txBody>
          <a:bodyPr wrap="square" lIns="0" tIns="0" rIns="0" bIns="0" rtlCol="0" anchor="t"/>
          <a:lstStyle/>
          <a:p>
            <a:pPr algn="l" indent="0" marL="0">
              <a:lnSpc>
                <a:spcPct val="102000"/>
              </a:lnSpc>
              <a:buNone/>
            </a:pPr>
            <a:r>
              <a:rPr lang="en-US" sz="1450" b="1" dirty="0">
                <a:solidFill>
                  <a:srgbClr val="17241F"/>
                </a:solidFill>
                <a:latin typeface="Calibri" pitchFamily="34" charset="0"/>
                <a:ea typeface="Calibri" pitchFamily="34" charset="-122"/>
                <a:cs typeface="Calibri" pitchFamily="34" charset="-120"/>
              </a:rPr>
              <a:t>Schreibrechte für misstrauische Dritte — brauchen wir nicht.</a:t>
            </a:r>
            <a:endParaRPr lang="en-US" sz="1450" dirty="0"/>
          </a:p>
        </p:txBody>
      </p:sp>
      <p:sp>
        <p:nvSpPr>
          <p:cNvPr id="14" name="Text 12"/>
          <p:cNvSpPr txBox="1"/>
          <p:nvPr/>
        </p:nvSpPr>
        <p:spPr>
          <a:xfrm>
            <a:off x="969264" y="3863975"/>
            <a:ext cx="6528816" cy="570865"/>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Wir sind der einzige Schreiber. Alle anderen liefern uns Daten. Genau hier läge der Vorteil einer Chain — und er bleibt bei uns ungenutzt.</a:t>
            </a:r>
            <a:endParaRPr lang="en-US" sz="1250" dirty="0"/>
          </a:p>
        </p:txBody>
      </p:sp>
      <p:sp>
        <p:nvSpPr>
          <p:cNvPr id="15" name="Shape 13"/>
          <p:cNvSpPr/>
          <p:nvPr/>
        </p:nvSpPr>
        <p:spPr>
          <a:xfrm>
            <a:off x="658368" y="4654296"/>
            <a:ext cx="137160" cy="137160"/>
          </a:xfrm>
          <a:prstGeom prst="ellipse">
            <a:avLst/>
          </a:prstGeom>
          <a:solidFill>
            <a:srgbClr val="C9762F"/>
          </a:solidFill>
          <a:ln w="12700">
            <a:solidFill>
              <a:srgbClr val="C9762F"/>
            </a:solidFill>
            <a:prstDash val="solid"/>
          </a:ln>
        </p:spPr>
      </p:sp>
      <p:sp>
        <p:nvSpPr>
          <p:cNvPr id="16" name="Text 14"/>
          <p:cNvSpPr txBox="1"/>
          <p:nvPr/>
        </p:nvSpPr>
        <p:spPr>
          <a:xfrm>
            <a:off x="969264" y="4544568"/>
            <a:ext cx="6528816" cy="422453"/>
          </a:xfrm>
          <a:prstGeom prst="rect">
            <a:avLst/>
          </a:prstGeom>
          <a:noFill/>
          <a:ln/>
        </p:spPr>
        <p:txBody>
          <a:bodyPr wrap="square" lIns="0" tIns="0" rIns="0" bIns="0" rtlCol="0" anchor="t"/>
          <a:lstStyle/>
          <a:p>
            <a:pPr algn="l" indent="0" marL="0">
              <a:lnSpc>
                <a:spcPct val="102000"/>
              </a:lnSpc>
              <a:buNone/>
            </a:pPr>
            <a:r>
              <a:rPr lang="en-US" sz="1350" b="1" dirty="0">
                <a:solidFill>
                  <a:srgbClr val="17241F"/>
                </a:solidFill>
                <a:latin typeface="Calibri" pitchFamily="34" charset="0"/>
                <a:ea typeface="Calibri" pitchFamily="34" charset="-122"/>
                <a:cs typeface="Calibri" pitchFamily="34" charset="-120"/>
              </a:rPr>
              <a:t>Öffentliche Verifizierbarkeit ohne uns — fragt heute niemand nach.</a:t>
            </a:r>
            <a:endParaRPr lang="en-US" sz="1350" dirty="0"/>
          </a:p>
        </p:txBody>
      </p:sp>
      <p:sp>
        <p:nvSpPr>
          <p:cNvPr id="17" name="Text 15"/>
          <p:cNvSpPr txBox="1"/>
          <p:nvPr/>
        </p:nvSpPr>
        <p:spPr>
          <a:xfrm>
            <a:off x="969264" y="5017770"/>
            <a:ext cx="6528816" cy="377190"/>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Das ist die offene Frage an die Geschäftsführung, nicht an die IT.</a:t>
            </a:r>
            <a:endParaRPr lang="en-US" sz="1250" dirty="0"/>
          </a:p>
        </p:txBody>
      </p:sp>
      <p:sp>
        <p:nvSpPr>
          <p:cNvPr id="18" name="Shape 16"/>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UNSER ERGEBNIS</a:t>
            </a:r>
            <a:endParaRPr lang="en-US" sz="1050" dirty="0"/>
          </a:p>
        </p:txBody>
      </p:sp>
      <p:sp>
        <p:nvSpPr>
          <p:cNvPr id="20" name="Text 18"/>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Cambria" pitchFamily="34" charset="0"/>
                <a:ea typeface="Cambria" pitchFamily="34" charset="-122"/>
                <a:cs typeface="Cambria" pitchFamily="34" charset="-120"/>
              </a:rPr>
              <a:t>Merkle-Root immer bilden.</a:t>
            </a:r>
            <a:endParaRPr lang="en-US" sz="1400" dirty="0"/>
          </a:p>
          <a:p>
            <a:pPr algn="l" indent="0" marL="0">
              <a:lnSpc>
                <a:spcPct val="112000"/>
              </a:lnSpc>
              <a:buNone/>
            </a:pPr>
            <a:endParaRPr lang="en-US" sz="1400" dirty="0"/>
          </a:p>
          <a:p>
            <a:pPr algn="l" indent="0" marL="0">
              <a:lnSpc>
                <a:spcPct val="112000"/>
              </a:lnSpc>
              <a:buNone/>
            </a:pPr>
            <a:r>
              <a:rPr lang="en-US" sz="1400" b="1" dirty="0">
                <a:solidFill>
                  <a:srgbClr val="FFFFFF"/>
                </a:solidFill>
                <a:latin typeface="Cambria" pitchFamily="34" charset="0"/>
                <a:ea typeface="Cambria" pitchFamily="34" charset="-122"/>
                <a:cs typeface="Cambria" pitchFamily="34" charset="-120"/>
              </a:rPr>
              <a:t>Verankerungsziel austauschbar halten.</a:t>
            </a:r>
            <a:endParaRPr lang="en-US" sz="1400" dirty="0"/>
          </a:p>
          <a:p>
            <a:pPr algn="l" indent="0" marL="0">
              <a:lnSpc>
                <a:spcPct val="112000"/>
              </a:lnSpc>
              <a:buNone/>
            </a:pPr>
            <a:endParaRPr lang="en-US" sz="1400" dirty="0"/>
          </a:p>
          <a:p>
            <a:pPr algn="l" indent="0" marL="0">
              <a:lnSpc>
                <a:spcPct val="112000"/>
              </a:lnSpc>
              <a:buNone/>
            </a:pPr>
            <a:r>
              <a:rPr lang="en-US" sz="1400" b="1" dirty="0">
                <a:solidFill>
                  <a:srgbClr val="FFFFFF"/>
                </a:solidFill>
                <a:latin typeface="Cambria" pitchFamily="34" charset="0"/>
                <a:ea typeface="Cambria" pitchFamily="34" charset="-122"/>
                <a:cs typeface="Cambria" pitchFamily="34" charset="-120"/>
              </a:rPr>
              <a:t>Der Wechsel auf Hedera ist dann Konfiguration, kein Umbau.</a:t>
            </a:r>
            <a:endParaRPr lang="en-US" sz="14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Empfehlung Phase 1: Tages-Merkle-Root, qualifizierter eIDAS-Zeitstempel, zusätzlich kostenlos OpenTimestamps. Latenz bis 24 Stunden — für den EUDR-Nachweis völlig ausreichend.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DAMIT DAS ARGUMENT NICHT MISSBRAUCHT WIRD</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„Blockchain ist zu teuer" — stimmt bei uns nicht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40080"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86384" y="1901952"/>
            <a:ext cx="3173882" cy="841248"/>
          </a:xfrm>
          <a:prstGeom prst="rect">
            <a:avLst/>
          </a:prstGeom>
          <a:noFill/>
          <a:ln/>
        </p:spPr>
        <p:txBody>
          <a:bodyPr wrap="square" lIns="0" tIns="0" rIns="0" bIns="0" rtlCol="0" anchor="ctr"/>
          <a:lstStyle/>
          <a:p>
            <a:pPr algn="ctr" indent="0" marL="0">
              <a:lnSpc>
                <a:spcPct val="106000"/>
              </a:lnSpc>
              <a:buNone/>
            </a:pPr>
            <a:r>
              <a:rPr lang="en-US" sz="3400" b="1" dirty="0">
                <a:solidFill>
                  <a:srgbClr val="C9762F"/>
                </a:solidFill>
                <a:latin typeface="Cambria" pitchFamily="34" charset="0"/>
                <a:ea typeface="Cambria" pitchFamily="34" charset="-122"/>
                <a:cs typeface="Cambria" pitchFamily="34" charset="-120"/>
              </a:rPr>
              <a:t>0,0008 $</a:t>
            </a:r>
            <a:endParaRPr lang="en-US" sz="3400" dirty="0"/>
          </a:p>
        </p:txBody>
      </p:sp>
      <p:sp>
        <p:nvSpPr>
          <p:cNvPr id="8" name="Text 6"/>
          <p:cNvSpPr txBox="1"/>
          <p:nvPr/>
        </p:nvSpPr>
        <p:spPr>
          <a:xfrm>
            <a:off x="786384"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je Nachricht</a:t>
            </a:r>
            <a:endParaRPr lang="en-US" sz="1400" dirty="0"/>
          </a:p>
        </p:txBody>
      </p:sp>
      <p:sp>
        <p:nvSpPr>
          <p:cNvPr id="9" name="Text 7"/>
          <p:cNvSpPr txBox="1"/>
          <p:nvPr/>
        </p:nvSpPr>
        <p:spPr>
          <a:xfrm>
            <a:off x="822960"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Hedera Consensus Service, fixer USD-Preis seit Januar 2026 — zuvor 0,0001 $</a:t>
            </a:r>
            <a:endParaRPr lang="en-US" sz="1150" dirty="0"/>
          </a:p>
        </p:txBody>
      </p:sp>
      <p:sp>
        <p:nvSpPr>
          <p:cNvPr id="10" name="Shape 8"/>
          <p:cNvSpPr/>
          <p:nvPr/>
        </p:nvSpPr>
        <p:spPr>
          <a:xfrm>
            <a:off x="4362602"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4508906" y="1901952"/>
            <a:ext cx="3173882" cy="841248"/>
          </a:xfrm>
          <a:prstGeom prst="rect">
            <a:avLst/>
          </a:prstGeom>
          <a:noFill/>
          <a:ln/>
        </p:spPr>
        <p:txBody>
          <a:bodyPr wrap="square" lIns="0" tIns="0" rIns="0" bIns="0" rtlCol="0" anchor="ctr"/>
          <a:lstStyle/>
          <a:p>
            <a:pPr algn="ctr" indent="0" marL="0">
              <a:lnSpc>
                <a:spcPct val="106000"/>
              </a:lnSpc>
              <a:buNone/>
            </a:pPr>
            <a:r>
              <a:rPr lang="en-US" sz="3800" b="1" dirty="0">
                <a:solidFill>
                  <a:srgbClr val="C9762F"/>
                </a:solidFill>
                <a:latin typeface="Cambria" pitchFamily="34" charset="0"/>
                <a:ea typeface="Cambria" pitchFamily="34" charset="-122"/>
                <a:cs typeface="Cambria" pitchFamily="34" charset="-120"/>
              </a:rPr>
              <a:t>~400 $</a:t>
            </a:r>
            <a:endParaRPr lang="en-US" sz="3800" dirty="0"/>
          </a:p>
        </p:txBody>
      </p:sp>
      <p:sp>
        <p:nvSpPr>
          <p:cNvPr id="12" name="Text 10"/>
          <p:cNvSpPr txBox="1"/>
          <p:nvPr/>
        </p:nvSpPr>
        <p:spPr>
          <a:xfrm>
            <a:off x="4508906"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pro Jahr</a:t>
            </a:r>
            <a:endParaRPr lang="en-US" sz="1400" dirty="0"/>
          </a:p>
        </p:txBody>
      </p:sp>
      <p:sp>
        <p:nvSpPr>
          <p:cNvPr id="13" name="Text 11"/>
          <p:cNvSpPr txBox="1"/>
          <p:nvPr/>
        </p:nvSpPr>
        <p:spPr>
          <a:xfrm>
            <a:off x="4545482"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Wenn wir jedes einzelne Ereignis verankern: rund 500.000 Nachrichten im Jahr</a:t>
            </a:r>
            <a:endParaRPr lang="en-US" sz="1150" dirty="0"/>
          </a:p>
        </p:txBody>
      </p:sp>
      <p:sp>
        <p:nvSpPr>
          <p:cNvPr id="14" name="Shape 12"/>
          <p:cNvSpPr/>
          <p:nvPr/>
        </p:nvSpPr>
        <p:spPr>
          <a:xfrm>
            <a:off x="8085125"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8231429" y="1901952"/>
            <a:ext cx="3173882" cy="841248"/>
          </a:xfrm>
          <a:prstGeom prst="rect">
            <a:avLst/>
          </a:prstGeom>
          <a:noFill/>
          <a:ln/>
        </p:spPr>
        <p:txBody>
          <a:bodyPr wrap="square" lIns="0" tIns="0" rIns="0" bIns="0" rtlCol="0" anchor="ctr"/>
          <a:lstStyle/>
          <a:p>
            <a:pPr algn="ctr" indent="0" marL="0">
              <a:lnSpc>
                <a:spcPct val="106000"/>
              </a:lnSpc>
              <a:buNone/>
            </a:pPr>
            <a:r>
              <a:rPr lang="en-US" sz="3800" b="1" dirty="0">
                <a:solidFill>
                  <a:srgbClr val="C9762F"/>
                </a:solidFill>
                <a:latin typeface="Cambria" pitchFamily="34" charset="0"/>
                <a:ea typeface="Cambria" pitchFamily="34" charset="-122"/>
                <a:cs typeface="Cambria" pitchFamily="34" charset="-120"/>
              </a:rPr>
              <a:t>~0,30 $</a:t>
            </a:r>
            <a:endParaRPr lang="en-US" sz="3800" dirty="0"/>
          </a:p>
        </p:txBody>
      </p:sp>
      <p:sp>
        <p:nvSpPr>
          <p:cNvPr id="16" name="Text 14"/>
          <p:cNvSpPr txBox="1"/>
          <p:nvPr/>
        </p:nvSpPr>
        <p:spPr>
          <a:xfrm>
            <a:off x="8231429"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pro Jahr</a:t>
            </a:r>
            <a:endParaRPr lang="en-US" sz="1400" dirty="0"/>
          </a:p>
        </p:txBody>
      </p:sp>
      <p:sp>
        <p:nvSpPr>
          <p:cNvPr id="17" name="Text 15"/>
          <p:cNvSpPr txBox="1"/>
          <p:nvPr/>
        </p:nvSpPr>
        <p:spPr>
          <a:xfrm>
            <a:off x="8268005"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Wenn wir nur einen Merkle-Root je Tag verankern: 365 Nachrichten</a:t>
            </a:r>
            <a:endParaRPr lang="en-US" sz="1150" dirty="0"/>
          </a:p>
        </p:txBody>
      </p:sp>
      <p:sp>
        <p:nvSpPr>
          <p:cNvPr id="18" name="Text 16"/>
          <p:cNvSpPr txBox="1"/>
          <p:nvPr/>
        </p:nvSpPr>
        <p:spPr>
          <a:xfrm>
            <a:off x="640080" y="4114800"/>
            <a:ext cx="10911535" cy="1389888"/>
          </a:xfrm>
          <a:prstGeom prst="rect">
            <a:avLst/>
          </a:prstGeom>
          <a:noFill/>
          <a:ln/>
        </p:spPr>
        <p:txBody>
          <a:bodyPr wrap="square" lIns="0" tIns="0" rIns="0" bIns="0" rtlCol="0" anchor="t"/>
          <a:lstStyle/>
          <a:p>
            <a:pPr algn="l" indent="0" marL="0">
              <a:lnSpc>
                <a:spcPct val="110000"/>
              </a:lnSpc>
              <a:buNone/>
            </a:pPr>
            <a:r>
              <a:rPr lang="en-US" sz="1300" dirty="0">
                <a:solidFill>
                  <a:srgbClr val="17241F"/>
                </a:solidFill>
                <a:latin typeface="Calibri" pitchFamily="34" charset="0"/>
                <a:ea typeface="Calibri" pitchFamily="34" charset="-122"/>
                <a:cs typeface="Calibri" pitchFamily="34" charset="-120"/>
              </a:rPr>
              <a:t>Wer sagt, Blockchain sei zu teuer, hat nicht gerechnet. Und wer sie mit den niedrigen Transaktionskosten verkauft, argumentiert an der Kostenstruktur vorbei: Bei Option C liegen über 99 % der Kosten in Lizenz, Integration, Partner-Onboarding und Betrieb.</a:t>
            </a:r>
            <a:endParaRPr lang="en-US" sz="1300" dirty="0"/>
          </a:p>
        </p:txBody>
      </p:sp>
      <p:sp>
        <p:nvSpPr>
          <p:cNvPr id="19" name="Shape 17"/>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0" name="Text 18"/>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Das stärkste Sachargument gegen Option C ist nicht der Preis, sondern die Anbieterbindung — ein Wechsel entwertet die verankerte Historie.</a:t>
            </a:r>
            <a:endParaRPr lang="en-US" sz="1300" dirty="0"/>
          </a:p>
        </p:txBody>
      </p:sp>
      <p:sp>
        <p:nvSpPr>
          <p:cNvPr id="21" name="Text 19"/>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Hedera Blog, Preisänderung Januar 2026 [recherchiert] · Mengengerüst [geschätzt]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BEGRÜNDETE STREICHUNGEN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Was wir aus dem Referenzfall entfernen — und warum</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40080"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A6352B"/>
          </a:solidFill>
          <a:ln w="12700">
            <a:solidFill>
              <a:srgbClr val="A6352B"/>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Physische Marker für Grünkaffee</a:t>
            </a:r>
            <a:endParaRPr lang="en-US" sz="1450" dirty="0"/>
          </a:p>
        </p:txBody>
      </p:sp>
      <p:sp>
        <p:nvSpPr>
          <p:cNvPr id="10" name="Text 8"/>
          <p:cNvSpPr txBox="1"/>
          <p:nvPr/>
        </p:nvSpPr>
        <p:spPr>
          <a:xfrm>
            <a:off x="877824" y="2753614"/>
            <a:ext cx="3003194" cy="2623058"/>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Jutesäcke werden umgepackt; der Marker sagt nichts über den Inhalt. Und unser Problem ist Herkunftsnachweis, nicht Produktfälschung.</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Stattdessen: manipulationssichere Siegel plus Stabilisotopen-Stichprobe im Labor — der einzige Ansatz, der den Kaffee selbst prüft.</a:t>
            </a:r>
            <a:endParaRPr lang="en-US" sz="1200" dirty="0"/>
          </a:p>
        </p:txBody>
      </p:sp>
      <p:sp>
        <p:nvSpPr>
          <p:cNvPr id="11" name="Shape 9"/>
          <p:cNvSpPr/>
          <p:nvPr/>
        </p:nvSpPr>
        <p:spPr>
          <a:xfrm>
            <a:off x="4356506"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A6352B"/>
          </a:solidFill>
          <a:ln w="12700">
            <a:solidFill>
              <a:srgbClr val="A6352B"/>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Token-Ownership für Endkunden</a:t>
            </a:r>
            <a:endParaRPr lang="en-US" sz="1450" dirty="0"/>
          </a:p>
        </p:txBody>
      </p:sp>
      <p:sp>
        <p:nvSpPr>
          <p:cNvPr id="15" name="Text 13"/>
          <p:cNvSpPr txBox="1"/>
          <p:nvPr/>
        </p:nvSpPr>
        <p:spPr>
          <a:xfrm>
            <a:off x="4594250" y="2753614"/>
            <a:ext cx="3003194" cy="2623058"/>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Kein Kaffeekäufer möchte Eigentümer eines Tokens werden.</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Erzeugt zusätzlich wertpapier- und geldwäscherechtliche Fragen, die man ohne Not nicht aufwirft. Die Massenbilanz-Logik behalten wir — sie braucht keine Chain.</a:t>
            </a:r>
            <a:endParaRPr lang="en-US" sz="1200" dirty="0"/>
          </a:p>
        </p:txBody>
      </p:sp>
      <p:sp>
        <p:nvSpPr>
          <p:cNvPr id="16" name="Shape 14"/>
          <p:cNvSpPr/>
          <p:nvPr/>
        </p:nvSpPr>
        <p:spPr>
          <a:xfrm>
            <a:off x="8072933" y="1664208"/>
            <a:ext cx="3478682" cy="3840480"/>
          </a:xfrm>
          <a:prstGeom prst="roundRect">
            <a:avLst>
              <a:gd name="adj" fmla="val 210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A6352B"/>
          </a:solidFill>
          <a:ln w="12700">
            <a:solidFill>
              <a:srgbClr val="A6352B"/>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Workflow-Engine und Enterprise-SSO</a:t>
            </a:r>
            <a:endParaRPr lang="en-US" sz="1450" dirty="0"/>
          </a:p>
        </p:txBody>
      </p:sp>
      <p:sp>
        <p:nvSpPr>
          <p:cNvPr id="20" name="Text 18"/>
          <p:cNvSpPr txBox="1"/>
          <p:nvPr/>
        </p:nvSpPr>
        <p:spPr>
          <a:xfrm>
            <a:off x="8310677" y="2753614"/>
            <a:ext cx="3003194" cy="2623058"/>
          </a:xfrm>
          <a:prstGeom prst="rect">
            <a:avLst/>
          </a:prstGeom>
          <a:noFill/>
          <a:ln/>
        </p:spPr>
        <p:txBody>
          <a:bodyPr wrap="square" lIns="0" tIns="0" rIns="0" bIns="0" rtlCol="0" anchor="t"/>
          <a:lstStyle/>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Unsere Prozesse sind linear und wenige; eine BPMN-Engine erzeugt Modellierungsaufwand ohne Gegenwert.</a:t>
            </a:r>
            <a:endParaRPr lang="en-US" sz="1200" dirty="0"/>
          </a:p>
          <a:p>
            <a:pPr indent="0" marL="0">
              <a:lnSpc>
                <a:spcPct val="106000"/>
              </a:lnSpc>
              <a:buNone/>
            </a:pPr>
            <a:endParaRPr lang="en-US" sz="1200" dirty="0"/>
          </a:p>
          <a:p>
            <a:pPr indent="0" marL="0">
              <a:lnSpc>
                <a:spcPct val="106000"/>
              </a:lnSpc>
              <a:buNone/>
            </a:pPr>
            <a:r>
              <a:rPr lang="en-US" sz="1200" dirty="0">
                <a:solidFill>
                  <a:srgbClr val="6B7A72"/>
                </a:solidFill>
                <a:latin typeface="Calibri" pitchFamily="34" charset="0"/>
                <a:ea typeface="Calibri" pitchFamily="34" charset="-122"/>
                <a:cs typeface="Calibri" pitchFamily="34" charset="-120"/>
              </a:rPr>
              <a:t>Bei unter hundert internen Nutzenden reicht die Rechteverwaltung von ERP und Compliance-Software. Ein zusätzlicher Identitätsdienst ist eine zusätzliche Ausfallquelle.</a:t>
            </a:r>
            <a:endParaRPr lang="en-US" sz="12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Ersparnis der Streichungen: rund 165.000 bis 490.000 € einmalig. Der Nutzenverlust in einem Satz — wir können Dritten die Zeitgleichheit nicht ohne unser Zutun beweisen. Danach fragt heute niemand.</a:t>
            </a:r>
            <a:endParaRPr lang="en-US" sz="1300" dirty="0"/>
          </a:p>
        </p:txBody>
      </p:sp>
      <p:sp>
        <p:nvSpPr>
          <p:cNvPr id="23" name="Text 2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Kostenwirkung [geschätzt] · Bewertung der Marker-Alternativen [angenommen]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MASSENBILANZ</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Die Gleichung — und warum der Verlust eine Restgröße ist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58368" y="1773936"/>
            <a:ext cx="137160" cy="137160"/>
          </a:xfrm>
          <a:prstGeom prst="ellipse">
            <a:avLst/>
          </a:prstGeom>
          <a:solidFill>
            <a:srgbClr val="C9762F"/>
          </a:solidFill>
          <a:ln w="12700">
            <a:solidFill>
              <a:srgbClr val="C9762F"/>
            </a:solidFill>
            <a:prstDash val="solid"/>
          </a:ln>
        </p:spPr>
      </p:sp>
      <p:sp>
        <p:nvSpPr>
          <p:cNvPr id="7" name="Text 5"/>
          <p:cNvSpPr txBox="1"/>
          <p:nvPr/>
        </p:nvSpPr>
        <p:spPr>
          <a:xfrm>
            <a:off x="969264" y="166420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Rösten ist eins zu eins, mit 15 bis 20 Prozent Verlust</a:t>
            </a:r>
            <a:endParaRPr lang="en-US" sz="1500" dirty="0"/>
          </a:p>
        </p:txBody>
      </p:sp>
      <p:sp>
        <p:nvSpPr>
          <p:cNvPr id="8" name="Text 6"/>
          <p:cNvSpPr txBox="1"/>
          <p:nvPr/>
        </p:nvSpPr>
        <p:spPr>
          <a:xfrm>
            <a:off x="969264" y="1951482"/>
            <a:ext cx="6528816" cy="56311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Der Verlust ist keine Konstante, sondern eine Funktion von Röstgrad, Ausgangsfeuchte und Chargengröße. Ein einziger unternehmensweiter Verlustfaktor ist fachlich falsch.</a:t>
            </a:r>
            <a:endParaRPr lang="en-US" sz="1200" dirty="0"/>
          </a:p>
        </p:txBody>
      </p:sp>
      <p:sp>
        <p:nvSpPr>
          <p:cNvPr id="9" name="Shape 7"/>
          <p:cNvSpPr/>
          <p:nvPr/>
        </p:nvSpPr>
        <p:spPr>
          <a:xfrm>
            <a:off x="658368" y="2734056"/>
            <a:ext cx="137160" cy="137160"/>
          </a:xfrm>
          <a:prstGeom prst="ellipse">
            <a:avLst/>
          </a:prstGeom>
          <a:solidFill>
            <a:srgbClr val="C9762F"/>
          </a:solidFill>
          <a:ln w="12700">
            <a:solidFill>
              <a:srgbClr val="C9762F"/>
            </a:solidFill>
            <a:prstDash val="solid"/>
          </a:ln>
        </p:spPr>
      </p:sp>
      <p:sp>
        <p:nvSpPr>
          <p:cNvPr id="10" name="Text 8"/>
          <p:cNvSpPr txBox="1"/>
          <p:nvPr/>
        </p:nvSpPr>
        <p:spPr>
          <a:xfrm>
            <a:off x="969264" y="262432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Blenden ist n zu 1, mit 0,2 bis 1 Prozent Verlust</a:t>
            </a:r>
            <a:endParaRPr lang="en-US" sz="1500" dirty="0"/>
          </a:p>
        </p:txBody>
      </p:sp>
      <p:sp>
        <p:nvSpPr>
          <p:cNvPr id="11" name="Text 9"/>
          <p:cNvSpPr txBox="1"/>
          <p:nvPr/>
        </p:nvSpPr>
        <p:spPr>
          <a:xfrm>
            <a:off x="969264" y="291160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Handling und Restmengen im Mischer. Die Rezepturtabelle führt je Blendcharge eine Zeile pro Bestandteil mit Ist-Masse und Ist-Anteil.</a:t>
            </a:r>
            <a:endParaRPr lang="en-US" sz="1250" dirty="0"/>
          </a:p>
        </p:txBody>
      </p:sp>
      <p:sp>
        <p:nvSpPr>
          <p:cNvPr id="12" name="Shape 10"/>
          <p:cNvSpPr/>
          <p:nvPr/>
        </p:nvSpPr>
        <p:spPr>
          <a:xfrm>
            <a:off x="658368" y="3694176"/>
            <a:ext cx="137160" cy="137160"/>
          </a:xfrm>
          <a:prstGeom prst="ellipse">
            <a:avLst/>
          </a:prstGeom>
          <a:solidFill>
            <a:srgbClr val="C9762F"/>
          </a:solidFill>
          <a:ln w="12700">
            <a:solidFill>
              <a:srgbClr val="C9762F"/>
            </a:solidFill>
            <a:prstDash val="solid"/>
          </a:ln>
        </p:spPr>
      </p:sp>
      <p:sp>
        <p:nvSpPr>
          <p:cNvPr id="13" name="Text 11"/>
          <p:cNvSpPr txBox="1"/>
          <p:nvPr/>
        </p:nvSpPr>
        <p:spPr>
          <a:xfrm>
            <a:off x="969264" y="358444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Mahlen und Abpacken</a:t>
            </a:r>
            <a:endParaRPr lang="en-US" sz="1500" dirty="0"/>
          </a:p>
        </p:txBody>
      </p:sp>
      <p:sp>
        <p:nvSpPr>
          <p:cNvPr id="14" name="Text 12"/>
          <p:cNvSpPr txBox="1"/>
          <p:nvPr/>
        </p:nvSpPr>
        <p:spPr>
          <a:xfrm>
            <a:off x="969264" y="3871722"/>
            <a:ext cx="6528816" cy="56311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Mahlen 0,1 bis 0,5 Prozent. Kritisch ist die Mühlenspülung beim Sortenwechsel — sie wird als Ausschuss mit Grund-Code gebucht, nicht der neuen Charge zugeschlagen.</a:t>
            </a:r>
            <a:endParaRPr lang="en-US" sz="1200" dirty="0"/>
          </a:p>
        </p:txBody>
      </p:sp>
      <p:sp>
        <p:nvSpPr>
          <p:cNvPr id="15" name="Shape 13"/>
          <p:cNvSpPr/>
          <p:nvPr/>
        </p:nvSpPr>
        <p:spPr>
          <a:xfrm>
            <a:off x="658368" y="4654296"/>
            <a:ext cx="137160" cy="137160"/>
          </a:xfrm>
          <a:prstGeom prst="ellipse">
            <a:avLst/>
          </a:prstGeom>
          <a:solidFill>
            <a:srgbClr val="C9762F"/>
          </a:solidFill>
          <a:ln w="12700">
            <a:solidFill>
              <a:srgbClr val="C9762F"/>
            </a:solidFill>
            <a:prstDash val="solid"/>
          </a:ln>
        </p:spPr>
      </p:sp>
      <p:sp>
        <p:nvSpPr>
          <p:cNvPr id="16" name="Text 14"/>
          <p:cNvSpPr txBox="1"/>
          <p:nvPr/>
        </p:nvSpPr>
        <p:spPr>
          <a:xfrm>
            <a:off x="969264" y="4544568"/>
            <a:ext cx="6528816" cy="422453"/>
          </a:xfrm>
          <a:prstGeom prst="rect">
            <a:avLst/>
          </a:prstGeom>
          <a:noFill/>
          <a:ln/>
        </p:spPr>
        <p:txBody>
          <a:bodyPr wrap="square" lIns="0" tIns="0" rIns="0" bIns="0" rtlCol="0" anchor="t"/>
          <a:lstStyle/>
          <a:p>
            <a:pPr algn="l" indent="0" marL="0">
              <a:lnSpc>
                <a:spcPct val="102000"/>
              </a:lnSpc>
              <a:buNone/>
            </a:pPr>
            <a:r>
              <a:rPr lang="en-US" sz="1500" b="1" dirty="0">
                <a:solidFill>
                  <a:srgbClr val="17241F"/>
                </a:solidFill>
                <a:latin typeface="Calibri" pitchFamily="34" charset="0"/>
                <a:ea typeface="Calibri" pitchFamily="34" charset="-122"/>
                <a:cs typeface="Calibri" pitchFamily="34" charset="-120"/>
              </a:rPr>
              <a:t>Inputs werden gesperrt, nicht gelöscht</a:t>
            </a:r>
            <a:endParaRPr lang="en-US" sz="1500" dirty="0"/>
          </a:p>
        </p:txBody>
      </p:sp>
      <p:sp>
        <p:nvSpPr>
          <p:cNvPr id="17" name="Text 15"/>
          <p:cNvSpPr txBox="1"/>
          <p:nvPr/>
        </p:nvSpPr>
        <p:spPr>
          <a:xfrm>
            <a:off x="969264" y="4831842"/>
            <a:ext cx="6528816" cy="563118"/>
          </a:xfrm>
          <a:prstGeom prst="rect">
            <a:avLst/>
          </a:prstGeom>
          <a:noFill/>
          <a:ln/>
        </p:spPr>
        <p:txBody>
          <a:bodyPr wrap="square" lIns="0" tIns="0" rIns="0" bIns="0" rtlCol="0" anchor="t"/>
          <a:lstStyle/>
          <a:p>
            <a:pPr algn="l" indent="0" marL="0">
              <a:lnSpc>
                <a:spcPct val="106000"/>
              </a:lnSpc>
              <a:buNone/>
            </a:pPr>
            <a:r>
              <a:rPr lang="en-US" sz="1250" dirty="0">
                <a:solidFill>
                  <a:srgbClr val="6B7A72"/>
                </a:solidFill>
                <a:latin typeface="Calibri" pitchFamily="34" charset="0"/>
                <a:ea typeface="Calibri" pitchFamily="34" charset="-122"/>
                <a:cs typeface="Calibri" pitchFamily="34" charset="-120"/>
              </a:rPr>
              <a:t>Das übernehmen wir aus dem Referenzfall: verbrauchte Inputs erhalten den Status „locked" mit Grund-Code. Der Bestand bleibt rekonstruierbar.</a:t>
            </a:r>
            <a:endParaRPr lang="en-US" sz="1250" dirty="0"/>
          </a:p>
        </p:txBody>
      </p:sp>
      <p:sp>
        <p:nvSpPr>
          <p:cNvPr id="18" name="Shape 16"/>
          <p:cNvSpPr/>
          <p:nvPr/>
        </p:nvSpPr>
        <p:spPr>
          <a:xfrm>
            <a:off x="7863840" y="1664208"/>
            <a:ext cx="3687775" cy="3657600"/>
          </a:xfrm>
          <a:prstGeom prst="roundRect">
            <a:avLst>
              <a:gd name="adj" fmla="val 2000"/>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8156448" y="1938528"/>
            <a:ext cx="3102559" cy="256032"/>
          </a:xfrm>
          <a:prstGeom prst="rect">
            <a:avLst/>
          </a:prstGeom>
          <a:noFill/>
          <a:ln/>
        </p:spPr>
        <p:txBody>
          <a:bodyPr wrap="square" lIns="0" tIns="0" rIns="0" bIns="0" rtlCol="0" anchor="ctr"/>
          <a:lstStyle/>
          <a:p>
            <a:pPr indent="0" marL="0">
              <a:buNone/>
            </a:pPr>
            <a:r>
              <a:rPr lang="en-US" sz="1050" b="1" spc="140" kern="0" dirty="0">
                <a:solidFill>
                  <a:srgbClr val="97BC62"/>
                </a:solidFill>
                <a:latin typeface="Calibri" pitchFamily="34" charset="0"/>
                <a:ea typeface="Calibri" pitchFamily="34" charset="-122"/>
                <a:cs typeface="Calibri" pitchFamily="34" charset="-120"/>
              </a:rPr>
              <a:t>ERZWUNGENE BEDINGUNG</a:t>
            </a:r>
            <a:endParaRPr lang="en-US" sz="1050" dirty="0"/>
          </a:p>
        </p:txBody>
      </p:sp>
      <p:sp>
        <p:nvSpPr>
          <p:cNvPr id="20" name="Text 18"/>
          <p:cNvSpPr txBox="1"/>
          <p:nvPr/>
        </p:nvSpPr>
        <p:spPr>
          <a:xfrm>
            <a:off x="8156448" y="2286000"/>
            <a:ext cx="3102559" cy="2779776"/>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Σ Input</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Σ Output</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 Verlust</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 Ausschuss</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 Muster</a:t>
            </a: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 ε</a:t>
            </a:r>
            <a:endParaRPr lang="en-US" sz="1700" dirty="0"/>
          </a:p>
          <a:p>
            <a:pPr algn="l" indent="0" marL="0">
              <a:lnSpc>
                <a:spcPct val="112000"/>
              </a:lnSpc>
              <a:buNone/>
            </a:pPr>
            <a:endParaRPr lang="en-US" sz="1700" dirty="0"/>
          </a:p>
          <a:p>
            <a:pPr algn="l" indent="0" marL="0">
              <a:lnSpc>
                <a:spcPct val="112000"/>
              </a:lnSpc>
              <a:buNone/>
            </a:pPr>
            <a:r>
              <a:rPr lang="en-US" sz="1700" b="1" dirty="0">
                <a:solidFill>
                  <a:srgbClr val="FFFFFF"/>
                </a:solidFill>
                <a:latin typeface="Cambria" pitchFamily="34" charset="0"/>
                <a:ea typeface="Cambria" pitchFamily="34" charset="-122"/>
                <a:cs typeface="Cambria" pitchFamily="34" charset="-120"/>
              </a:rPr>
              <a:t>|ε| ≤ 0,5 %</a:t>
            </a:r>
            <a:endParaRPr lang="en-US" sz="1700" dirty="0"/>
          </a:p>
        </p:txBody>
      </p:sp>
      <p:sp>
        <p:nvSpPr>
          <p:cNvPr id="21" name="Shape 19"/>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2" name="Text 20"/>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Ein- und Auswaage werden gewogen. Der Verlust ist die Restgröße — nicht der Eingabewert. Das dreht den Manipulationsvektor um.</a:t>
            </a:r>
            <a:endParaRPr lang="en-US" sz="1300" dirty="0"/>
          </a:p>
        </p:txBody>
      </p:sp>
      <p:sp>
        <p:nvSpPr>
          <p:cNvPr id="23" name="Text 21"/>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Verlustbereiche [recherchiert bzw. geschätzt, je Prozess unterschiedlich]</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DER MANIPULATIONSVEKTOR</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Wie der Verlustfaktor belegt wird statt behauptet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40080"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97BC62"/>
          </a:solidFill>
          <a:ln w="12700">
            <a:solidFill>
              <a:srgbClr val="97BC62"/>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Nie deklariert, immer gemessen</a:t>
            </a:r>
            <a:endParaRPr lang="en-US" sz="1450" dirty="0"/>
          </a:p>
        </p:txBody>
      </p:sp>
      <p:sp>
        <p:nvSpPr>
          <p:cNvPr id="10" name="Text 8"/>
          <p:cNvSpPr txBox="1"/>
          <p:nvPr/>
        </p:nvSpPr>
        <p:spPr>
          <a:xfrm>
            <a:off x="877824"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Ein- und Auswaage kommen aus der angebundenen Waage. Ein manuell eingetragener Verlustfaktor ist im System schlicht nicht vorgesehen.</a:t>
            </a:r>
            <a:endParaRPr lang="en-US" sz="900" dirty="0"/>
          </a:p>
        </p:txBody>
      </p:sp>
      <p:sp>
        <p:nvSpPr>
          <p:cNvPr id="11" name="Shape 9"/>
          <p:cNvSpPr/>
          <p:nvPr/>
        </p:nvSpPr>
        <p:spPr>
          <a:xfrm>
            <a:off x="4356506"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1B3A2F"/>
          </a:solidFill>
          <a:ln w="12700">
            <a:solidFill>
              <a:srgbClr val="1B3A2F"/>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Korridor je Röstprofil</a:t>
            </a:r>
            <a:endParaRPr lang="en-US" sz="1450" dirty="0"/>
          </a:p>
        </p:txBody>
      </p:sp>
      <p:sp>
        <p:nvSpPr>
          <p:cNvPr id="15" name="Text 13"/>
          <p:cNvSpPr txBox="1"/>
          <p:nvPr/>
        </p:nvSpPr>
        <p:spPr>
          <a:xfrm>
            <a:off x="4594250"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Aus historischen Chargen wird ein Erwartungsbereich kalibriert — Median plus robuste Streuung. Ein Profil gilt erst nach etwa zwanzig Chargen als kalibriert.</a:t>
            </a:r>
            <a:endParaRPr lang="en-US" sz="900" dirty="0"/>
          </a:p>
        </p:txBody>
      </p:sp>
      <p:sp>
        <p:nvSpPr>
          <p:cNvPr id="16" name="Shape 14"/>
          <p:cNvSpPr/>
          <p:nvPr/>
        </p:nvSpPr>
        <p:spPr>
          <a:xfrm>
            <a:off x="8072933"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Ausreißer sind begründungspflichtig</a:t>
            </a:r>
            <a:endParaRPr lang="en-US" sz="1450" dirty="0"/>
          </a:p>
        </p:txBody>
      </p:sp>
      <p:sp>
        <p:nvSpPr>
          <p:cNvPr id="20" name="Text 18"/>
          <p:cNvSpPr txBox="1"/>
          <p:nvPr/>
        </p:nvSpPr>
        <p:spPr>
          <a:xfrm>
            <a:off x="8310677"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Außerhalb des Korridors wird die Charge nicht blockiert, aber sie verlangt einen Grund-Code plus Freitext. Nicht begründete Ausreißer erscheinen im Monatsbericht.</a:t>
            </a:r>
            <a:endParaRPr lang="en-US" sz="900" dirty="0"/>
          </a:p>
        </p:txBody>
      </p:sp>
      <p:sp>
        <p:nvSpPr>
          <p:cNvPr id="21" name="Shape 19"/>
          <p:cNvSpPr/>
          <p:nvPr/>
        </p:nvSpPr>
        <p:spPr>
          <a:xfrm>
            <a:off x="640080"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3858768"/>
            <a:ext cx="347472" cy="347472"/>
          </a:xfrm>
          <a:prstGeom prst="ellipse">
            <a:avLst/>
          </a:prstGeom>
          <a:solidFill>
            <a:srgbClr val="1B3A2F"/>
          </a:solidFill>
          <a:ln w="12700">
            <a:solidFill>
              <a:srgbClr val="1B3A2F"/>
            </a:solidFill>
            <a:prstDash val="solid"/>
          </a:ln>
        </p:spPr>
      </p:sp>
      <p:sp>
        <p:nvSpPr>
          <p:cNvPr id="23" name="Text 21"/>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Trend statt Einzelfall</a:t>
            </a:r>
            <a:endParaRPr lang="en-US" sz="1450" dirty="0"/>
          </a:p>
        </p:txBody>
      </p:sp>
      <p:sp>
        <p:nvSpPr>
          <p:cNvPr id="25" name="Text 23"/>
          <p:cNvSpPr txBox="1"/>
          <p:nvPr/>
        </p:nvSpPr>
        <p:spPr>
          <a:xfrm>
            <a:off x="877824"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Ein einzelner hoher Verlust ist Rauschen. Ein Trend ist das Signal. Kontrollkarte je Profil und je Schicht.</a:t>
            </a:r>
            <a:endParaRPr lang="en-US" sz="900" dirty="0"/>
          </a:p>
        </p:txBody>
      </p:sp>
      <p:sp>
        <p:nvSpPr>
          <p:cNvPr id="26" name="Shape 24"/>
          <p:cNvSpPr/>
          <p:nvPr/>
        </p:nvSpPr>
        <p:spPr>
          <a:xfrm>
            <a:off x="4356506"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3858768"/>
            <a:ext cx="347472" cy="347472"/>
          </a:xfrm>
          <a:prstGeom prst="ellipse">
            <a:avLst/>
          </a:prstGeom>
          <a:solidFill>
            <a:srgbClr val="97BC62"/>
          </a:solidFill>
          <a:ln w="12700">
            <a:solidFill>
              <a:srgbClr val="97BC62"/>
            </a:solidFill>
            <a:prstDash val="solid"/>
          </a:ln>
        </p:spPr>
      </p:sp>
      <p:sp>
        <p:nvSpPr>
          <p:cNvPr id="28" name="Text 26"/>
          <p:cNvSpPr txBox="1"/>
          <p:nvPr/>
        </p:nvSpPr>
        <p:spPr>
          <a:xfrm>
            <a:off x="4594250" y="3858768"/>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Der unabhängige Anker</a:t>
            </a:r>
            <a:endParaRPr lang="en-US" sz="1450" dirty="0"/>
          </a:p>
        </p:txBody>
      </p:sp>
      <p:sp>
        <p:nvSpPr>
          <p:cNvPr id="30" name="Text 28"/>
          <p:cNvSpPr txBox="1"/>
          <p:nvPr/>
        </p:nvSpPr>
        <p:spPr>
          <a:xfrm>
            <a:off x="4594250"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Grünkaffee-Einkauf minus Bestandsveränderung muss den Summen aller Einwaagen entsprechen. Diese Prüfung nutzt Belege außerhalb der Produktion: Rechnungen, Zollanmeldungen, Inventur.</a:t>
            </a:r>
            <a:endParaRPr lang="en-US" sz="900" dirty="0"/>
          </a:p>
        </p:txBody>
      </p:sp>
      <p:sp>
        <p:nvSpPr>
          <p:cNvPr id="31" name="Shape 29"/>
          <p:cNvSpPr/>
          <p:nvPr/>
        </p:nvSpPr>
        <p:spPr>
          <a:xfrm>
            <a:off x="8072933"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58768"/>
            <a:ext cx="347472" cy="347472"/>
          </a:xfrm>
          <a:prstGeom prst="ellipse">
            <a:avLst/>
          </a:prstGeom>
          <a:solidFill>
            <a:srgbClr val="A6352B"/>
          </a:solidFill>
          <a:ln w="12700">
            <a:solidFill>
              <a:srgbClr val="A6352B"/>
            </a:solidFill>
            <a:prstDash val="solid"/>
          </a:ln>
        </p:spPr>
      </p:sp>
      <p:sp>
        <p:nvSpPr>
          <p:cNvPr id="33" name="Text 31"/>
          <p:cNvSpPr txBox="1"/>
          <p:nvPr/>
        </p:nvSpPr>
        <p:spPr>
          <a:xfrm>
            <a:off x="8310677"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8310677"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Was übrig bleibt</a:t>
            </a:r>
            <a:endParaRPr lang="en-US" sz="1450" dirty="0"/>
          </a:p>
        </p:txBody>
      </p:sp>
      <p:sp>
        <p:nvSpPr>
          <p:cNvPr id="35" name="Text 33"/>
          <p:cNvSpPr txBox="1"/>
          <p:nvPr/>
        </p:nvSpPr>
        <p:spPr>
          <a:xfrm>
            <a:off x="8310677" y="4572000"/>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Der Angriff ist reduziert auf: die Waage manipulieren UND die Einkaufsbuchhaltung fälschen. Dann ist es Urkundenfälschung, kein Datenqualitätsproblem.</a:t>
            </a:r>
            <a:endParaRPr lang="en-US" sz="900" dirty="0"/>
          </a:p>
        </p:txBody>
      </p:sp>
      <p:sp>
        <p:nvSpPr>
          <p:cNvPr id="36" name="Shape 3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7" name="Text 3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Kein technisches System beseitigt das Risiko — auch der Referenzfall nicht, denn auch dort geht die Waagenmessung ungeprüft ins System. Unveränderlichkeit ist nicht Richtigkeit.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BLENDS</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Vier Herkünfte, eine Tüte — ohne dabei zu täuschen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4</a:t>
            </a:r>
            <a:endParaRPr lang="en-US" sz="1300" dirty="0"/>
          </a:p>
        </p:txBody>
      </p:sp>
      <p:sp>
        <p:nvSpPr>
          <p:cNvPr id="6" name="Shape 4"/>
          <p:cNvSpPr/>
          <p:nvPr/>
        </p:nvSpPr>
        <p:spPr>
          <a:xfrm>
            <a:off x="640080" y="1801368"/>
            <a:ext cx="2371268" cy="2152904"/>
          </a:xfrm>
          <a:prstGeom prst="roundRect">
            <a:avLst>
              <a:gd name="adj" fmla="val 3398"/>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68096" y="2538794"/>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n Röstchargen</a:t>
            </a:r>
            <a:endParaRPr lang="en-US" sz="1350" dirty="0"/>
          </a:p>
        </p:txBody>
      </p:sp>
      <p:sp>
        <p:nvSpPr>
          <p:cNvPr id="8" name="Text 6"/>
          <p:cNvSpPr txBox="1"/>
          <p:nvPr/>
        </p:nvSpPr>
        <p:spPr>
          <a:xfrm>
            <a:off x="768096" y="2875979"/>
            <a:ext cx="2115236" cy="950278"/>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Jede mit eigener Herkunft und gewogener Ist-Masse</a:t>
            </a:r>
            <a:endParaRPr lang="en-US" sz="1100" dirty="0"/>
          </a:p>
        </p:txBody>
      </p:sp>
      <p:sp>
        <p:nvSpPr>
          <p:cNvPr id="9" name="Text 7"/>
          <p:cNvSpPr txBox="1"/>
          <p:nvPr/>
        </p:nvSpPr>
        <p:spPr>
          <a:xfrm>
            <a:off x="3066212" y="26583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86836" y="1801368"/>
            <a:ext cx="2371268" cy="2152904"/>
          </a:xfrm>
          <a:prstGeom prst="roundRect">
            <a:avLst>
              <a:gd name="adj" fmla="val 3398"/>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3614852" y="2453577"/>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Rezepturtabelle</a:t>
            </a:r>
            <a:endParaRPr lang="en-US" sz="1350" dirty="0"/>
          </a:p>
        </p:txBody>
      </p:sp>
      <p:sp>
        <p:nvSpPr>
          <p:cNvPr id="12" name="Text 10"/>
          <p:cNvSpPr txBox="1"/>
          <p:nvPr/>
        </p:nvSpPr>
        <p:spPr>
          <a:xfrm>
            <a:off x="3614852" y="2790762"/>
            <a:ext cx="2115236" cy="1035495"/>
          </a:xfrm>
          <a:prstGeom prst="rect">
            <a:avLst/>
          </a:prstGeom>
          <a:noFill/>
          <a:ln/>
        </p:spPr>
        <p:txBody>
          <a:bodyPr wrap="square" lIns="0" tIns="0" rIns="0" bIns="0" rtlCol="0" anchor="t"/>
          <a:lstStyle/>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Je Bestandteil: Ist-Masse, Ist-Anteil, Soll-Anteil mit Toleranzband</a:t>
            </a:r>
            <a:endParaRPr lang="en-US" sz="1100" dirty="0"/>
          </a:p>
        </p:txBody>
      </p:sp>
      <p:sp>
        <p:nvSpPr>
          <p:cNvPr id="13" name="Text 11"/>
          <p:cNvSpPr txBox="1"/>
          <p:nvPr/>
        </p:nvSpPr>
        <p:spPr>
          <a:xfrm>
            <a:off x="5912968" y="26583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333592" y="1801368"/>
            <a:ext cx="2371268" cy="2152904"/>
          </a:xfrm>
          <a:prstGeom prst="roundRect">
            <a:avLst>
              <a:gd name="adj" fmla="val 3398"/>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6461608" y="2453577"/>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1B3A2F"/>
                </a:solidFill>
                <a:latin typeface="Cambria" pitchFamily="34" charset="0"/>
                <a:ea typeface="Cambria" pitchFamily="34" charset="-122"/>
                <a:cs typeface="Cambria" pitchFamily="34" charset="-120"/>
              </a:rPr>
              <a:t>Prüfung</a:t>
            </a:r>
            <a:endParaRPr lang="en-US" sz="1350" dirty="0"/>
          </a:p>
        </p:txBody>
      </p:sp>
      <p:sp>
        <p:nvSpPr>
          <p:cNvPr id="16" name="Text 14"/>
          <p:cNvSpPr txBox="1"/>
          <p:nvPr/>
        </p:nvSpPr>
        <p:spPr>
          <a:xfrm>
            <a:off x="6461608" y="2790762"/>
            <a:ext cx="2115236" cy="1035495"/>
          </a:xfrm>
          <a:prstGeom prst="rect">
            <a:avLst/>
          </a:prstGeom>
          <a:noFill/>
          <a:ln/>
        </p:spPr>
        <p:txBody>
          <a:bodyPr wrap="square" lIns="0" tIns="0" rIns="0" bIns="0" rtlCol="0" anchor="t"/>
          <a:lstStyle/>
          <a:p>
            <a:pPr algn="ctr" indent="0" marL="0">
              <a:lnSpc>
                <a:spcPct val="106000"/>
              </a:lnSpc>
              <a:buNone/>
            </a:pPr>
            <a:r>
              <a:rPr lang="en-US" sz="1100" dirty="0">
                <a:solidFill>
                  <a:srgbClr val="6B7A72"/>
                </a:solidFill>
                <a:latin typeface="Calibri" pitchFamily="34" charset="0"/>
                <a:ea typeface="Calibri" pitchFamily="34" charset="-122"/>
                <a:cs typeface="Calibri" pitchFamily="34" charset="-120"/>
              </a:rPr>
              <a:t>Σ Input = Σ Output + Verlust + Toleranz — sonst Buchung blockiert</a:t>
            </a:r>
            <a:endParaRPr lang="en-US" sz="1100" dirty="0"/>
          </a:p>
        </p:txBody>
      </p:sp>
      <p:sp>
        <p:nvSpPr>
          <p:cNvPr id="17" name="Text 15"/>
          <p:cNvSpPr txBox="1"/>
          <p:nvPr/>
        </p:nvSpPr>
        <p:spPr>
          <a:xfrm>
            <a:off x="8759723" y="2658364"/>
            <a:ext cx="365760" cy="438912"/>
          </a:xfrm>
          <a:prstGeom prst="rect">
            <a:avLst/>
          </a:prstGeom>
          <a:noFill/>
          <a:ln/>
        </p:spPr>
        <p:txBody>
          <a:bodyPr wrap="square" lIns="0" tIns="0" rIns="0" bIns="0" rtlCol="0" anchor="ctr"/>
          <a:lstStyle/>
          <a:p>
            <a:pPr algn="ctr" indent="0" marL="0">
              <a:buNone/>
            </a:pPr>
            <a:r>
              <a:rPr lang="en-US" sz="2000" b="1" dirty="0">
                <a:solidFill>
                  <a:srgbClr val="C9762F"/>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180347" y="1801368"/>
            <a:ext cx="2371268" cy="2152904"/>
          </a:xfrm>
          <a:prstGeom prst="roundRect">
            <a:avLst>
              <a:gd name="adj" fmla="val 3398"/>
            </a:avLst>
          </a:prstGeom>
          <a:solidFill>
            <a:srgbClr val="1B3A2F"/>
          </a:solidFill>
          <a:ln w="9525">
            <a:solidFill>
              <a:srgbClr val="1B3A2F"/>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9308363" y="2453577"/>
            <a:ext cx="2115236" cy="282321"/>
          </a:xfrm>
          <a:prstGeom prst="rect">
            <a:avLst/>
          </a:prstGeom>
          <a:noFill/>
          <a:ln/>
        </p:spPr>
        <p:txBody>
          <a:bodyPr wrap="square" lIns="0" tIns="0" rIns="0" bIns="0" rtlCol="0" anchor="t"/>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Produktpass</a:t>
            </a:r>
            <a:endParaRPr lang="en-US" sz="1350" dirty="0"/>
          </a:p>
        </p:txBody>
      </p:sp>
      <p:sp>
        <p:nvSpPr>
          <p:cNvPr id="20" name="Text 18"/>
          <p:cNvSpPr txBox="1"/>
          <p:nvPr/>
        </p:nvSpPr>
        <p:spPr>
          <a:xfrm>
            <a:off x="9308363" y="2790762"/>
            <a:ext cx="2115236" cy="1035495"/>
          </a:xfrm>
          <a:prstGeom prst="rect">
            <a:avLst/>
          </a:prstGeom>
          <a:noFill/>
          <a:ln/>
        </p:spPr>
        <p:txBody>
          <a:bodyPr wrap="square" lIns="0" tIns="0" rIns="0" bIns="0" rtlCol="0" anchor="t"/>
          <a:lstStyle/>
          <a:p>
            <a:pPr algn="ctr" indent="0" marL="0">
              <a:lnSpc>
                <a:spcPct val="106000"/>
              </a:lnSpc>
              <a:buNone/>
            </a:pPr>
            <a:r>
              <a:rPr lang="en-US" sz="1100" dirty="0">
                <a:solidFill>
                  <a:srgbClr val="97BC62"/>
                </a:solidFill>
                <a:latin typeface="Calibri" pitchFamily="34" charset="0"/>
                <a:ea typeface="Calibri" pitchFamily="34" charset="-122"/>
                <a:cs typeface="Calibri" pitchFamily="34" charset="-120"/>
              </a:rPr>
              <a:t>Anzeige speist sich aus dem Ist-Anteil dieser Charge, nie aus der Rezeptur</a:t>
            </a:r>
            <a:endParaRPr lang="en-US" sz="1100" dirty="0"/>
          </a:p>
        </p:txBody>
      </p:sp>
      <p:sp>
        <p:nvSpPr>
          <p:cNvPr id="21" name="Text 19"/>
          <p:cNvSpPr txBox="1"/>
          <p:nvPr/>
        </p:nvSpPr>
        <p:spPr>
          <a:xfrm>
            <a:off x="640080" y="4155440"/>
            <a:ext cx="10911535" cy="219456"/>
          </a:xfrm>
          <a:prstGeom prst="rect">
            <a:avLst/>
          </a:prstGeom>
          <a:noFill/>
          <a:ln/>
        </p:spPr>
        <p:txBody>
          <a:bodyPr wrap="square" lIns="0" tIns="0" rIns="0" bIns="0" rtlCol="0" anchor="ctr"/>
          <a:lstStyle/>
          <a:p>
            <a:pPr indent="0" marL="0">
              <a:buNone/>
            </a:pPr>
            <a:r>
              <a:rPr lang="en-US" sz="1050" b="1" spc="140" kern="0" dirty="0">
                <a:solidFill>
                  <a:srgbClr val="A6352B"/>
                </a:solidFill>
                <a:latin typeface="Calibri" pitchFamily="34" charset="0"/>
                <a:ea typeface="Calibri" pitchFamily="34" charset="-122"/>
                <a:cs typeface="Calibri" pitchFamily="34" charset="-120"/>
              </a:rPr>
              <a:t>VIER REGELN GEGEN IRREFÜHRENDE HERKUNFTSANGABEN</a:t>
            </a:r>
            <a:endParaRPr lang="en-US" sz="1050" dirty="0"/>
          </a:p>
        </p:txBody>
      </p:sp>
      <p:sp>
        <p:nvSpPr>
          <p:cNvPr id="22" name="Shape 20"/>
          <p:cNvSpPr/>
          <p:nvPr/>
        </p:nvSpPr>
        <p:spPr>
          <a:xfrm>
            <a:off x="640080" y="4429760"/>
            <a:ext cx="2577008" cy="901192"/>
          </a:xfrm>
          <a:prstGeom prst="roundRect">
            <a:avLst>
              <a:gd name="adj" fmla="val 6088"/>
            </a:avLst>
          </a:prstGeom>
          <a:solidFill>
            <a:srgbClr val="F6E4E2"/>
          </a:solidFill>
          <a:ln w="12700">
            <a:solidFill>
              <a:srgbClr val="F6E4E2"/>
            </a:solidFill>
            <a:prstDash val="solid"/>
          </a:ln>
        </p:spPr>
      </p:sp>
      <p:sp>
        <p:nvSpPr>
          <p:cNvPr id="23" name="Text 21"/>
          <p:cNvSpPr txBox="1"/>
          <p:nvPr/>
        </p:nvSpPr>
        <p:spPr>
          <a:xfrm>
            <a:off x="768096" y="4521200"/>
            <a:ext cx="2320976" cy="718312"/>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1 · Alle Bestandteile nennen, absteigend nach Anteil</a:t>
            </a:r>
            <a:endParaRPr lang="en-US" sz="1100" dirty="0"/>
          </a:p>
        </p:txBody>
      </p:sp>
      <p:sp>
        <p:nvSpPr>
          <p:cNvPr id="24" name="Shape 22"/>
          <p:cNvSpPr/>
          <p:nvPr/>
        </p:nvSpPr>
        <p:spPr>
          <a:xfrm>
            <a:off x="3418256" y="4429760"/>
            <a:ext cx="2577008" cy="901192"/>
          </a:xfrm>
          <a:prstGeom prst="roundRect">
            <a:avLst>
              <a:gd name="adj" fmla="val 6088"/>
            </a:avLst>
          </a:prstGeom>
          <a:solidFill>
            <a:srgbClr val="F6E4E2"/>
          </a:solidFill>
          <a:ln w="12700">
            <a:solidFill>
              <a:srgbClr val="F6E4E2"/>
            </a:solidFill>
            <a:prstDash val="solid"/>
          </a:ln>
        </p:spPr>
      </p:sp>
      <p:sp>
        <p:nvSpPr>
          <p:cNvPr id="25" name="Text 23"/>
          <p:cNvSpPr txBox="1"/>
          <p:nvPr/>
        </p:nvSpPr>
        <p:spPr>
          <a:xfrm>
            <a:off x="3546272" y="4521200"/>
            <a:ext cx="2320976" cy="718312"/>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2 · Ist-Werte der Charge zeigen; Anteilsbänder nur, wenn Ist-Werte fehlen — und dann gekennzeichnet</a:t>
            </a:r>
            <a:endParaRPr lang="en-US" sz="1100" dirty="0"/>
          </a:p>
        </p:txBody>
      </p:sp>
      <p:sp>
        <p:nvSpPr>
          <p:cNvPr id="26" name="Shape 24"/>
          <p:cNvSpPr/>
          <p:nvPr/>
        </p:nvSpPr>
        <p:spPr>
          <a:xfrm>
            <a:off x="6196432" y="4429760"/>
            <a:ext cx="2577008" cy="901192"/>
          </a:xfrm>
          <a:prstGeom prst="roundRect">
            <a:avLst>
              <a:gd name="adj" fmla="val 6088"/>
            </a:avLst>
          </a:prstGeom>
          <a:solidFill>
            <a:srgbClr val="F6E4E2"/>
          </a:solidFill>
          <a:ln w="12700">
            <a:solidFill>
              <a:srgbClr val="F6E4E2"/>
            </a:solidFill>
            <a:prstDash val="solid"/>
          </a:ln>
        </p:spPr>
      </p:sp>
      <p:sp>
        <p:nvSpPr>
          <p:cNvPr id="27" name="Text 25"/>
          <p:cNvSpPr txBox="1"/>
          <p:nvPr/>
        </p:nvSpPr>
        <p:spPr>
          <a:xfrm>
            <a:off x="6324448" y="4521200"/>
            <a:ext cx="2320976" cy="718312"/>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3 · Bestandteile unter 5 % nennen, nicht wegrunden</a:t>
            </a:r>
            <a:endParaRPr lang="en-US" sz="1100" dirty="0"/>
          </a:p>
        </p:txBody>
      </p:sp>
      <p:sp>
        <p:nvSpPr>
          <p:cNvPr id="28" name="Shape 26"/>
          <p:cNvSpPr/>
          <p:nvPr/>
        </p:nvSpPr>
        <p:spPr>
          <a:xfrm>
            <a:off x="8974607" y="4429760"/>
            <a:ext cx="2577008" cy="901192"/>
          </a:xfrm>
          <a:prstGeom prst="roundRect">
            <a:avLst>
              <a:gd name="adj" fmla="val 6088"/>
            </a:avLst>
          </a:prstGeom>
          <a:solidFill>
            <a:srgbClr val="F6E4E2"/>
          </a:solidFill>
          <a:ln w="12700">
            <a:solidFill>
              <a:srgbClr val="F6E4E2"/>
            </a:solidFill>
            <a:prstDash val="solid"/>
          </a:ln>
        </p:spPr>
      </p:sp>
      <p:sp>
        <p:nvSpPr>
          <p:cNvPr id="29" name="Text 27"/>
          <p:cNvSpPr txBox="1"/>
          <p:nvPr/>
        </p:nvSpPr>
        <p:spPr>
          <a:xfrm>
            <a:off x="9102623" y="4521200"/>
            <a:ext cx="2320976" cy="718312"/>
          </a:xfrm>
          <a:prstGeom prst="rect">
            <a:avLst/>
          </a:prstGeom>
          <a:noFill/>
          <a:ln/>
        </p:spPr>
        <p:txBody>
          <a:bodyPr wrap="square" lIns="0" tIns="0" rIns="0" bIns="0" rtlCol="0" anchor="t"/>
          <a:lstStyle/>
          <a:p>
            <a:pPr algn="l" indent="0" marL="0">
              <a:lnSpc>
                <a:spcPct val="106000"/>
              </a:lnSpc>
              <a:buNone/>
            </a:pPr>
            <a:r>
              <a:rPr lang="en-US" sz="1100" dirty="0">
                <a:solidFill>
                  <a:srgbClr val="A6352B"/>
                </a:solidFill>
                <a:latin typeface="Calibri" pitchFamily="34" charset="0"/>
                <a:ea typeface="Calibri" pitchFamily="34" charset="-122"/>
                <a:cs typeface="Calibri" pitchFamily="34" charset="-120"/>
              </a:rPr>
              <a:t>4 · Keine Bauerngeschichte zu einem Blend, wenn der Bauer 12 % beiträgt</a:t>
            </a:r>
            <a:endParaRPr lang="en-US" sz="1100" dirty="0"/>
          </a:p>
        </p:txBody>
      </p:sp>
      <p:sp>
        <p:nvSpPr>
          <p:cNvPr id="30" name="Shape 28"/>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1" name="Text 29"/>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Weil sich die Zusammensetzung von Charge zu Charge ändert, ist die Losnummer im QR-Code zwingend — nicht optional.</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E</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CO₂, Umsetzung und Risiken</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Bilanzierung ohne Scheingenauigkeit, ein falsifizierbarer Pilot</a:t>
            </a:r>
            <a:endParaRPr lang="en-US" sz="1500" dirty="0"/>
          </a:p>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und unsere Empfehlung</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5  ·  ca. 10 Minuten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CO₂ — DIE GRÖSSENORDNUNGEN ZUERST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Wo die Emissionen wirklich liegen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86384" y="1901952"/>
            <a:ext cx="3173882" cy="841248"/>
          </a:xfrm>
          <a:prstGeom prst="rect">
            <a:avLst/>
          </a:prstGeom>
          <a:noFill/>
          <a:ln/>
        </p:spPr>
        <p:txBody>
          <a:bodyPr wrap="square" lIns="0" tIns="0" rIns="0" bIns="0" rtlCol="0" anchor="ctr"/>
          <a:lstStyle/>
          <a:p>
            <a:pPr algn="ctr" indent="0" marL="0">
              <a:lnSpc>
                <a:spcPct val="106000"/>
              </a:lnSpc>
              <a:buNone/>
            </a:pPr>
            <a:r>
              <a:rPr lang="en-US" sz="3000" b="1" dirty="0">
                <a:solidFill>
                  <a:srgbClr val="C9762F"/>
                </a:solidFill>
                <a:latin typeface="Cambria" pitchFamily="34" charset="0"/>
                <a:ea typeface="Cambria" pitchFamily="34" charset="-122"/>
                <a:cs typeface="Cambria" pitchFamily="34" charset="-120"/>
              </a:rPr>
              <a:t>3,5–15,3</a:t>
            </a:r>
            <a:endParaRPr lang="en-US" sz="3000" dirty="0"/>
          </a:p>
        </p:txBody>
      </p:sp>
      <p:sp>
        <p:nvSpPr>
          <p:cNvPr id="8" name="Text 6"/>
          <p:cNvSpPr txBox="1"/>
          <p:nvPr/>
        </p:nvSpPr>
        <p:spPr>
          <a:xfrm>
            <a:off x="786384"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kg CO₂e je kg Grünkaffee</a:t>
            </a:r>
            <a:endParaRPr lang="en-US" sz="1400" dirty="0"/>
          </a:p>
        </p:txBody>
      </p:sp>
      <p:sp>
        <p:nvSpPr>
          <p:cNvPr id="9" name="Text 7"/>
          <p:cNvSpPr txBox="1"/>
          <p:nvPr/>
        </p:nvSpPr>
        <p:spPr>
          <a:xfrm>
            <a:off x="822960"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Spannweite nach World Coffee Research für Anbau, Aufbereitung und Transport</a:t>
            </a:r>
            <a:endParaRPr lang="en-US" sz="1150" dirty="0"/>
          </a:p>
        </p:txBody>
      </p:sp>
      <p:sp>
        <p:nvSpPr>
          <p:cNvPr id="10" name="Shape 8"/>
          <p:cNvSpPr/>
          <p:nvPr/>
        </p:nvSpPr>
        <p:spPr>
          <a:xfrm>
            <a:off x="4362602"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4508906" y="1901952"/>
            <a:ext cx="3173882" cy="841248"/>
          </a:xfrm>
          <a:prstGeom prst="rect">
            <a:avLst/>
          </a:prstGeom>
          <a:noFill/>
          <a:ln/>
        </p:spPr>
        <p:txBody>
          <a:bodyPr wrap="square" lIns="0" tIns="0" rIns="0" bIns="0" rtlCol="0" anchor="ctr"/>
          <a:lstStyle/>
          <a:p>
            <a:pPr algn="ctr" indent="0" marL="0">
              <a:lnSpc>
                <a:spcPct val="106000"/>
              </a:lnSpc>
              <a:buNone/>
            </a:pPr>
            <a:r>
              <a:rPr lang="en-US" sz="3600" b="1" dirty="0">
                <a:solidFill>
                  <a:srgbClr val="C9762F"/>
                </a:solidFill>
                <a:latin typeface="Cambria" pitchFamily="34" charset="0"/>
                <a:ea typeface="Cambria" pitchFamily="34" charset="-122"/>
                <a:cs typeface="Cambria" pitchFamily="34" charset="-120"/>
              </a:rPr>
              <a:t>&gt; 84 %</a:t>
            </a:r>
            <a:endParaRPr lang="en-US" sz="3600" dirty="0"/>
          </a:p>
        </p:txBody>
      </p:sp>
      <p:sp>
        <p:nvSpPr>
          <p:cNvPr id="12" name="Text 10"/>
          <p:cNvSpPr txBox="1"/>
          <p:nvPr/>
        </p:nvSpPr>
        <p:spPr>
          <a:xfrm>
            <a:off x="4508906"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Anteil des Anbaus</a:t>
            </a:r>
            <a:endParaRPr lang="en-US" sz="1400" dirty="0"/>
          </a:p>
        </p:txBody>
      </p:sp>
      <p:sp>
        <p:nvSpPr>
          <p:cNvPr id="13" name="Text 11"/>
          <p:cNvSpPr txBox="1"/>
          <p:nvPr/>
        </p:nvSpPr>
        <p:spPr>
          <a:xfrm>
            <a:off x="4545482"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am Cradle-to-Gate-Fußabdruck von gemahlenem Kaffee, laut LCA-Synthese</a:t>
            </a:r>
            <a:endParaRPr lang="en-US" sz="1150" dirty="0"/>
          </a:p>
        </p:txBody>
      </p:sp>
      <p:sp>
        <p:nvSpPr>
          <p:cNvPr id="14" name="Shape 12"/>
          <p:cNvSpPr/>
          <p:nvPr/>
        </p:nvSpPr>
        <p:spPr>
          <a:xfrm>
            <a:off x="8085125"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8231429" y="1901952"/>
            <a:ext cx="3173882" cy="841248"/>
          </a:xfrm>
          <a:prstGeom prst="rect">
            <a:avLst/>
          </a:prstGeom>
          <a:noFill/>
          <a:ln/>
        </p:spPr>
        <p:txBody>
          <a:bodyPr wrap="square" lIns="0" tIns="0" rIns="0" bIns="0" rtlCol="0" anchor="ctr"/>
          <a:lstStyle/>
          <a:p>
            <a:pPr algn="ctr" indent="0" marL="0">
              <a:lnSpc>
                <a:spcPct val="106000"/>
              </a:lnSpc>
              <a:buNone/>
            </a:pPr>
            <a:r>
              <a:rPr lang="en-US" sz="3000" b="1" dirty="0">
                <a:solidFill>
                  <a:srgbClr val="C9762F"/>
                </a:solidFill>
                <a:latin typeface="Cambria" pitchFamily="34" charset="0"/>
                <a:ea typeface="Cambria" pitchFamily="34" charset="-122"/>
                <a:cs typeface="Cambria" pitchFamily="34" charset="-120"/>
              </a:rPr>
              <a:t>0,45–0,59</a:t>
            </a:r>
            <a:endParaRPr lang="en-US" sz="3000" dirty="0"/>
          </a:p>
        </p:txBody>
      </p:sp>
      <p:sp>
        <p:nvSpPr>
          <p:cNvPr id="16" name="Text 14"/>
          <p:cNvSpPr txBox="1"/>
          <p:nvPr/>
        </p:nvSpPr>
        <p:spPr>
          <a:xfrm>
            <a:off x="8231429"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kg CO₂e je kg Röstkaffee</a:t>
            </a:r>
            <a:endParaRPr lang="en-US" sz="1400" dirty="0"/>
          </a:p>
        </p:txBody>
      </p:sp>
      <p:sp>
        <p:nvSpPr>
          <p:cNvPr id="17" name="Text 15"/>
          <p:cNvSpPr txBox="1"/>
          <p:nvPr/>
        </p:nvSpPr>
        <p:spPr>
          <a:xfrm>
            <a:off x="8268005"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Der gesamte Röstprozess. Rund 79 % davon entfallen auf den Brennstoff</a:t>
            </a:r>
            <a:endParaRPr lang="en-US" sz="1150" dirty="0"/>
          </a:p>
        </p:txBody>
      </p:sp>
      <p:sp>
        <p:nvSpPr>
          <p:cNvPr id="18" name="Text 16"/>
          <p:cNvSpPr txBox="1"/>
          <p:nvPr/>
        </p:nvSpPr>
        <p:spPr>
          <a:xfrm>
            <a:off x="640080" y="4114800"/>
            <a:ext cx="10911535" cy="2139696"/>
          </a:xfrm>
          <a:prstGeom prst="rect">
            <a:avLst/>
          </a:prstGeom>
          <a:noFill/>
          <a:ln/>
        </p:spPr>
        <p:txBody>
          <a:bodyPr wrap="square" lIns="0" tIns="0" rIns="0" bIns="0" rtlCol="0" anchor="t"/>
          <a:lstStyle/>
          <a:p>
            <a:pPr algn="l" indent="0" marL="0">
              <a:lnSpc>
                <a:spcPct val="110000"/>
              </a:lnSpc>
              <a:buNone/>
            </a:pPr>
            <a:r>
              <a:rPr lang="en-US" sz="1300" dirty="0">
                <a:solidFill>
                  <a:srgbClr val="17241F"/>
                </a:solidFill>
                <a:latin typeface="Calibri" pitchFamily="34" charset="0"/>
                <a:ea typeface="Calibri" pitchFamily="34" charset="-122"/>
                <a:cs typeface="Calibri" pitchFamily="34" charset="-120"/>
              </a:rPr>
              <a:t>Lesen Sie diese drei Zahlen zusammen: Die Spannweite des Grünkaffeewerts — Faktor 4,4 zwischen 3,5 und 15,3 — ist größer als unser gesamter Scope 1 und 2 zusammengenommen. Präzision bei uns im Haus verändert das Gesamtergebnis kaum; die Wahl des Emissionsfaktors für den Anbau verändert es massiv.</a:t>
            </a:r>
            <a:endParaRPr lang="en-US" sz="1300" dirty="0"/>
          </a:p>
        </p:txBody>
      </p:sp>
      <p:sp>
        <p:nvSpPr>
          <p:cNvPr id="19" name="Text 17"/>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World Coffee Research · LCA-Synthese ScienceDirect · Röstprozess-LCA [recherchiert]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WAS MESSBAR IST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Primärdaten dort, wo sie tatsächlich verfügbar sind</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5327752" cy="3840480"/>
          </a:xfrm>
          <a:prstGeom prst="roundRect">
            <a:avLst>
              <a:gd name="adj" fmla="val 1905"/>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640080" y="1664208"/>
            <a:ext cx="5327752" cy="804672"/>
          </a:xfrm>
          <a:prstGeom prst="roundRect">
            <a:avLst>
              <a:gd name="adj" fmla="val 9091"/>
            </a:avLst>
          </a:prstGeom>
          <a:solidFill>
            <a:srgbClr val="1B3A2F"/>
          </a:solidFill>
          <a:ln w="12700">
            <a:solidFill>
              <a:srgbClr val="1B3A2F"/>
            </a:solidFill>
            <a:prstDash val="solid"/>
          </a:ln>
        </p:spPr>
      </p:sp>
      <p:sp>
        <p:nvSpPr>
          <p:cNvPr id="8" name="Text 6"/>
          <p:cNvSpPr txBox="1"/>
          <p:nvPr/>
        </p:nvSpPr>
        <p:spPr>
          <a:xfrm>
            <a:off x="841248"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Scope 1 und 2 — messbar</a:t>
            </a:r>
            <a:endParaRPr lang="en-US" sz="1500" dirty="0"/>
          </a:p>
        </p:txBody>
      </p:sp>
      <p:sp>
        <p:nvSpPr>
          <p:cNvPr id="9" name="Text 7"/>
          <p:cNvSpPr txBox="1"/>
          <p:nvPr/>
        </p:nvSpPr>
        <p:spPr>
          <a:xfrm>
            <a:off x="841248"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unsere eigene Rösterei</a:t>
            </a:r>
            <a:endParaRPr lang="en-US" sz="1100" dirty="0"/>
          </a:p>
        </p:txBody>
      </p:sp>
      <p:sp>
        <p:nvSpPr>
          <p:cNvPr id="10" name="Text 8"/>
          <p:cNvSpPr txBox="1"/>
          <p:nvPr/>
        </p:nvSpPr>
        <p:spPr>
          <a:xfrm>
            <a:off x="841248" y="2615184"/>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Rösterbrenner: Impulsgaszähler, idealerweise je Maschine — Zählerstand bei Chargenstart und -ende</a:t>
            </a:r>
            <a:endParaRPr lang="en-US" sz="1200" dirty="0"/>
          </a:p>
        </p:txBody>
      </p:sp>
      <p:sp>
        <p:nvSpPr>
          <p:cNvPr id="11" name="Text 9"/>
          <p:cNvSpPr txBox="1"/>
          <p:nvPr/>
        </p:nvSpPr>
        <p:spPr>
          <a:xfrm>
            <a:off x="841248" y="3167482"/>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Nachverbrenner: läuft auch zwischen Chargen. Leerlauf wird über die Tagesproduktion umgelegt</a:t>
            </a:r>
            <a:endParaRPr lang="en-US" sz="1200" dirty="0"/>
          </a:p>
        </p:txBody>
      </p:sp>
      <p:sp>
        <p:nvSpPr>
          <p:cNvPr id="12" name="Text 10"/>
          <p:cNvSpPr txBox="1"/>
          <p:nvPr/>
        </p:nvSpPr>
        <p:spPr>
          <a:xfrm>
            <a:off x="841248" y="3719779"/>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Strom: Unterzähler je Maschine, sonst Allokation über Betriebsstunden</a:t>
            </a:r>
            <a:endParaRPr lang="en-US" sz="1200" dirty="0"/>
          </a:p>
        </p:txBody>
      </p:sp>
      <p:sp>
        <p:nvSpPr>
          <p:cNvPr id="13" name="Text 11"/>
          <p:cNvSpPr txBox="1"/>
          <p:nvPr/>
        </p:nvSpPr>
        <p:spPr>
          <a:xfrm>
            <a:off x="841248" y="4272077"/>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Zwei Werte parallel führen: marktbasiert und standortbasiert</a:t>
            </a:r>
            <a:endParaRPr lang="en-US" sz="1200" dirty="0"/>
          </a:p>
        </p:txBody>
      </p:sp>
      <p:sp>
        <p:nvSpPr>
          <p:cNvPr id="14" name="Text 12"/>
          <p:cNvSpPr txBox="1"/>
          <p:nvPr/>
        </p:nvSpPr>
        <p:spPr>
          <a:xfrm>
            <a:off x="841248" y="4824374"/>
            <a:ext cx="4925416" cy="49743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Chargengenau — aber nur mit nachgerüsteten Zählern</a:t>
            </a:r>
            <a:endParaRPr lang="en-US" sz="1250" dirty="0"/>
          </a:p>
        </p:txBody>
      </p:sp>
      <p:sp>
        <p:nvSpPr>
          <p:cNvPr id="15" name="Shape 13"/>
          <p:cNvSpPr/>
          <p:nvPr/>
        </p:nvSpPr>
        <p:spPr>
          <a:xfrm>
            <a:off x="6223864" y="1664208"/>
            <a:ext cx="5327752" cy="3840480"/>
          </a:xfrm>
          <a:prstGeom prst="roundRect">
            <a:avLst>
              <a:gd name="adj" fmla="val 1905"/>
            </a:avLst>
          </a:prstGeom>
          <a:solidFill>
            <a:srgbClr val="FFFFFF"/>
          </a:solidFill>
          <a:ln w="9525">
            <a:solidFill>
              <a:srgbClr val="DDE3DE"/>
            </a:solidFill>
            <a:prstDash val="solid"/>
          </a:ln>
        </p:spPr>
      </p:sp>
      <p:sp>
        <p:nvSpPr>
          <p:cNvPr id="16" name="Shape 14"/>
          <p:cNvSpPr/>
          <p:nvPr/>
        </p:nvSpPr>
        <p:spPr>
          <a:xfrm>
            <a:off x="6223864" y="1664208"/>
            <a:ext cx="5327752" cy="804672"/>
          </a:xfrm>
          <a:prstGeom prst="roundRect">
            <a:avLst>
              <a:gd name="adj" fmla="val 9091"/>
            </a:avLst>
          </a:prstGeom>
          <a:solidFill>
            <a:srgbClr val="DDE3DE"/>
          </a:solidFill>
          <a:ln w="12700">
            <a:solidFill>
              <a:srgbClr val="DDE3DE"/>
            </a:solidFill>
            <a:prstDash val="solid"/>
          </a:ln>
        </p:spPr>
      </p:sp>
      <p:sp>
        <p:nvSpPr>
          <p:cNvPr id="17" name="Text 15"/>
          <p:cNvSpPr txBox="1"/>
          <p:nvPr/>
        </p:nvSpPr>
        <p:spPr>
          <a:xfrm>
            <a:off x="6425032"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Scope 3 — überwiegend geschätzt</a:t>
            </a:r>
            <a:endParaRPr lang="en-US" sz="1500" dirty="0"/>
          </a:p>
        </p:txBody>
      </p:sp>
      <p:sp>
        <p:nvSpPr>
          <p:cNvPr id="18" name="Text 16"/>
          <p:cNvSpPr txBox="1"/>
          <p:nvPr/>
        </p:nvSpPr>
        <p:spPr>
          <a:xfrm>
            <a:off x="6425032"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der Löwenanteil</a:t>
            </a:r>
            <a:endParaRPr lang="en-US" sz="1100" dirty="0"/>
          </a:p>
        </p:txBody>
      </p:sp>
      <p:sp>
        <p:nvSpPr>
          <p:cNvPr id="19" name="Text 17"/>
          <p:cNvSpPr txBox="1"/>
          <p:nvPr/>
        </p:nvSpPr>
        <p:spPr>
          <a:xfrm>
            <a:off x="6425032" y="2615184"/>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Anbau und Aufbereitung: Emissionsfaktor je Land, Anbausystem und Aufbereitung, mit Unsicherheitsband</a:t>
            </a:r>
            <a:endParaRPr lang="en-US" sz="1200" dirty="0"/>
          </a:p>
        </p:txBody>
      </p:sp>
      <p:sp>
        <p:nvSpPr>
          <p:cNvPr id="20" name="Text 18"/>
          <p:cNvSpPr txBox="1"/>
          <p:nvPr/>
        </p:nvSpPr>
        <p:spPr>
          <a:xfrm>
            <a:off x="6425032" y="3167482"/>
            <a:ext cx="4925416" cy="497434"/>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Seetransport: Primärdaten liegen vor — Container, Route, Gewicht aus unseren eigenen Frachtpapieren. Also rechnen, nicht schätzen</a:t>
            </a:r>
            <a:endParaRPr lang="en-US" sz="1100" dirty="0"/>
          </a:p>
        </p:txBody>
      </p:sp>
      <p:sp>
        <p:nvSpPr>
          <p:cNvPr id="21" name="Text 19"/>
          <p:cNvSpPr txBox="1"/>
          <p:nvPr/>
        </p:nvSpPr>
        <p:spPr>
          <a:xfrm>
            <a:off x="6425032" y="3719779"/>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Verpackung: Herstellerangaben anfordern — hier ist Verbesserung realistisch</a:t>
            </a:r>
            <a:endParaRPr lang="en-US" sz="1200" dirty="0"/>
          </a:p>
        </p:txBody>
      </p:sp>
      <p:sp>
        <p:nvSpPr>
          <p:cNvPr id="22" name="Text 20"/>
          <p:cNvSpPr txBox="1"/>
          <p:nvPr/>
        </p:nvSpPr>
        <p:spPr>
          <a:xfrm>
            <a:off x="6425032" y="4272077"/>
            <a:ext cx="4925416" cy="497434"/>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Nutzungsphase beim Kunden: erheblich, und vollständig außerhalb unserer Kontrolle</a:t>
            </a:r>
            <a:endParaRPr lang="en-US" sz="1200" dirty="0"/>
          </a:p>
        </p:txBody>
      </p:sp>
      <p:sp>
        <p:nvSpPr>
          <p:cNvPr id="23" name="Text 21"/>
          <p:cNvSpPr txBox="1"/>
          <p:nvPr/>
        </p:nvSpPr>
        <p:spPr>
          <a:xfrm>
            <a:off x="6425032" y="4824374"/>
            <a:ext cx="4925416" cy="497434"/>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Konsistenz ist wichtiger als Genauigkeit</a:t>
            </a:r>
            <a:endParaRPr lang="en-US" sz="1250" dirty="0"/>
          </a:p>
        </p:txBody>
      </p:sp>
      <p:sp>
        <p:nvSpPr>
          <p:cNvPr id="24" name="Shape 22"/>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5" name="Text 23"/>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Faktorquelle und -version werden je Berechnung mitgespeichert. Ein jährlich gewechselter Faktor macht jede Aussage über Fortschritt unmöglich.</a:t>
            </a:r>
            <a:endParaRPr lang="en-US" sz="1300" dirty="0"/>
          </a:p>
        </p:txBody>
      </p:sp>
      <p:sp>
        <p:nvSpPr>
          <p:cNvPr id="26" name="Text 24"/>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Methodik nach GHG Protocol · Instrumentierungsaufwand [geschätzt]</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GEGEN SCHEINGENAUIGKEIT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Fünf Regeln, die im System stehen — nicht im Redaktionsleitfaden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1B3A2F"/>
          </a:solidFill>
          <a:ln w="12700">
            <a:solidFill>
              <a:srgbClr val="1B3A2F"/>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Keine Nachkommastelle ohne Deckung</a:t>
            </a:r>
            <a:endParaRPr lang="en-US" sz="1450" dirty="0"/>
          </a:p>
        </p:txBody>
      </p:sp>
      <p:sp>
        <p:nvSpPr>
          <p:cNvPr id="10" name="Text 8"/>
          <p:cNvSpPr txBox="1"/>
          <p:nvPr/>
        </p:nvSpPr>
        <p:spPr>
          <a:xfrm>
            <a:off x="877824"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Bei einer Spanne von 3,5 bis 15,3 kg ist die Ausgabe „7,43 kg CO₂e pro kg" unseriös. Ausgabe als Bereich oder gerundet mit Bandbreitenangabe.</a:t>
            </a:r>
            <a:endParaRPr lang="en-US" sz="900" dirty="0"/>
          </a:p>
        </p:txBody>
      </p:sp>
      <p:sp>
        <p:nvSpPr>
          <p:cNvPr id="11" name="Shape 9"/>
          <p:cNvSpPr/>
          <p:nvPr/>
        </p:nvSpPr>
        <p:spPr>
          <a:xfrm>
            <a:off x="4356506"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94250" y="1828800"/>
            <a:ext cx="347472" cy="347472"/>
          </a:xfrm>
          <a:prstGeom prst="ellipse">
            <a:avLst/>
          </a:prstGeom>
          <a:solidFill>
            <a:srgbClr val="97BC62"/>
          </a:solidFill>
          <a:ln w="12700">
            <a:solidFill>
              <a:srgbClr val="97BC62"/>
            </a:solidFill>
            <a:prstDash val="solid"/>
          </a:ln>
        </p:spPr>
      </p:sp>
      <p:sp>
        <p:nvSpPr>
          <p:cNvPr id="13" name="Text 11"/>
          <p:cNvSpPr txBox="1"/>
          <p:nvPr/>
        </p:nvSpPr>
        <p:spPr>
          <a:xfrm>
            <a:off x="4594250" y="1828800"/>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94250"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Primär und sekundär getrennt ausweisen</a:t>
            </a:r>
            <a:endParaRPr lang="en-US" sz="1450" dirty="0"/>
          </a:p>
        </p:txBody>
      </p:sp>
      <p:sp>
        <p:nvSpPr>
          <p:cNvPr id="15" name="Text 13"/>
          <p:cNvSpPr txBox="1"/>
          <p:nvPr/>
        </p:nvSpPr>
        <p:spPr>
          <a:xfrm>
            <a:off x="4594250" y="2753614"/>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Jede CO₂-Position trägt eine Stufe: gemessen, gerechnet oder geschätzt. Das ist das direkte Gegenstück zum Evidence Grading.</a:t>
            </a:r>
            <a:endParaRPr lang="en-US" sz="900" dirty="0"/>
          </a:p>
        </p:txBody>
      </p:sp>
      <p:sp>
        <p:nvSpPr>
          <p:cNvPr id="16" name="Shape 14"/>
          <p:cNvSpPr/>
          <p:nvPr/>
        </p:nvSpPr>
        <p:spPr>
          <a:xfrm>
            <a:off x="8072933" y="1664208"/>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828800"/>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310677"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10677" y="2231136"/>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Allokationen kennzeichnen</a:t>
            </a:r>
            <a:endParaRPr lang="en-US" sz="1450" dirty="0"/>
          </a:p>
        </p:txBody>
      </p:sp>
      <p:sp>
        <p:nvSpPr>
          <p:cNvPr id="20" name="Text 18"/>
          <p:cNvSpPr txBox="1"/>
          <p:nvPr/>
        </p:nvSpPr>
        <p:spPr>
          <a:xfrm>
            <a:off x="8310677" y="2542032"/>
            <a:ext cx="3003194"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Der umgelegte Nachverbrenner-Leerlauf ist keine Messung — und darf im Ergebnis nicht so aussehen.</a:t>
            </a:r>
            <a:endParaRPr lang="en-US" sz="900" dirty="0"/>
          </a:p>
        </p:txBody>
      </p:sp>
      <p:sp>
        <p:nvSpPr>
          <p:cNvPr id="21" name="Shape 19"/>
          <p:cNvSpPr/>
          <p:nvPr/>
        </p:nvSpPr>
        <p:spPr>
          <a:xfrm>
            <a:off x="640080"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877824" y="3858768"/>
            <a:ext cx="347472" cy="347472"/>
          </a:xfrm>
          <a:prstGeom prst="ellipse">
            <a:avLst/>
          </a:prstGeom>
          <a:solidFill>
            <a:srgbClr val="A6352B"/>
          </a:solidFill>
          <a:ln w="12700">
            <a:solidFill>
              <a:srgbClr val="A6352B"/>
            </a:solidFill>
            <a:prstDash val="solid"/>
          </a:ln>
        </p:spPr>
      </p:sp>
      <p:sp>
        <p:nvSpPr>
          <p:cNvPr id="23" name="Text 21"/>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Keine Kompensation in derselben Zahl</a:t>
            </a:r>
            <a:endParaRPr lang="en-US" sz="1450" dirty="0"/>
          </a:p>
        </p:txBody>
      </p:sp>
      <p:sp>
        <p:nvSpPr>
          <p:cNvPr id="25" name="Text 23"/>
          <p:cNvSpPr txBox="1"/>
          <p:nvPr/>
        </p:nvSpPr>
        <p:spPr>
          <a:xfrm>
            <a:off x="877824"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Zertifikate werden getrennt ausgewiesen, nie vom Fußabdruck abgezogen. Das Wort „klimaneutral" erscheint im Produktpass nicht.</a:t>
            </a:r>
            <a:endParaRPr lang="en-US" sz="900" dirty="0"/>
          </a:p>
        </p:txBody>
      </p:sp>
      <p:sp>
        <p:nvSpPr>
          <p:cNvPr id="26" name="Shape 24"/>
          <p:cNvSpPr/>
          <p:nvPr/>
        </p:nvSpPr>
        <p:spPr>
          <a:xfrm>
            <a:off x="4356506"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94250" y="3858768"/>
            <a:ext cx="347472" cy="347472"/>
          </a:xfrm>
          <a:prstGeom prst="ellipse">
            <a:avLst/>
          </a:prstGeom>
          <a:solidFill>
            <a:srgbClr val="1B3A2F"/>
          </a:solidFill>
          <a:ln w="12700">
            <a:solidFill>
              <a:srgbClr val="1B3A2F"/>
            </a:solidFill>
            <a:prstDash val="solid"/>
          </a:ln>
        </p:spPr>
      </p:sp>
      <p:sp>
        <p:nvSpPr>
          <p:cNvPr id="28" name="Text 26"/>
          <p:cNvSpPr txBox="1"/>
          <p:nvPr/>
        </p:nvSpPr>
        <p:spPr>
          <a:xfrm>
            <a:off x="4594250"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94250"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Nutzungsphase nennen oder weglassen</a:t>
            </a:r>
            <a:endParaRPr lang="en-US" sz="1450" dirty="0"/>
          </a:p>
        </p:txBody>
      </p:sp>
      <p:sp>
        <p:nvSpPr>
          <p:cNvPr id="30" name="Text 28"/>
          <p:cNvSpPr txBox="1"/>
          <p:nvPr/>
        </p:nvSpPr>
        <p:spPr>
          <a:xfrm>
            <a:off x="4594250"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Nie stillschweigend ausklammern, wenn die Zahl als „Fußabdruck einer Tasse" kommuniziert wird. Die Zubereitung beim Kunden ist erheblich.</a:t>
            </a:r>
            <a:endParaRPr lang="en-US" sz="900" dirty="0"/>
          </a:p>
        </p:txBody>
      </p:sp>
      <p:sp>
        <p:nvSpPr>
          <p:cNvPr id="31" name="Shape 29"/>
          <p:cNvSpPr/>
          <p:nvPr/>
        </p:nvSpPr>
        <p:spPr>
          <a:xfrm>
            <a:off x="8072933" y="3694176"/>
            <a:ext cx="3478682"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58768"/>
            <a:ext cx="347472" cy="347472"/>
          </a:xfrm>
          <a:prstGeom prst="ellipse">
            <a:avLst/>
          </a:prstGeom>
          <a:solidFill>
            <a:srgbClr val="1B3A2F"/>
          </a:solidFill>
          <a:ln w="12700">
            <a:solidFill>
              <a:srgbClr val="1B3A2F"/>
            </a:solidFill>
            <a:prstDash val="solid"/>
          </a:ln>
        </p:spPr>
      </p:sp>
      <p:sp>
        <p:nvSpPr>
          <p:cNvPr id="33" name="Text 31"/>
          <p:cNvSpPr txBox="1"/>
          <p:nvPr/>
        </p:nvSpPr>
        <p:spPr>
          <a:xfrm>
            <a:off x="8310677"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8310677" y="4261104"/>
            <a:ext cx="3003194" cy="457200"/>
          </a:xfrm>
          <a:prstGeom prst="rect">
            <a:avLst/>
          </a:prstGeom>
          <a:noFill/>
          <a:ln/>
        </p:spPr>
        <p:txBody>
          <a:bodyPr wrap="square" lIns="0" tIns="0" rIns="0" bIns="0" rtlCol="0" anchor="t"/>
          <a:lstStyle/>
          <a:p>
            <a:pPr indent="0" marL="0">
              <a:lnSpc>
                <a:spcPct val="100000"/>
              </a:lnSpc>
              <a:buNone/>
            </a:pPr>
            <a:r>
              <a:rPr lang="en-US" sz="1450" b="1" dirty="0">
                <a:solidFill>
                  <a:srgbClr val="1B3A2F"/>
                </a:solidFill>
                <a:latin typeface="Cambria" pitchFamily="34" charset="0"/>
                <a:ea typeface="Cambria" pitchFamily="34" charset="-122"/>
                <a:cs typeface="Cambria" pitchFamily="34" charset="-120"/>
              </a:rPr>
              <a:t>Was daraus im Produktpass steht</a:t>
            </a:r>
            <a:endParaRPr lang="en-US" sz="1450" dirty="0"/>
          </a:p>
        </p:txBody>
      </p:sp>
      <p:sp>
        <p:nvSpPr>
          <p:cNvPr id="35" name="Text 33"/>
          <p:cNvSpPr txBox="1"/>
          <p:nvPr/>
        </p:nvSpPr>
        <p:spPr>
          <a:xfrm>
            <a:off x="8310677" y="4783582"/>
            <a:ext cx="3003194" cy="593090"/>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„ca. 6–13 kg CO₂e je kg Röstkaffee. Davon in unserer Rösterei gemessen: 0,52 kg. Der Rest beruht auf Durchschnittswerten der Fachliteratur, nicht auf Messungen bei unseren Erzeugern."</a:t>
            </a:r>
            <a:endParaRPr lang="en-US" sz="900" dirty="0"/>
          </a:p>
        </p:txBody>
      </p:sp>
      <p:sp>
        <p:nvSpPr>
          <p:cNvPr id="36" name="Shape 3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37" name="Text 3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Weniger verkaufsstark als „2,1 kg — klimaneutral", und um Größenordnungen ehrlicher. Es ist außerdem das Einzige, was einer Prüfung auf irreführende Umweltaussagen standhält.</a:t>
            </a:r>
            <a:endParaRPr lang="en-US" sz="1300" dirty="0"/>
          </a:p>
        </p:txBody>
      </p:sp>
      <p:sp>
        <p:nvSpPr>
          <p:cNvPr id="38" name="Text 36"/>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Anforderung an substantiierte Umweltaussagen u. a. aus RL (EU) 2024/825 und UWG [angenommen]</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DER PILOT</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Vier Hypothesen, die der Pilot widerlegen kann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5336896"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877824" y="1828800"/>
            <a:ext cx="347472" cy="347472"/>
          </a:xfrm>
          <a:prstGeom prst="ellipse">
            <a:avLst/>
          </a:prstGeom>
          <a:solidFill>
            <a:srgbClr val="1B3A2F"/>
          </a:solidFill>
          <a:ln w="12700">
            <a:solidFill>
              <a:srgbClr val="1B3A2F"/>
            </a:solidFill>
            <a:prstDash val="solid"/>
          </a:ln>
        </p:spPr>
      </p:sp>
      <p:sp>
        <p:nvSpPr>
          <p:cNvPr id="8" name="Text 6"/>
          <p:cNvSpPr txBox="1"/>
          <p:nvPr/>
        </p:nvSpPr>
        <p:spPr>
          <a:xfrm>
            <a:off x="87782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9" name="Text 7"/>
          <p:cNvSpPr txBox="1"/>
          <p:nvPr/>
        </p:nvSpPr>
        <p:spPr>
          <a:xfrm>
            <a:off x="877824" y="2231136"/>
            <a:ext cx="4861408"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Datenkette</a:t>
            </a:r>
            <a:endParaRPr lang="en-US" sz="1500" dirty="0"/>
          </a:p>
        </p:txBody>
      </p:sp>
      <p:sp>
        <p:nvSpPr>
          <p:cNvPr id="10" name="Text 8"/>
          <p:cNvSpPr txBox="1"/>
          <p:nvPr/>
        </p:nvSpPr>
        <p:spPr>
          <a:xfrm>
            <a:off x="877824" y="2542032"/>
            <a:ext cx="4861408"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Für mindestens 95 % der Masse einer Röstcharge ist die Kette bis zur Parzelle rekonstruierbar.</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Erwartung: teilweise widerlegt — bis zur Kooperative ja, bis zur Parzelle nicht.</a:t>
            </a:r>
            <a:endParaRPr lang="en-US" sz="900" dirty="0"/>
          </a:p>
        </p:txBody>
      </p:sp>
      <p:sp>
        <p:nvSpPr>
          <p:cNvPr id="11" name="Shape 9"/>
          <p:cNvSpPr/>
          <p:nvPr/>
        </p:nvSpPr>
        <p:spPr>
          <a:xfrm>
            <a:off x="6214720" y="1664208"/>
            <a:ext cx="5336896"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6452464" y="1828800"/>
            <a:ext cx="347472" cy="347472"/>
          </a:xfrm>
          <a:prstGeom prst="ellipse">
            <a:avLst/>
          </a:prstGeom>
          <a:solidFill>
            <a:srgbClr val="A6352B"/>
          </a:solidFill>
          <a:ln w="12700">
            <a:solidFill>
              <a:srgbClr val="A6352B"/>
            </a:solidFill>
            <a:prstDash val="solid"/>
          </a:ln>
        </p:spPr>
      </p:sp>
      <p:sp>
        <p:nvSpPr>
          <p:cNvPr id="13" name="Text 11"/>
          <p:cNvSpPr txBox="1"/>
          <p:nvPr/>
        </p:nvSpPr>
        <p:spPr>
          <a:xfrm>
            <a:off x="6452464"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4" name="Text 12"/>
          <p:cNvSpPr txBox="1"/>
          <p:nvPr/>
        </p:nvSpPr>
        <p:spPr>
          <a:xfrm>
            <a:off x="6452464" y="2231136"/>
            <a:ext cx="4861408"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Betriebliche Tragfähigkeit</a:t>
            </a:r>
            <a:endParaRPr lang="en-US" sz="1500" dirty="0"/>
          </a:p>
        </p:txBody>
      </p:sp>
      <p:sp>
        <p:nvSpPr>
          <p:cNvPr id="15" name="Text 13"/>
          <p:cNvSpPr txBox="1"/>
          <p:nvPr/>
        </p:nvSpPr>
        <p:spPr>
          <a:xfrm>
            <a:off x="6452464" y="2542032"/>
            <a:ext cx="4861408"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Erfassung höchstens zwei Minuten je Charge, Quote nach acht Wochen ohne Nachfassen bei 95 %.</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Scheitert am häufigsten, wird am seltensten gemessen.</a:t>
            </a:r>
            <a:endParaRPr lang="en-US" sz="900" dirty="0"/>
          </a:p>
        </p:txBody>
      </p:sp>
      <p:sp>
        <p:nvSpPr>
          <p:cNvPr id="16" name="Shape 14"/>
          <p:cNvSpPr/>
          <p:nvPr/>
        </p:nvSpPr>
        <p:spPr>
          <a:xfrm>
            <a:off x="640080" y="3694176"/>
            <a:ext cx="5336896"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77824" y="3858768"/>
            <a:ext cx="347472" cy="347472"/>
          </a:xfrm>
          <a:prstGeom prst="ellipse">
            <a:avLst/>
          </a:prstGeom>
          <a:solidFill>
            <a:srgbClr val="1B3A2F"/>
          </a:solidFill>
          <a:ln w="12700">
            <a:solidFill>
              <a:srgbClr val="1B3A2F"/>
            </a:solidFill>
            <a:prstDash val="solid"/>
          </a:ln>
        </p:spPr>
      </p:sp>
      <p:sp>
        <p:nvSpPr>
          <p:cNvPr id="18" name="Text 16"/>
          <p:cNvSpPr txBox="1"/>
          <p:nvPr/>
        </p:nvSpPr>
        <p:spPr>
          <a:xfrm>
            <a:off x="877824"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19" name="Text 17"/>
          <p:cNvSpPr txBox="1"/>
          <p:nvPr/>
        </p:nvSpPr>
        <p:spPr>
          <a:xfrm>
            <a:off x="877824" y="4261104"/>
            <a:ext cx="4861408"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Beschaffbarkeit</a:t>
            </a:r>
            <a:endParaRPr lang="en-US" sz="1500" dirty="0"/>
          </a:p>
        </p:txBody>
      </p:sp>
      <p:sp>
        <p:nvSpPr>
          <p:cNvPr id="20" name="Text 18"/>
          <p:cNvSpPr txBox="1"/>
          <p:nvPr/>
        </p:nvSpPr>
        <p:spPr>
          <a:xfrm>
            <a:off x="877824" y="4572000"/>
            <a:ext cx="4861408"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Die Kooperative liefert Parzellendaten in geforderter Qualität ohne Zusatzvergütung über den bestehenden Preis hinaus.</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Wird sie widerlegt, bestimmt das direkt die Skalierungskosten.</a:t>
            </a:r>
            <a:endParaRPr lang="en-US" sz="900" dirty="0"/>
          </a:p>
        </p:txBody>
      </p:sp>
      <p:sp>
        <p:nvSpPr>
          <p:cNvPr id="21" name="Shape 19"/>
          <p:cNvSpPr/>
          <p:nvPr/>
        </p:nvSpPr>
        <p:spPr>
          <a:xfrm>
            <a:off x="6214720" y="3694176"/>
            <a:ext cx="5336896" cy="1810512"/>
          </a:xfrm>
          <a:prstGeom prst="roundRect">
            <a:avLst>
              <a:gd name="adj" fmla="val 4040"/>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6452464" y="3858768"/>
            <a:ext cx="347472" cy="347472"/>
          </a:xfrm>
          <a:prstGeom prst="ellipse">
            <a:avLst/>
          </a:prstGeom>
          <a:solidFill>
            <a:srgbClr val="97BC62"/>
          </a:solidFill>
          <a:ln w="12700">
            <a:solidFill>
              <a:srgbClr val="97BC62"/>
            </a:solidFill>
            <a:prstDash val="solid"/>
          </a:ln>
        </p:spPr>
      </p:sp>
      <p:sp>
        <p:nvSpPr>
          <p:cNvPr id="23" name="Text 21"/>
          <p:cNvSpPr txBox="1"/>
          <p:nvPr/>
        </p:nvSpPr>
        <p:spPr>
          <a:xfrm>
            <a:off x="6452464" y="3858768"/>
            <a:ext cx="347472" cy="347472"/>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H4</a:t>
            </a:r>
            <a:endParaRPr lang="en-US" sz="1300" dirty="0"/>
          </a:p>
        </p:txBody>
      </p:sp>
      <p:sp>
        <p:nvSpPr>
          <p:cNvPr id="24" name="Text 22"/>
          <p:cNvSpPr txBox="1"/>
          <p:nvPr/>
        </p:nvSpPr>
        <p:spPr>
          <a:xfrm>
            <a:off x="6452464" y="4261104"/>
            <a:ext cx="4861408" cy="457200"/>
          </a:xfrm>
          <a:prstGeom prst="rect">
            <a:avLst/>
          </a:prstGeom>
          <a:noFill/>
          <a:ln/>
        </p:spPr>
        <p:txBody>
          <a:bodyPr wrap="square" lIns="0" tIns="0" rIns="0" bIns="0" rtlCol="0" anchor="t"/>
          <a:lstStyle/>
          <a:p>
            <a:pPr indent="0" marL="0">
              <a:lnSpc>
                <a:spcPct val="100000"/>
              </a:lnSpc>
              <a:buNone/>
            </a:pPr>
            <a:r>
              <a:rPr lang="en-US" sz="1500" b="1" dirty="0">
                <a:solidFill>
                  <a:srgbClr val="1B3A2F"/>
                </a:solidFill>
                <a:latin typeface="Cambria" pitchFamily="34" charset="0"/>
                <a:ea typeface="Cambria" pitchFamily="34" charset="-122"/>
                <a:cs typeface="Cambria" pitchFamily="34" charset="-120"/>
              </a:rPr>
              <a:t>Zahlungsbereitschaft</a:t>
            </a:r>
            <a:endParaRPr lang="en-US" sz="1500" dirty="0"/>
          </a:p>
        </p:txBody>
      </p:sp>
      <p:sp>
        <p:nvSpPr>
          <p:cNvPr id="25" name="Text 23"/>
          <p:cNvSpPr txBox="1"/>
          <p:nvPr/>
        </p:nvSpPr>
        <p:spPr>
          <a:xfrm>
            <a:off x="6452464" y="4572000"/>
            <a:ext cx="4861408" cy="804672"/>
          </a:xfrm>
          <a:prstGeom prst="rect">
            <a:avLst/>
          </a:prstGeom>
          <a:noFill/>
          <a:ln/>
        </p:spPr>
        <p:txBody>
          <a:bodyPr wrap="square" lIns="0" tIns="0" rIns="0" bIns="0" rtlCol="0" anchor="t"/>
          <a:lstStyle/>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Mindestens ein Handelskunde ist bereit, für chargengenaue Herkunfts- und CO₂-Daten einen benannten Aufpreis oder eine Vertragsbindung zu geben.</a:t>
            </a:r>
            <a:endParaRPr lang="en-US" sz="900" dirty="0"/>
          </a:p>
          <a:p>
            <a:pPr indent="0" marL="0">
              <a:lnSpc>
                <a:spcPct val="106000"/>
              </a:lnSpc>
              <a:buNone/>
            </a:pPr>
            <a:endParaRPr lang="en-US" sz="900" dirty="0"/>
          </a:p>
          <a:p>
            <a:pPr indent="0" marL="0">
              <a:lnSpc>
                <a:spcPct val="106000"/>
              </a:lnSpc>
              <a:buNone/>
            </a:pPr>
            <a:r>
              <a:rPr lang="en-US" sz="900" dirty="0">
                <a:solidFill>
                  <a:srgbClr val="6B7A72"/>
                </a:solidFill>
                <a:latin typeface="Calibri" pitchFamily="34" charset="0"/>
                <a:ea typeface="Calibri" pitchFamily="34" charset="-122"/>
                <a:cs typeface="Calibri" pitchFamily="34" charset="-120"/>
              </a:rPr>
              <a:t>Wird H4 widerlegt, entfällt die Geschäftsgrundlage für die Verankerung vollständig.</a:t>
            </a:r>
            <a:endParaRPr lang="en-US" sz="900" dirty="0"/>
          </a:p>
        </p:txBody>
      </p:sp>
      <p:sp>
        <p:nvSpPr>
          <p:cNvPr id="26" name="Shape 24"/>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7" name="Text 25"/>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Ein Pilot, der nichts widerlegen kann, ist eine Demo. Zuschnitt: eine Herkunft, eine Single-Origin-SKU, ein Röstprofil, ein Röster — bewusst ohne Blend.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Drei Phasen — streng getrennt</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2135581" y="1664208"/>
            <a:ext cx="475488" cy="475488"/>
          </a:xfrm>
          <a:prstGeom prst="ellipse">
            <a:avLst/>
          </a:prstGeom>
          <a:solidFill>
            <a:srgbClr val="C9762F"/>
          </a:solidFill>
          <a:ln w="12700">
            <a:solidFill>
              <a:srgbClr val="C9762F"/>
            </a:solidFill>
            <a:prstDash val="solid"/>
          </a:ln>
        </p:spPr>
      </p:sp>
      <p:sp>
        <p:nvSpPr>
          <p:cNvPr id="7" name="Text 5"/>
          <p:cNvSpPr txBox="1"/>
          <p:nvPr/>
        </p:nvSpPr>
        <p:spPr>
          <a:xfrm>
            <a:off x="2135581"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8" name="Shape 6"/>
          <p:cNvSpPr/>
          <p:nvPr/>
        </p:nvSpPr>
        <p:spPr>
          <a:xfrm>
            <a:off x="640080" y="2286000"/>
            <a:ext cx="3466490" cy="3218688"/>
          </a:xfrm>
          <a:prstGeom prst="roundRect">
            <a:avLst>
              <a:gd name="adj" fmla="val 2273"/>
            </a:avLst>
          </a:prstGeom>
          <a:solidFill>
            <a:srgbClr val="F2E3D0"/>
          </a:solidFill>
          <a:ln w="9525">
            <a:solidFill>
              <a:srgbClr val="F2E3D0"/>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841248" y="2487168"/>
            <a:ext cx="306415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Compliance</a:t>
            </a:r>
            <a:endParaRPr lang="en-US" sz="1550" dirty="0"/>
          </a:p>
        </p:txBody>
      </p:sp>
      <p:sp>
        <p:nvSpPr>
          <p:cNvPr id="10" name="Text 8"/>
          <p:cNvSpPr txBox="1"/>
          <p:nvPr/>
        </p:nvSpPr>
        <p:spPr>
          <a:xfrm>
            <a:off x="841248" y="2889504"/>
            <a:ext cx="306415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jetzt bis 30.12.2026</a:t>
            </a:r>
            <a:endParaRPr lang="en-US" sz="1150" dirty="0"/>
          </a:p>
        </p:txBody>
      </p:sp>
      <p:sp>
        <p:nvSpPr>
          <p:cNvPr id="11" name="Text 9"/>
          <p:cNvSpPr txBox="1"/>
          <p:nvPr/>
        </p:nvSpPr>
        <p:spPr>
          <a:xfrm>
            <a:off x="841248" y="3182112"/>
            <a:ext cx="306415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EUDR-Fähigkeit: Rollenklärung, Geodaten, Risikoprüfung, Sorgfaltserklärungen, Referenznummern-Register.</a:t>
            </a:r>
            <a:endParaRPr lang="en-US" sz="1150" dirty="0"/>
          </a:p>
          <a:p>
            <a:pPr indent="0" marL="0">
              <a:lnSpc>
                <a:spcPct val="106000"/>
              </a:lnSpc>
              <a:buNone/>
            </a:pPr>
            <a:endParaRPr lang="en-US" sz="1150" dirty="0"/>
          </a:p>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Pflicht. Muss auch dann stehen, wenn alles andere gestrichen wird. Zugekaufte Software, kein Eigenbau, kein Ledger.</a:t>
            </a:r>
            <a:endParaRPr lang="en-US" sz="1150" dirty="0"/>
          </a:p>
        </p:txBody>
      </p:sp>
      <p:sp>
        <p:nvSpPr>
          <p:cNvPr id="12" name="Shape 10"/>
          <p:cNvSpPr/>
          <p:nvPr/>
        </p:nvSpPr>
        <p:spPr>
          <a:xfrm>
            <a:off x="5858104" y="1664208"/>
            <a:ext cx="475488" cy="475488"/>
          </a:xfrm>
          <a:prstGeom prst="ellipse">
            <a:avLst/>
          </a:prstGeom>
          <a:solidFill>
            <a:srgbClr val="1B3A2F"/>
          </a:solidFill>
          <a:ln w="12700">
            <a:solidFill>
              <a:srgbClr val="1B3A2F"/>
            </a:solidFill>
            <a:prstDash val="solid"/>
          </a:ln>
        </p:spPr>
      </p:sp>
      <p:sp>
        <p:nvSpPr>
          <p:cNvPr id="13" name="Text 11"/>
          <p:cNvSpPr txBox="1"/>
          <p:nvPr/>
        </p:nvSpPr>
        <p:spPr>
          <a:xfrm>
            <a:off x="5858104"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Shape 12"/>
          <p:cNvSpPr/>
          <p:nvPr/>
        </p:nvSpPr>
        <p:spPr>
          <a:xfrm>
            <a:off x="4362602" y="2286000"/>
            <a:ext cx="3466490" cy="3218688"/>
          </a:xfrm>
          <a:prstGeom prst="roundRect">
            <a:avLst>
              <a:gd name="adj" fmla="val 227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4563770" y="2487168"/>
            <a:ext cx="306415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Datenqualität</a:t>
            </a:r>
            <a:endParaRPr lang="en-US" sz="1550" dirty="0"/>
          </a:p>
        </p:txBody>
      </p:sp>
      <p:sp>
        <p:nvSpPr>
          <p:cNvPr id="16" name="Text 14"/>
          <p:cNvSpPr txBox="1"/>
          <p:nvPr/>
        </p:nvSpPr>
        <p:spPr>
          <a:xfrm>
            <a:off x="4563770" y="2889504"/>
            <a:ext cx="306415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2027</a:t>
            </a:r>
            <a:endParaRPr lang="en-US" sz="1150" dirty="0"/>
          </a:p>
        </p:txBody>
      </p:sp>
      <p:sp>
        <p:nvSpPr>
          <p:cNvPr id="17" name="Text 15"/>
          <p:cNvSpPr txBox="1"/>
          <p:nvPr/>
        </p:nvSpPr>
        <p:spPr>
          <a:xfrm>
            <a:off x="4563770" y="3182112"/>
            <a:ext cx="306415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Chargenmodell nach EPCIS, Evidence Grading, CO₂ Scope 1 und 2 je Röstcharge, freiwilliger Produktpass für eine Pilot-SKU.</a:t>
            </a:r>
            <a:endParaRPr lang="en-US" sz="1150" dirty="0"/>
          </a:p>
          <a:p>
            <a:pPr indent="0" marL="0">
              <a:lnSpc>
                <a:spcPct val="106000"/>
              </a:lnSpc>
              <a:buNone/>
            </a:pPr>
            <a:endParaRPr lang="en-US" sz="1150" dirty="0"/>
          </a:p>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Freiwilliger Mehrwert. Zahlt auf Einkauf, Qualität, Rückruffähigkeit und Vertrieb ein.</a:t>
            </a:r>
            <a:endParaRPr lang="en-US" sz="1150" dirty="0"/>
          </a:p>
        </p:txBody>
      </p:sp>
      <p:sp>
        <p:nvSpPr>
          <p:cNvPr id="18" name="Shape 16"/>
          <p:cNvSpPr/>
          <p:nvPr/>
        </p:nvSpPr>
        <p:spPr>
          <a:xfrm>
            <a:off x="9580626" y="1664208"/>
            <a:ext cx="475488" cy="475488"/>
          </a:xfrm>
          <a:prstGeom prst="ellipse">
            <a:avLst/>
          </a:prstGeom>
          <a:solidFill>
            <a:srgbClr val="1B3A2F"/>
          </a:solidFill>
          <a:ln w="12700">
            <a:solidFill>
              <a:srgbClr val="1B3A2F"/>
            </a:solidFill>
            <a:prstDash val="solid"/>
          </a:ln>
        </p:spPr>
      </p:sp>
      <p:sp>
        <p:nvSpPr>
          <p:cNvPr id="19" name="Text 17"/>
          <p:cNvSpPr txBox="1"/>
          <p:nvPr/>
        </p:nvSpPr>
        <p:spPr>
          <a:xfrm>
            <a:off x="9580626"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Shape 18"/>
          <p:cNvSpPr/>
          <p:nvPr/>
        </p:nvSpPr>
        <p:spPr>
          <a:xfrm>
            <a:off x="8085125" y="2286000"/>
            <a:ext cx="3466490" cy="3218688"/>
          </a:xfrm>
          <a:prstGeom prst="roundRect">
            <a:avLst>
              <a:gd name="adj" fmla="val 2273"/>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8286293" y="2487168"/>
            <a:ext cx="3064154" cy="384048"/>
          </a:xfrm>
          <a:prstGeom prst="rect">
            <a:avLst/>
          </a:prstGeom>
          <a:noFill/>
          <a:ln/>
        </p:spPr>
        <p:txBody>
          <a:bodyPr wrap="square" lIns="0" tIns="0" rIns="0" bIns="0" rtlCol="0" anchor="t"/>
          <a:lstStyle/>
          <a:p>
            <a:pPr algn="l" indent="0" marL="0">
              <a:lnSpc>
                <a:spcPct val="100000"/>
              </a:lnSpc>
              <a:buNone/>
            </a:pPr>
            <a:r>
              <a:rPr lang="en-US" sz="1550" b="1" dirty="0">
                <a:solidFill>
                  <a:srgbClr val="1B3A2F"/>
                </a:solidFill>
                <a:latin typeface="Cambria" pitchFamily="34" charset="0"/>
                <a:ea typeface="Cambria" pitchFamily="34" charset="-122"/>
                <a:cs typeface="Cambria" pitchFamily="34" charset="-120"/>
              </a:rPr>
              <a:t>Verankerung</a:t>
            </a:r>
            <a:endParaRPr lang="en-US" sz="1550" dirty="0"/>
          </a:p>
        </p:txBody>
      </p:sp>
      <p:sp>
        <p:nvSpPr>
          <p:cNvPr id="22" name="Text 20"/>
          <p:cNvSpPr txBox="1"/>
          <p:nvPr/>
        </p:nvSpPr>
        <p:spPr>
          <a:xfrm>
            <a:off x="8286293" y="2889504"/>
            <a:ext cx="3064154" cy="256032"/>
          </a:xfrm>
          <a:prstGeom prst="rect">
            <a:avLst/>
          </a:prstGeom>
          <a:noFill/>
          <a:ln/>
        </p:spPr>
        <p:txBody>
          <a:bodyPr wrap="square" lIns="0" tIns="0" rIns="0" bIns="0" rtlCol="0" anchor="t"/>
          <a:lstStyle/>
          <a:p>
            <a:pPr algn="l" indent="0" marL="0">
              <a:lnSpc>
                <a:spcPct val="106000"/>
              </a:lnSpc>
              <a:buNone/>
            </a:pPr>
            <a:r>
              <a:rPr lang="en-US" sz="1150" b="1" dirty="0">
                <a:solidFill>
                  <a:srgbClr val="C9762F"/>
                </a:solidFill>
                <a:latin typeface="Calibri" pitchFamily="34" charset="0"/>
                <a:ea typeface="Calibri" pitchFamily="34" charset="-122"/>
                <a:cs typeface="Calibri" pitchFamily="34" charset="-120"/>
              </a:rPr>
              <a:t>frühestens 2028</a:t>
            </a:r>
            <a:endParaRPr lang="en-US" sz="1150" dirty="0"/>
          </a:p>
        </p:txBody>
      </p:sp>
      <p:sp>
        <p:nvSpPr>
          <p:cNvPr id="23" name="Text 21"/>
          <p:cNvSpPr txBox="1"/>
          <p:nvPr/>
        </p:nvSpPr>
        <p:spPr>
          <a:xfrm>
            <a:off x="8286293" y="3182112"/>
            <a:ext cx="3064154" cy="2139696"/>
          </a:xfrm>
          <a:prstGeom prst="rect">
            <a:avLst/>
          </a:prstGeom>
          <a:noFill/>
          <a:ln/>
        </p:spPr>
        <p:txBody>
          <a:bodyPr wrap="square" lIns="0" tIns="0" rIns="0" bIns="0" rtlCol="0" anchor="t"/>
          <a:lstStyle/>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Kryptografische Nachweisbarkeit der Zeitgleichheit.</a:t>
            </a:r>
            <a:endParaRPr lang="en-US" sz="1150" dirty="0"/>
          </a:p>
          <a:p>
            <a:pPr indent="0" marL="0">
              <a:lnSpc>
                <a:spcPct val="106000"/>
              </a:lnSpc>
              <a:buNone/>
            </a:pPr>
            <a:endParaRPr lang="en-US" sz="1150" dirty="0"/>
          </a:p>
          <a:p>
            <a:pPr indent="0" marL="0">
              <a:lnSpc>
                <a:spcPct val="106000"/>
              </a:lnSpc>
              <a:buNone/>
            </a:pPr>
            <a:r>
              <a:rPr lang="en-US" sz="1150" dirty="0">
                <a:solidFill>
                  <a:srgbClr val="6B7A72"/>
                </a:solidFill>
                <a:latin typeface="Calibri" pitchFamily="34" charset="0"/>
                <a:ea typeface="Calibri" pitchFamily="34" charset="-122"/>
                <a:cs typeface="Calibri" pitchFamily="34" charset="-120"/>
              </a:rPr>
              <a:t>Startet NUR bei einem von vier Auslösekriterien — sonst gar nicht. Auch nicht „für später schon mal".</a:t>
            </a:r>
            <a:endParaRPr lang="en-US" sz="1150" dirty="0"/>
          </a:p>
        </p:txBody>
      </p:sp>
      <p:sp>
        <p:nvSpPr>
          <p:cNvPr id="24" name="Shape 22"/>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5" name="Text 23"/>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Kritischer Pfad in Phase 0 ist die Geodatenbeschaffung, nicht die Software. Frühwarnung: Sind bis KW 43 nicht 80 % der Direct-Trade-Menge unterlegt, müssen Herkünfte auf Importeursbezug umgestellt werden.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KOSTEN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Drei Jahre, Bandbreiten statt Punktwerten</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786384" y="1901952"/>
            <a:ext cx="3173882" cy="841248"/>
          </a:xfrm>
          <a:prstGeom prst="rect">
            <a:avLst/>
          </a:prstGeom>
          <a:noFill/>
          <a:ln/>
        </p:spPr>
        <p:txBody>
          <a:bodyPr wrap="square" lIns="0" tIns="0" rIns="0" bIns="0" rtlCol="0" anchor="ctr"/>
          <a:lstStyle/>
          <a:p>
            <a:pPr algn="ctr" indent="0" marL="0">
              <a:lnSpc>
                <a:spcPct val="106000"/>
              </a:lnSpc>
              <a:buNone/>
            </a:pPr>
            <a:r>
              <a:rPr lang="en-US" sz="2600" b="1" dirty="0">
                <a:solidFill>
                  <a:srgbClr val="C9762F"/>
                </a:solidFill>
                <a:latin typeface="Cambria" pitchFamily="34" charset="0"/>
                <a:ea typeface="Cambria" pitchFamily="34" charset="-122"/>
                <a:cs typeface="Cambria" pitchFamily="34" charset="-120"/>
              </a:rPr>
              <a:t>151–475 T€</a:t>
            </a:r>
            <a:endParaRPr lang="en-US" sz="2600" dirty="0"/>
          </a:p>
        </p:txBody>
      </p:sp>
      <p:sp>
        <p:nvSpPr>
          <p:cNvPr id="8" name="Text 6"/>
          <p:cNvSpPr txBox="1"/>
          <p:nvPr/>
        </p:nvSpPr>
        <p:spPr>
          <a:xfrm>
            <a:off x="786384"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Nur Phase 0</a:t>
            </a:r>
            <a:endParaRPr lang="en-US" sz="1400" dirty="0"/>
          </a:p>
        </p:txBody>
      </p:sp>
      <p:sp>
        <p:nvSpPr>
          <p:cNvPr id="9" name="Text 7"/>
          <p:cNvSpPr txBox="1"/>
          <p:nvPr/>
        </p:nvSpPr>
        <p:spPr>
          <a:xfrm>
            <a:off x="822960"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Die Minimalvariante. Reine Pflichterfüllung, kein Produktpass, kein Ledger</a:t>
            </a:r>
            <a:endParaRPr lang="en-US" sz="1150" dirty="0"/>
          </a:p>
        </p:txBody>
      </p:sp>
      <p:sp>
        <p:nvSpPr>
          <p:cNvPr id="10" name="Shape 8"/>
          <p:cNvSpPr/>
          <p:nvPr/>
        </p:nvSpPr>
        <p:spPr>
          <a:xfrm>
            <a:off x="4362602"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4508906" y="1901952"/>
            <a:ext cx="3173882" cy="841248"/>
          </a:xfrm>
          <a:prstGeom prst="rect">
            <a:avLst/>
          </a:prstGeom>
          <a:noFill/>
          <a:ln/>
        </p:spPr>
        <p:txBody>
          <a:bodyPr wrap="square" lIns="0" tIns="0" rIns="0" bIns="0" rtlCol="0" anchor="ctr"/>
          <a:lstStyle/>
          <a:p>
            <a:pPr algn="ctr" indent="0" marL="0">
              <a:lnSpc>
                <a:spcPct val="106000"/>
              </a:lnSpc>
              <a:buNone/>
            </a:pPr>
            <a:r>
              <a:rPr lang="en-US" sz="2600" b="1" dirty="0">
                <a:solidFill>
                  <a:srgbClr val="C9762F"/>
                </a:solidFill>
                <a:latin typeface="Cambria" pitchFamily="34" charset="0"/>
                <a:ea typeface="Cambria" pitchFamily="34" charset="-122"/>
                <a:cs typeface="Cambria" pitchFamily="34" charset="-120"/>
              </a:rPr>
              <a:t>312–878 T€</a:t>
            </a:r>
            <a:endParaRPr lang="en-US" sz="2600" dirty="0"/>
          </a:p>
        </p:txBody>
      </p:sp>
      <p:sp>
        <p:nvSpPr>
          <p:cNvPr id="12" name="Text 10"/>
          <p:cNvSpPr txBox="1"/>
          <p:nvPr/>
        </p:nvSpPr>
        <p:spPr>
          <a:xfrm>
            <a:off x="4508906"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Phase 0 + 1, Option B</a:t>
            </a:r>
            <a:endParaRPr lang="en-US" sz="1400" dirty="0"/>
          </a:p>
        </p:txBody>
      </p:sp>
      <p:sp>
        <p:nvSpPr>
          <p:cNvPr id="13" name="Text 11"/>
          <p:cNvSpPr txBox="1"/>
          <p:nvPr/>
        </p:nvSpPr>
        <p:spPr>
          <a:xfrm>
            <a:off x="4545482"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Unsere Empfehlung. Compliance plus Datenqualität, Verankerung vorbereitet</a:t>
            </a:r>
            <a:endParaRPr lang="en-US" sz="1150" dirty="0"/>
          </a:p>
        </p:txBody>
      </p:sp>
      <p:sp>
        <p:nvSpPr>
          <p:cNvPr id="14" name="Shape 12"/>
          <p:cNvSpPr/>
          <p:nvPr/>
        </p:nvSpPr>
        <p:spPr>
          <a:xfrm>
            <a:off x="8085125" y="1664208"/>
            <a:ext cx="3466490" cy="2212848"/>
          </a:xfrm>
          <a:prstGeom prst="roundRect">
            <a:avLst>
              <a:gd name="adj" fmla="val 3306"/>
            </a:avLst>
          </a:prstGeom>
          <a:solidFill>
            <a:srgbClr val="FFFFFF"/>
          </a:solidFill>
          <a:ln w="9525">
            <a:solidFill>
              <a:srgbClr val="DDE3DE"/>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8231429" y="1901952"/>
            <a:ext cx="3173882" cy="841248"/>
          </a:xfrm>
          <a:prstGeom prst="rect">
            <a:avLst/>
          </a:prstGeom>
          <a:noFill/>
          <a:ln/>
        </p:spPr>
        <p:txBody>
          <a:bodyPr wrap="square" lIns="0" tIns="0" rIns="0" bIns="0" rtlCol="0" anchor="ctr"/>
          <a:lstStyle/>
          <a:p>
            <a:pPr algn="ctr" indent="0" marL="0">
              <a:lnSpc>
                <a:spcPct val="106000"/>
              </a:lnSpc>
              <a:buNone/>
            </a:pPr>
            <a:r>
              <a:rPr lang="en-US" sz="2400" b="1" dirty="0">
                <a:solidFill>
                  <a:srgbClr val="C9762F"/>
                </a:solidFill>
                <a:latin typeface="Cambria" pitchFamily="34" charset="0"/>
                <a:ea typeface="Cambria" pitchFamily="34" charset="-122"/>
                <a:cs typeface="Cambria" pitchFamily="34" charset="-120"/>
              </a:rPr>
              <a:t>526–1.615 T€</a:t>
            </a:r>
            <a:endParaRPr lang="en-US" sz="2400" dirty="0"/>
          </a:p>
        </p:txBody>
      </p:sp>
      <p:sp>
        <p:nvSpPr>
          <p:cNvPr id="16" name="Text 14"/>
          <p:cNvSpPr txBox="1"/>
          <p:nvPr/>
        </p:nvSpPr>
        <p:spPr>
          <a:xfrm>
            <a:off x="8231429" y="2798064"/>
            <a:ext cx="3173882" cy="329184"/>
          </a:xfrm>
          <a:prstGeom prst="rect">
            <a:avLst/>
          </a:prstGeom>
          <a:noFill/>
          <a:ln/>
        </p:spPr>
        <p:txBody>
          <a:bodyPr wrap="square" lIns="0" tIns="0" rIns="0" bIns="0" rtlCol="0" anchor="t"/>
          <a:lstStyle/>
          <a:p>
            <a:pPr algn="ctr" indent="0" marL="0">
              <a:lnSpc>
                <a:spcPct val="106000"/>
              </a:lnSpc>
              <a:buNone/>
            </a:pPr>
            <a:r>
              <a:rPr lang="en-US" sz="1400" b="1" dirty="0">
                <a:solidFill>
                  <a:srgbClr val="1B3A2F"/>
                </a:solidFill>
                <a:latin typeface="Cambria" pitchFamily="34" charset="0"/>
                <a:ea typeface="Cambria" pitchFamily="34" charset="-122"/>
                <a:cs typeface="Cambria" pitchFamily="34" charset="-120"/>
              </a:rPr>
              <a:t>Phase 0 + 1 + 2, Option C</a:t>
            </a:r>
            <a:endParaRPr lang="en-US" sz="1400" dirty="0"/>
          </a:p>
        </p:txBody>
      </p:sp>
      <p:sp>
        <p:nvSpPr>
          <p:cNvPr id="17" name="Text 15"/>
          <p:cNvSpPr txBox="1"/>
          <p:nvPr/>
        </p:nvSpPr>
        <p:spPr>
          <a:xfrm>
            <a:off x="8268005" y="3163824"/>
            <a:ext cx="3100730" cy="548640"/>
          </a:xfrm>
          <a:prstGeom prst="rect">
            <a:avLst/>
          </a:prstGeom>
          <a:noFill/>
          <a:ln/>
        </p:spPr>
        <p:txBody>
          <a:bodyPr wrap="square" lIns="0" tIns="0" rIns="0" bIns="0" rtlCol="0" anchor="t"/>
          <a:lstStyle/>
          <a:p>
            <a:pPr algn="ctr" indent="0" marL="0">
              <a:lnSpc>
                <a:spcPct val="106000"/>
              </a:lnSpc>
              <a:buNone/>
            </a:pPr>
            <a:r>
              <a:rPr lang="en-US" sz="1150" dirty="0">
                <a:solidFill>
                  <a:srgbClr val="6B7A72"/>
                </a:solidFill>
                <a:latin typeface="Calibri" pitchFamily="34" charset="0"/>
                <a:ea typeface="Calibri" pitchFamily="34" charset="-122"/>
                <a:cs typeface="Calibri" pitchFamily="34" charset="-120"/>
              </a:rPr>
              <a:t>Der Referenzfall-Klon mit Plattform, Ledger, Token und Markern</a:t>
            </a:r>
            <a:endParaRPr lang="en-US" sz="1150" dirty="0"/>
          </a:p>
        </p:txBody>
      </p:sp>
      <p:sp>
        <p:nvSpPr>
          <p:cNvPr id="18" name="Text 16"/>
          <p:cNvSpPr txBox="1"/>
          <p:nvPr/>
        </p:nvSpPr>
        <p:spPr>
          <a:xfrm>
            <a:off x="640080" y="4114800"/>
            <a:ext cx="10911535" cy="1389888"/>
          </a:xfrm>
          <a:prstGeom prst="rect">
            <a:avLst/>
          </a:prstGeom>
          <a:noFill/>
          <a:ln/>
        </p:spPr>
        <p:txBody>
          <a:bodyPr wrap="square" lIns="0" tIns="0" rIns="0" bIns="0" rtlCol="0" anchor="t"/>
          <a:lstStyle/>
          <a:p>
            <a:pPr algn="l" indent="0" marL="0">
              <a:lnSpc>
                <a:spcPct val="110000"/>
              </a:lnSpc>
              <a:buNone/>
            </a:pPr>
            <a:r>
              <a:rPr lang="en-US" sz="1300" dirty="0">
                <a:solidFill>
                  <a:srgbClr val="17241F"/>
                </a:solidFill>
                <a:latin typeface="Calibri" pitchFamily="34" charset="0"/>
                <a:ea typeface="Calibri" pitchFamily="34" charset="-122"/>
                <a:cs typeface="Calibri" pitchFamily="34" charset="-120"/>
              </a:rPr>
              <a:t>Die Spannen sind breit, weil ein einziger Posten sie dominiert: die Geodatenbeschaffung upstream — zwischen 5.000 € und 60.000 € je nachdem, ob die Kooperativen bereits kartiert sind. Nicht die Software ist das Teure. Die Daten sind das Teure, und die liegen in Äthiopien, Kolumbien und Honduras.</a:t>
            </a:r>
            <a:endParaRPr lang="en-US" sz="1300" dirty="0"/>
          </a:p>
        </p:txBody>
      </p:sp>
      <p:sp>
        <p:nvSpPr>
          <p:cNvPr id="19" name="Shape 17"/>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0" name="Text 18"/>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Vor Freigabe von Phase 1 sollte die Bestandsaufnahme der Geodaten abgeschlossen sein — sie halbiert die Unsicherheit der größten Position.</a:t>
            </a:r>
            <a:endParaRPr lang="en-US" sz="1300" dirty="0"/>
          </a:p>
        </p:txBody>
      </p:sp>
      <p:sp>
        <p:nvSpPr>
          <p:cNvPr id="21" name="Text 19"/>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Alle Werte [geschätzt], Bandbreiten über drei Jahre inkl. laufendem Betrieb</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RISIKEN</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Adressiert das Design das Risiko — oder verlagert es nur?</a:t>
            </a:r>
            <a:endParaRPr lang="en-US" sz="3000" dirty="0"/>
          </a:p>
        </p:txBody>
      </p:sp>
      <p:sp>
        <p:nvSpPr>
          <p:cNvPr id="4" name="Shape 2"/>
          <p:cNvSpPr/>
          <p:nvPr/>
        </p:nvSpPr>
        <p:spPr>
          <a:xfrm>
            <a:off x="11240719" y="438912"/>
            <a:ext cx="310896" cy="310896"/>
          </a:xfrm>
          <a:prstGeom prst="ellipse">
            <a:avLst/>
          </a:prstGeom>
          <a:solidFill>
            <a:srgbClr val="97BC62"/>
          </a:solidFill>
          <a:ln w="12700">
            <a:solidFill>
              <a:srgbClr val="97BC62"/>
            </a:solidFill>
            <a:prstDash val="solid"/>
          </a:ln>
        </p:spPr>
      </p:sp>
      <p:sp>
        <p:nvSpPr>
          <p:cNvPr id="5" name="Text 3"/>
          <p:cNvSpPr txBox="1"/>
          <p:nvPr/>
        </p:nvSpPr>
        <p:spPr>
          <a:xfrm>
            <a:off x="11240719" y="438912"/>
            <a:ext cx="310896" cy="310896"/>
          </a:xfrm>
          <a:prstGeom prst="rect">
            <a:avLst/>
          </a:prstGeom>
          <a:noFill/>
          <a:ln/>
        </p:spPr>
        <p:txBody>
          <a:bodyPr wrap="square" lIns="0" tIns="0" rIns="0" bIns="0" rtlCol="0" anchor="ctr"/>
          <a:lstStyle/>
          <a:p>
            <a:pPr algn="ctr" indent="0" marL="0">
              <a:buNone/>
            </a:pPr>
            <a:r>
              <a:rPr lang="en-US" sz="1300" b="1" dirty="0">
                <a:solidFill>
                  <a:srgbClr val="1B3A2F"/>
                </a:solidFill>
                <a:latin typeface="Calibri" pitchFamily="34" charset="0"/>
                <a:ea typeface="Calibri" pitchFamily="34" charset="-122"/>
                <a:cs typeface="Calibri" pitchFamily="34" charset="-120"/>
              </a:rPr>
              <a:t>5</a:t>
            </a:r>
            <a:endParaRPr lang="en-US" sz="1300" dirty="0"/>
          </a:p>
        </p:txBody>
      </p:sp>
      <p:sp>
        <p:nvSpPr>
          <p:cNvPr id="6" name="Shape 4"/>
          <p:cNvSpPr/>
          <p:nvPr/>
        </p:nvSpPr>
        <p:spPr>
          <a:xfrm>
            <a:off x="640080" y="1664208"/>
            <a:ext cx="5327752" cy="3840480"/>
          </a:xfrm>
          <a:prstGeom prst="roundRect">
            <a:avLst>
              <a:gd name="adj" fmla="val 1905"/>
            </a:avLst>
          </a:prstGeom>
          <a:solidFill>
            <a:srgbClr val="FFFFFF"/>
          </a:solidFill>
          <a:ln w="9525">
            <a:solidFill>
              <a:srgbClr val="DDE3DE"/>
            </a:solidFill>
            <a:prstDash val="solid"/>
          </a:ln>
        </p:spPr>
      </p:sp>
      <p:sp>
        <p:nvSpPr>
          <p:cNvPr id="7" name="Shape 5"/>
          <p:cNvSpPr/>
          <p:nvPr/>
        </p:nvSpPr>
        <p:spPr>
          <a:xfrm>
            <a:off x="640080" y="1664208"/>
            <a:ext cx="5327752" cy="804672"/>
          </a:xfrm>
          <a:prstGeom prst="roundRect">
            <a:avLst>
              <a:gd name="adj" fmla="val 9091"/>
            </a:avLst>
          </a:prstGeom>
          <a:solidFill>
            <a:srgbClr val="DDE3DE"/>
          </a:solidFill>
          <a:ln w="12700">
            <a:solidFill>
              <a:srgbClr val="DDE3DE"/>
            </a:solidFill>
            <a:prstDash val="solid"/>
          </a:ln>
        </p:spPr>
      </p:sp>
      <p:sp>
        <p:nvSpPr>
          <p:cNvPr id="8" name="Text 6"/>
          <p:cNvSpPr txBox="1"/>
          <p:nvPr/>
        </p:nvSpPr>
        <p:spPr>
          <a:xfrm>
            <a:off x="841248"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1B3A2F"/>
                </a:solidFill>
                <a:latin typeface="Cambria" pitchFamily="34" charset="0"/>
                <a:ea typeface="Cambria" pitchFamily="34" charset="-122"/>
                <a:cs typeface="Cambria" pitchFamily="34" charset="-120"/>
              </a:rPr>
              <a:t>Nur verlagert</a:t>
            </a:r>
            <a:endParaRPr lang="en-US" sz="1500" dirty="0"/>
          </a:p>
        </p:txBody>
      </p:sp>
      <p:sp>
        <p:nvSpPr>
          <p:cNvPr id="9" name="Text 7"/>
          <p:cNvSpPr txBox="1"/>
          <p:nvPr/>
        </p:nvSpPr>
        <p:spPr>
          <a:xfrm>
            <a:off x="841248"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6B7A72"/>
                </a:solidFill>
                <a:latin typeface="Calibri" pitchFamily="34" charset="0"/>
                <a:ea typeface="Calibri" pitchFamily="34" charset="-122"/>
                <a:cs typeface="Calibri" pitchFamily="34" charset="-120"/>
              </a:rPr>
              <a:t>ehrlich benannt</a:t>
            </a:r>
            <a:endParaRPr lang="en-US" sz="1100" dirty="0"/>
          </a:p>
        </p:txBody>
      </p:sp>
      <p:sp>
        <p:nvSpPr>
          <p:cNvPr id="10" name="Text 8"/>
          <p:cNvSpPr txBox="1"/>
          <p:nvPr/>
        </p:nvSpPr>
        <p:spPr>
          <a:xfrm>
            <a:off x="841248" y="2615184"/>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Garbage in: Eine plausible falsche Koordinate erkennt kein System. Im verankerten Zustand wird der Fehler zusätzlich unveränderlich — das verschlechtert die Lage</a:t>
            </a:r>
            <a:endParaRPr lang="en-US" sz="1200" dirty="0"/>
          </a:p>
        </p:txBody>
      </p:sp>
      <p:sp>
        <p:nvSpPr>
          <p:cNvPr id="11" name="Text 9"/>
          <p:cNvSpPr txBox="1"/>
          <p:nvPr/>
        </p:nvSpPr>
        <p:spPr>
          <a:xfrm>
            <a:off x="841248" y="3305556"/>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Kollusion: Stimmen Kooperative und Exporteur sich ab, ist das aus den Daten nicht erkennbar. Wirksam sind nur Isotopenanalyse und Vor-Ort-Audit</a:t>
            </a:r>
            <a:endParaRPr lang="en-US" sz="1200" dirty="0"/>
          </a:p>
        </p:txBody>
      </p:sp>
      <p:sp>
        <p:nvSpPr>
          <p:cNvPr id="12" name="Text 10"/>
          <p:cNvSpPr txBox="1"/>
          <p:nvPr/>
        </p:nvSpPr>
        <p:spPr>
          <a:xfrm>
            <a:off x="841248" y="3995928"/>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Adoptionsverweigerung upstream: kein technisches Problem, sondern ein Beschaffungs- und Beziehungsthema</a:t>
            </a:r>
            <a:endParaRPr lang="en-US" sz="1200" dirty="0"/>
          </a:p>
        </p:txBody>
      </p:sp>
      <p:sp>
        <p:nvSpPr>
          <p:cNvPr id="13" name="Text 11"/>
          <p:cNvSpPr txBox="1"/>
          <p:nvPr/>
        </p:nvSpPr>
        <p:spPr>
          <a:xfrm>
            <a:off x="841248" y="4686300"/>
            <a:ext cx="4925416" cy="635508"/>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Ein Ledger sichert die Integrität der Aufzeichnung, nicht die der Aussage</a:t>
            </a:r>
            <a:endParaRPr lang="en-US" sz="1250" dirty="0"/>
          </a:p>
        </p:txBody>
      </p:sp>
      <p:sp>
        <p:nvSpPr>
          <p:cNvPr id="14" name="Shape 12"/>
          <p:cNvSpPr/>
          <p:nvPr/>
        </p:nvSpPr>
        <p:spPr>
          <a:xfrm>
            <a:off x="6223864" y="1664208"/>
            <a:ext cx="5327752" cy="3840480"/>
          </a:xfrm>
          <a:prstGeom prst="roundRect">
            <a:avLst>
              <a:gd name="adj" fmla="val 1905"/>
            </a:avLst>
          </a:prstGeom>
          <a:solidFill>
            <a:srgbClr val="FFFFFF"/>
          </a:solidFill>
          <a:ln w="9525">
            <a:solidFill>
              <a:srgbClr val="C9762F"/>
            </a:solidFill>
            <a:prstDash val="solid"/>
          </a:ln>
          <a:effectLst>
            <a:outerShdw sx="100000" sy="100000" kx="0" ky="0" algn="bl" rotWithShape="0" blurRad="127000" dist="25400" dir="5400000">
              <a:srgbClr val="000000">
                <a:alpha val="10000"/>
              </a:srgbClr>
            </a:outerShdw>
          </a:effectLst>
        </p:spPr>
      </p:sp>
      <p:sp>
        <p:nvSpPr>
          <p:cNvPr id="15" name="Shape 13"/>
          <p:cNvSpPr/>
          <p:nvPr/>
        </p:nvSpPr>
        <p:spPr>
          <a:xfrm>
            <a:off x="6223864" y="1664208"/>
            <a:ext cx="5327752" cy="804672"/>
          </a:xfrm>
          <a:prstGeom prst="roundRect">
            <a:avLst>
              <a:gd name="adj" fmla="val 9091"/>
            </a:avLst>
          </a:prstGeom>
          <a:solidFill>
            <a:srgbClr val="1B3A2F"/>
          </a:solidFill>
          <a:ln w="12700">
            <a:solidFill>
              <a:srgbClr val="1B3A2F"/>
            </a:solidFill>
            <a:prstDash val="solid"/>
          </a:ln>
        </p:spPr>
      </p:sp>
      <p:sp>
        <p:nvSpPr>
          <p:cNvPr id="16" name="Text 14"/>
          <p:cNvSpPr txBox="1"/>
          <p:nvPr/>
        </p:nvSpPr>
        <p:spPr>
          <a:xfrm>
            <a:off x="6425032" y="1755648"/>
            <a:ext cx="4925416" cy="310896"/>
          </a:xfrm>
          <a:prstGeom prst="rect">
            <a:avLst/>
          </a:prstGeom>
          <a:noFill/>
          <a:ln/>
        </p:spPr>
        <p:txBody>
          <a:bodyPr wrap="square" lIns="0" tIns="0" rIns="0" bIns="0" rtlCol="0" anchor="t"/>
          <a:lstStyle/>
          <a:p>
            <a:pPr algn="l" indent="0" marL="0">
              <a:lnSpc>
                <a:spcPct val="106000"/>
              </a:lnSpc>
              <a:buNone/>
            </a:pPr>
            <a:r>
              <a:rPr lang="en-US" sz="1500" b="1" dirty="0">
                <a:solidFill>
                  <a:srgbClr val="FFFFFF"/>
                </a:solidFill>
                <a:latin typeface="Cambria" pitchFamily="34" charset="0"/>
                <a:ea typeface="Cambria" pitchFamily="34" charset="-122"/>
                <a:cs typeface="Cambria" pitchFamily="34" charset="-120"/>
              </a:rPr>
              <a:t>Wirklich adressiert</a:t>
            </a:r>
            <a:endParaRPr lang="en-US" sz="1500" dirty="0"/>
          </a:p>
        </p:txBody>
      </p:sp>
      <p:sp>
        <p:nvSpPr>
          <p:cNvPr id="17" name="Text 15"/>
          <p:cNvSpPr txBox="1"/>
          <p:nvPr/>
        </p:nvSpPr>
        <p:spPr>
          <a:xfrm>
            <a:off x="6425032" y="2084832"/>
            <a:ext cx="4925416" cy="310896"/>
          </a:xfrm>
          <a:prstGeom prst="rect">
            <a:avLst/>
          </a:prstGeom>
          <a:noFill/>
          <a:ln/>
        </p:spPr>
        <p:txBody>
          <a:bodyPr wrap="square" lIns="0" tIns="0" rIns="0" bIns="0" rtlCol="0" anchor="t"/>
          <a:lstStyle/>
          <a:p>
            <a:pPr algn="l" indent="0" marL="0">
              <a:lnSpc>
                <a:spcPct val="106000"/>
              </a:lnSpc>
              <a:buNone/>
            </a:pPr>
            <a:r>
              <a:rPr lang="en-US" sz="1100" dirty="0">
                <a:solidFill>
                  <a:srgbClr val="97BC62"/>
                </a:solidFill>
                <a:latin typeface="Calibri" pitchFamily="34" charset="0"/>
                <a:ea typeface="Calibri" pitchFamily="34" charset="-122"/>
                <a:cs typeface="Calibri" pitchFamily="34" charset="-120"/>
              </a:rPr>
              <a:t>mit benannter Restlücke</a:t>
            </a:r>
            <a:endParaRPr lang="en-US" sz="1100" dirty="0"/>
          </a:p>
        </p:txBody>
      </p:sp>
      <p:sp>
        <p:nvSpPr>
          <p:cNvPr id="18" name="Text 16"/>
          <p:cNvSpPr txBox="1"/>
          <p:nvPr/>
        </p:nvSpPr>
        <p:spPr>
          <a:xfrm>
            <a:off x="6425032" y="2615184"/>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Verlustfaktor-Manipulation: fünf Ebenen, die stärkste nutzt Belege außerhalb der Produktion</a:t>
            </a:r>
            <a:endParaRPr lang="en-US" sz="1200" dirty="0"/>
          </a:p>
        </p:txBody>
      </p:sp>
      <p:sp>
        <p:nvSpPr>
          <p:cNvPr id="19" name="Text 17"/>
          <p:cNvSpPr txBox="1"/>
          <p:nvPr/>
        </p:nvSpPr>
        <p:spPr>
          <a:xfrm>
            <a:off x="6425032" y="3305556"/>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Anbieter-Lock-in: EPCIS als Standardformat, eigene Datenkopie, austauschbare Verankerungssenke</a:t>
            </a:r>
            <a:endParaRPr lang="en-US" sz="1200" dirty="0"/>
          </a:p>
        </p:txBody>
      </p:sp>
      <p:sp>
        <p:nvSpPr>
          <p:cNvPr id="20" name="Text 18"/>
          <p:cNvSpPr txBox="1"/>
          <p:nvPr/>
        </p:nvSpPr>
        <p:spPr>
          <a:xfrm>
            <a:off x="6425032" y="3995928"/>
            <a:ext cx="4925416" cy="635508"/>
          </a:xfrm>
          <a:prstGeom prst="rect">
            <a:avLst/>
          </a:prstGeom>
          <a:noFill/>
          <a:ln/>
        </p:spPr>
        <p:txBody>
          <a:bodyPr wrap="square" lIns="0" tIns="0" rIns="0" bIns="0" rtlCol="0" anchor="t"/>
          <a:lstStyle/>
          <a:p>
            <a:pPr algn="l" indent="0" marL="0">
              <a:lnSpc>
                <a:spcPct val="106000"/>
              </a:lnSpc>
              <a:buNone/>
            </a:pPr>
            <a:r>
              <a:rPr lang="en-US" sz="1200" dirty="0">
                <a:solidFill>
                  <a:srgbClr val="6B7A72"/>
                </a:solidFill>
                <a:latin typeface="Calibri" pitchFamily="34" charset="0"/>
                <a:ea typeface="Calibri" pitchFamily="34" charset="-122"/>
                <a:cs typeface="Calibri" pitchFamily="34" charset="-120"/>
              </a:rPr>
              <a:t>Regulatorische Änderung: Regelinterpretation wird gekauft, nicht gebaut; das Datenmodell ist fachlich geschnitten</a:t>
            </a:r>
            <a:endParaRPr lang="en-US" sz="1200" dirty="0"/>
          </a:p>
        </p:txBody>
      </p:sp>
      <p:sp>
        <p:nvSpPr>
          <p:cNvPr id="21" name="Text 19"/>
          <p:cNvSpPr txBox="1"/>
          <p:nvPr/>
        </p:nvSpPr>
        <p:spPr>
          <a:xfrm>
            <a:off x="6425032" y="4686300"/>
            <a:ext cx="4925416" cy="635508"/>
          </a:xfrm>
          <a:prstGeom prst="rect">
            <a:avLst/>
          </a:prstGeom>
          <a:noFill/>
          <a:ln/>
        </p:spPr>
        <p:txBody>
          <a:bodyPr wrap="square" lIns="0" tIns="0" rIns="0" bIns="0" rtlCol="0" anchor="t"/>
          <a:lstStyle/>
          <a:p>
            <a:pPr algn="l" indent="0" marL="0">
              <a:lnSpc>
                <a:spcPct val="106000"/>
              </a:lnSpc>
              <a:buNone/>
            </a:pPr>
            <a:r>
              <a:rPr lang="en-US" sz="1250" b="1" dirty="0">
                <a:solidFill>
                  <a:srgbClr val="1B3A2F"/>
                </a:solidFill>
                <a:latin typeface="Calibri" pitchFamily="34" charset="0"/>
                <a:ea typeface="Calibri" pitchFamily="34" charset="-122"/>
                <a:cs typeface="Calibri" pitchFamily="34" charset="-120"/>
              </a:rPr>
              <a:t>Restrisiken bleiben, sie sind aber benannt und begrenzt</a:t>
            </a:r>
            <a:endParaRPr lang="en-US" sz="1250" dirty="0"/>
          </a:p>
        </p:txBody>
      </p:sp>
      <p:sp>
        <p:nvSpPr>
          <p:cNvPr id="22" name="Shape 20"/>
          <p:cNvSpPr/>
          <p:nvPr/>
        </p:nvSpPr>
        <p:spPr>
          <a:xfrm>
            <a:off x="640080" y="5632704"/>
            <a:ext cx="10911535" cy="512064"/>
          </a:xfrm>
          <a:prstGeom prst="roundRect">
            <a:avLst>
              <a:gd name="adj" fmla="val 10714"/>
            </a:avLst>
          </a:prstGeom>
          <a:solidFill>
            <a:srgbClr val="F2E3D0"/>
          </a:solidFill>
          <a:ln w="12700">
            <a:solidFill>
              <a:srgbClr val="F2E3D0"/>
            </a:solidFill>
            <a:prstDash val="solid"/>
          </a:ln>
        </p:spPr>
      </p:sp>
      <p:sp>
        <p:nvSpPr>
          <p:cNvPr id="23" name="Text 21"/>
          <p:cNvSpPr txBox="1"/>
          <p:nvPr/>
        </p:nvSpPr>
        <p:spPr>
          <a:xfrm>
            <a:off x="859536" y="5678424"/>
            <a:ext cx="10472623" cy="420624"/>
          </a:xfrm>
          <a:prstGeom prst="rect">
            <a:avLst/>
          </a:prstGeom>
          <a:noFill/>
          <a:ln/>
        </p:spPr>
        <p:txBody>
          <a:bodyPr wrap="square" lIns="0" tIns="0" rIns="0" bIns="0" rtlCol="0" anchor="ctr"/>
          <a:lstStyle/>
          <a:p>
            <a:pPr algn="l" indent="0" marL="0">
              <a:lnSpc>
                <a:spcPct val="106000"/>
              </a:lnSpc>
              <a:buNone/>
            </a:pPr>
            <a:r>
              <a:rPr lang="en-US" sz="1300" b="1" dirty="0">
                <a:solidFill>
                  <a:srgbClr val="1B3A2F"/>
                </a:solidFill>
                <a:latin typeface="Calibri" pitchFamily="34" charset="0"/>
                <a:ea typeface="Calibri" pitchFamily="34" charset="-122"/>
                <a:cs typeface="Calibri" pitchFamily="34" charset="-120"/>
              </a:rPr>
              <a:t>Drei Risiken können das Projekt beenden, und keines davon ist technisch: Upstream liefert nicht · die Röstmannschaft erfasst nicht · niemand fragt nach dem Ergebnis.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966960" y="-1097280"/>
            <a:ext cx="4023360" cy="4023360"/>
          </a:xfrm>
          <a:prstGeom prst="ellipse">
            <a:avLst/>
          </a:prstGeom>
          <a:solidFill>
            <a:srgbClr val="24503F"/>
          </a:solidFill>
          <a:ln w="12700">
            <a:solidFill>
              <a:srgbClr val="24503F"/>
            </a:solidFill>
            <a:prstDash val="solid"/>
          </a:ln>
        </p:spPr>
      </p:sp>
      <p:sp>
        <p:nvSpPr>
          <p:cNvPr id="3" name="Text 1"/>
          <p:cNvSpPr txBox="1"/>
          <p:nvPr/>
        </p:nvSpPr>
        <p:spPr>
          <a:xfrm>
            <a:off x="640080" y="1133856"/>
            <a:ext cx="9997135" cy="274320"/>
          </a:xfrm>
          <a:prstGeom prst="rect">
            <a:avLst/>
          </a:prstGeom>
          <a:noFill/>
          <a:ln/>
        </p:spPr>
        <p:txBody>
          <a:bodyPr wrap="square" lIns="0" tIns="0" rIns="0" bIns="0" rtlCol="0" anchor="ctr"/>
          <a:lstStyle/>
          <a:p>
            <a:pPr indent="0" marL="0">
              <a:buNone/>
            </a:pPr>
            <a:r>
              <a:rPr lang="en-US" sz="1150" b="1" spc="180" kern="0" dirty="0">
                <a:solidFill>
                  <a:srgbClr val="C9762F"/>
                </a:solidFill>
                <a:latin typeface="Calibri" pitchFamily="34" charset="0"/>
                <a:ea typeface="Calibri" pitchFamily="34" charset="-122"/>
                <a:cs typeface="Calibri" pitchFamily="34" charset="-120"/>
              </a:rPr>
              <a:t>FAZIT</a:t>
            </a:r>
            <a:endParaRPr lang="en-US" sz="1150" dirty="0"/>
          </a:p>
        </p:txBody>
      </p:sp>
      <p:sp>
        <p:nvSpPr>
          <p:cNvPr id="4" name="Text 2"/>
          <p:cNvSpPr txBox="1"/>
          <p:nvPr/>
        </p:nvSpPr>
        <p:spPr>
          <a:xfrm>
            <a:off x="640080" y="1572768"/>
            <a:ext cx="9692640" cy="2194560"/>
          </a:xfrm>
          <a:prstGeom prst="rect">
            <a:avLst/>
          </a:prstGeom>
          <a:noFill/>
          <a:ln/>
        </p:spPr>
        <p:txBody>
          <a:bodyPr wrap="square" lIns="0" tIns="0" rIns="0" bIns="0" rtlCol="0" anchor="t"/>
          <a:lstStyle/>
          <a:p>
            <a:pPr algn="l" indent="0" marL="0">
              <a:lnSpc>
                <a:spcPct val="110000"/>
              </a:lnSpc>
              <a:buNone/>
            </a:pPr>
            <a:r>
              <a:rPr lang="en-US" sz="2700" b="1" dirty="0">
                <a:solidFill>
                  <a:srgbClr val="FFFFFF"/>
                </a:solidFill>
                <a:latin typeface="Cambria" pitchFamily="34" charset="0"/>
                <a:ea typeface="Cambria" pitchFamily="34" charset="-122"/>
                <a:cs typeface="Cambria" pitchFamily="34" charset="-120"/>
              </a:rPr>
              <a:t>Wer sauberes Lieferanten-</a:t>
            </a:r>
            <a:endParaRPr lang="en-US" sz="2700" dirty="0"/>
          </a:p>
          <a:p>
            <a:pPr algn="l" indent="0" marL="0">
              <a:lnSpc>
                <a:spcPct val="110000"/>
              </a:lnSpc>
              <a:buNone/>
            </a:pPr>
            <a:r>
              <a:rPr lang="en-US" sz="2700" b="1" dirty="0">
                <a:solidFill>
                  <a:srgbClr val="FFFFFF"/>
                </a:solidFill>
                <a:latin typeface="Cambria" pitchFamily="34" charset="0"/>
                <a:ea typeface="Cambria" pitchFamily="34" charset="-122"/>
                <a:cs typeface="Cambria" pitchFamily="34" charset="-120"/>
              </a:rPr>
              <a:t>management, verlässliche Parzellen-</a:t>
            </a:r>
            <a:endParaRPr lang="en-US" sz="2700" dirty="0"/>
          </a:p>
          <a:p>
            <a:pPr algn="l" indent="0" marL="0">
              <a:lnSpc>
                <a:spcPct val="110000"/>
              </a:lnSpc>
              <a:buNone/>
            </a:pPr>
            <a:r>
              <a:rPr lang="en-US" sz="2700" b="1" dirty="0">
                <a:solidFill>
                  <a:srgbClr val="FFFFFF"/>
                </a:solidFill>
                <a:latin typeface="Cambria" pitchFamily="34" charset="0"/>
                <a:ea typeface="Cambria" pitchFamily="34" charset="-122"/>
                <a:cs typeface="Cambria" pitchFamily="34" charset="-120"/>
              </a:rPr>
              <a:t>daten und ein durchgängiges</a:t>
            </a:r>
            <a:endParaRPr lang="en-US" sz="2700" dirty="0"/>
          </a:p>
          <a:p>
            <a:pPr algn="l" indent="0" marL="0">
              <a:lnSpc>
                <a:spcPct val="110000"/>
              </a:lnSpc>
              <a:buNone/>
            </a:pPr>
            <a:r>
              <a:rPr lang="en-US" sz="2700" b="1" dirty="0">
                <a:solidFill>
                  <a:srgbClr val="FFFFFF"/>
                </a:solidFill>
                <a:latin typeface="Cambria" pitchFamily="34" charset="0"/>
                <a:ea typeface="Cambria" pitchFamily="34" charset="-122"/>
                <a:cs typeface="Cambria" pitchFamily="34" charset="-120"/>
              </a:rPr>
              <a:t>Chargenmodell hat, hat 90 % des</a:t>
            </a:r>
            <a:endParaRPr lang="en-US" sz="2700" dirty="0"/>
          </a:p>
          <a:p>
            <a:pPr algn="l" indent="0" marL="0">
              <a:lnSpc>
                <a:spcPct val="110000"/>
              </a:lnSpc>
              <a:buNone/>
            </a:pPr>
            <a:r>
              <a:rPr lang="en-US" sz="2700" b="1" dirty="0">
                <a:solidFill>
                  <a:srgbClr val="FFFFFF"/>
                </a:solidFill>
                <a:latin typeface="Cambria" pitchFamily="34" charset="0"/>
                <a:ea typeface="Cambria" pitchFamily="34" charset="-122"/>
                <a:cs typeface="Cambria" pitchFamily="34" charset="-120"/>
              </a:rPr>
              <a:t>Nutzens — ohne einen einzigen Hash.</a:t>
            </a:r>
            <a:endParaRPr lang="en-US" sz="2700" dirty="0"/>
          </a:p>
        </p:txBody>
      </p:sp>
      <p:sp>
        <p:nvSpPr>
          <p:cNvPr id="5" name="Shape 3"/>
          <p:cNvSpPr/>
          <p:nvPr/>
        </p:nvSpPr>
        <p:spPr>
          <a:xfrm>
            <a:off x="658368" y="4069080"/>
            <a:ext cx="128016" cy="128016"/>
          </a:xfrm>
          <a:prstGeom prst="ellipse">
            <a:avLst/>
          </a:prstGeom>
          <a:solidFill>
            <a:srgbClr val="97BC62"/>
          </a:solidFill>
          <a:ln w="12700">
            <a:solidFill>
              <a:srgbClr val="97BC62"/>
            </a:solidFill>
            <a:prstDash val="solid"/>
          </a:ln>
        </p:spPr>
      </p:sp>
      <p:sp>
        <p:nvSpPr>
          <p:cNvPr id="6" name="Text 4"/>
          <p:cNvSpPr txBox="1"/>
          <p:nvPr/>
        </p:nvSpPr>
        <p:spPr>
          <a:xfrm>
            <a:off x="969264" y="3968496"/>
            <a:ext cx="9509760" cy="571500"/>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Phase 0 ist Pflicht und terminkritisch: 30.12.2026, und der Engpass liegt upstream, nicht in der IT</a:t>
            </a:r>
            <a:endParaRPr lang="en-US" sz="1350" dirty="0"/>
          </a:p>
        </p:txBody>
      </p:sp>
      <p:sp>
        <p:nvSpPr>
          <p:cNvPr id="7" name="Shape 5"/>
          <p:cNvSpPr/>
          <p:nvPr/>
        </p:nvSpPr>
        <p:spPr>
          <a:xfrm>
            <a:off x="658368" y="4677156"/>
            <a:ext cx="128016" cy="128016"/>
          </a:xfrm>
          <a:prstGeom prst="ellipse">
            <a:avLst/>
          </a:prstGeom>
          <a:solidFill>
            <a:srgbClr val="97BC62"/>
          </a:solidFill>
          <a:ln w="12700">
            <a:solidFill>
              <a:srgbClr val="97BC62"/>
            </a:solidFill>
            <a:prstDash val="solid"/>
          </a:ln>
        </p:spPr>
      </p:sp>
      <p:sp>
        <p:nvSpPr>
          <p:cNvPr id="8" name="Text 6"/>
          <p:cNvSpPr txBox="1"/>
          <p:nvPr/>
        </p:nvSpPr>
        <p:spPr>
          <a:xfrm>
            <a:off x="969264" y="4576572"/>
            <a:ext cx="9509760" cy="571500"/>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Der digitale Produktpass ist für Kaffee freiwillig — wer ihn als Pflicht verkauft, irrt oder verkauft</a:t>
            </a:r>
            <a:endParaRPr lang="en-US" sz="1350" dirty="0"/>
          </a:p>
        </p:txBody>
      </p:sp>
      <p:sp>
        <p:nvSpPr>
          <p:cNvPr id="9" name="Shape 7"/>
          <p:cNvSpPr/>
          <p:nvPr/>
        </p:nvSpPr>
        <p:spPr>
          <a:xfrm>
            <a:off x="658368" y="5285232"/>
            <a:ext cx="128016" cy="128016"/>
          </a:xfrm>
          <a:prstGeom prst="ellipse">
            <a:avLst/>
          </a:prstGeom>
          <a:solidFill>
            <a:srgbClr val="97BC62"/>
          </a:solidFill>
          <a:ln w="12700">
            <a:solidFill>
              <a:srgbClr val="97BC62"/>
            </a:solidFill>
            <a:prstDash val="solid"/>
          </a:ln>
        </p:spPr>
      </p:sp>
      <p:sp>
        <p:nvSpPr>
          <p:cNvPr id="10" name="Text 8"/>
          <p:cNvSpPr txBox="1"/>
          <p:nvPr/>
        </p:nvSpPr>
        <p:spPr>
          <a:xfrm>
            <a:off x="969264" y="5184648"/>
            <a:ext cx="9509760" cy="571500"/>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Die Verankerung ist das letzte Prozent. Sie ist erst sinnvoll, wenn jemand dafür zahlt</a:t>
            </a:r>
            <a:endParaRPr lang="en-US" sz="1350" dirty="0"/>
          </a:p>
        </p:txBody>
      </p:sp>
      <p:sp>
        <p:nvSpPr>
          <p:cNvPr id="11" name="Shape 9"/>
          <p:cNvSpPr/>
          <p:nvPr/>
        </p:nvSpPr>
        <p:spPr>
          <a:xfrm>
            <a:off x="658368" y="5893308"/>
            <a:ext cx="128016" cy="128016"/>
          </a:xfrm>
          <a:prstGeom prst="ellipse">
            <a:avLst/>
          </a:prstGeom>
          <a:solidFill>
            <a:srgbClr val="97BC62"/>
          </a:solidFill>
          <a:ln w="12700">
            <a:solidFill>
              <a:srgbClr val="97BC62"/>
            </a:solidFill>
            <a:prstDash val="solid"/>
          </a:ln>
        </p:spPr>
      </p:sp>
      <p:sp>
        <p:nvSpPr>
          <p:cNvPr id="12" name="Text 10"/>
          <p:cNvSpPr txBox="1"/>
          <p:nvPr/>
        </p:nvSpPr>
        <p:spPr>
          <a:xfrm>
            <a:off x="969264" y="5792724"/>
            <a:ext cx="9509760" cy="571500"/>
          </a:xfrm>
          <a:prstGeom prst="rect">
            <a:avLst/>
          </a:prstGeom>
          <a:noFill/>
          <a:ln/>
        </p:spPr>
        <p:txBody>
          <a:bodyPr wrap="square" lIns="0" tIns="0" rIns="0" bIns="0" rtlCol="0" anchor="t"/>
          <a:lstStyle/>
          <a:p>
            <a:pPr algn="l" indent="0" marL="0">
              <a:lnSpc>
                <a:spcPct val="106000"/>
              </a:lnSpc>
              <a:buNone/>
            </a:pPr>
            <a:r>
              <a:rPr lang="en-US" sz="1350" dirty="0">
                <a:solidFill>
                  <a:srgbClr val="CBDCC9"/>
                </a:solidFill>
                <a:latin typeface="Calibri" pitchFamily="34" charset="0"/>
                <a:ea typeface="Calibri" pitchFamily="34" charset="-122"/>
                <a:cs typeface="Calibri" pitchFamily="34" charset="-120"/>
              </a:rPr>
              <a:t>Unsere Empfehlung: Option B — Compliance kaufen, Datenschicht schlank selbst bauen, Verankerung vorbereiten statt aktivieren</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960120"/>
            <a:ext cx="4937760" cy="4937760"/>
          </a:xfrm>
          <a:prstGeom prst="ellipse">
            <a:avLst/>
          </a:prstGeom>
          <a:solidFill>
            <a:srgbClr val="24503F"/>
          </a:solidFill>
          <a:ln w="12700">
            <a:solidFill>
              <a:srgbClr val="24503F"/>
            </a:solidFill>
            <a:prstDash val="solid"/>
          </a:ln>
        </p:spPr>
      </p:sp>
      <p:sp>
        <p:nvSpPr>
          <p:cNvPr id="3" name="Shape 1"/>
          <p:cNvSpPr/>
          <p:nvPr/>
        </p:nvSpPr>
        <p:spPr>
          <a:xfrm>
            <a:off x="640080" y="2340864"/>
            <a:ext cx="841248" cy="841248"/>
          </a:xfrm>
          <a:prstGeom prst="ellipse">
            <a:avLst/>
          </a:prstGeom>
          <a:solidFill>
            <a:srgbClr val="C9762F"/>
          </a:solidFill>
          <a:ln w="12700">
            <a:solidFill>
              <a:srgbClr val="C9762F"/>
            </a:solidFill>
            <a:prstDash val="solid"/>
          </a:ln>
        </p:spPr>
      </p:sp>
      <p:sp>
        <p:nvSpPr>
          <p:cNvPr id="4" name="Text 2"/>
          <p:cNvSpPr txBox="1"/>
          <p:nvPr/>
        </p:nvSpPr>
        <p:spPr>
          <a:xfrm>
            <a:off x="640080" y="2340864"/>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B</a:t>
            </a:r>
            <a:endParaRPr lang="en-US" sz="3000" dirty="0"/>
          </a:p>
        </p:txBody>
      </p:sp>
      <p:sp>
        <p:nvSpPr>
          <p:cNvPr id="5" name="Text 3"/>
          <p:cNvSpPr txBox="1"/>
          <p:nvPr/>
        </p:nvSpPr>
        <p:spPr>
          <a:xfrm>
            <a:off x="640080" y="3401568"/>
            <a:ext cx="8229600" cy="914400"/>
          </a:xfrm>
          <a:prstGeom prst="rect">
            <a:avLst/>
          </a:prstGeom>
          <a:noFill/>
          <a:ln/>
        </p:spPr>
        <p:txBody>
          <a:bodyPr wrap="square" lIns="0" tIns="0" rIns="0" bIns="0" rtlCol="0" anchor="t"/>
          <a:lstStyle/>
          <a:p>
            <a:pPr algn="l" indent="0" marL="0">
              <a:lnSpc>
                <a:spcPct val="106000"/>
              </a:lnSpc>
              <a:buNone/>
            </a:pPr>
            <a:r>
              <a:rPr lang="en-US" sz="3400" b="1" dirty="0">
                <a:solidFill>
                  <a:srgbClr val="FFFFFF"/>
                </a:solidFill>
                <a:latin typeface="Cambria" pitchFamily="34" charset="0"/>
                <a:ea typeface="Cambria" pitchFamily="34" charset="-122"/>
                <a:cs typeface="Cambria" pitchFamily="34" charset="-120"/>
              </a:rPr>
              <a:t>Backup</a:t>
            </a:r>
            <a:endParaRPr lang="en-US" sz="3400" dirty="0"/>
          </a:p>
        </p:txBody>
      </p:sp>
      <p:sp>
        <p:nvSpPr>
          <p:cNvPr id="6" name="Text 4"/>
          <p:cNvSpPr txBox="1"/>
          <p:nvPr/>
        </p:nvSpPr>
        <p:spPr>
          <a:xfrm>
            <a:off x="640080" y="4389120"/>
            <a:ext cx="7955280" cy="786384"/>
          </a:xfrm>
          <a:prstGeom prst="rect">
            <a:avLst/>
          </a:prstGeom>
          <a:noFill/>
          <a:ln/>
        </p:spPr>
        <p:txBody>
          <a:bodyPr wrap="square" lIns="0" tIns="0" rIns="0" bIns="0" rtlCol="0" anchor="t"/>
          <a:lstStyle/>
          <a:p>
            <a:pPr algn="l" indent="0" marL="0">
              <a:lnSpc>
                <a:spcPct val="114000"/>
              </a:lnSpc>
              <a:buNone/>
            </a:pPr>
            <a:r>
              <a:rPr lang="en-US" sz="1500" dirty="0">
                <a:solidFill>
                  <a:srgbClr val="97BC62"/>
                </a:solidFill>
                <a:latin typeface="Calibri" pitchFamily="34" charset="0"/>
                <a:ea typeface="Calibri" pitchFamily="34" charset="-122"/>
                <a:cs typeface="Calibri" pitchFamily="34" charset="-120"/>
              </a:rPr>
              <a:t>Detailfolien für Ihre Rückfragen</a:t>
            </a:r>
            <a:endParaRPr lang="en-US" sz="1500" dirty="0"/>
          </a:p>
        </p:txBody>
      </p:sp>
      <p:sp>
        <p:nvSpPr>
          <p:cNvPr id="7" name="Text 5"/>
          <p:cNvSpPr txBox="1"/>
          <p:nvPr/>
        </p:nvSpPr>
        <p:spPr>
          <a:xfrm>
            <a:off x="640080" y="5760720"/>
            <a:ext cx="7315200" cy="310896"/>
          </a:xfrm>
          <a:prstGeom prst="rect">
            <a:avLst/>
          </a:prstGeom>
          <a:noFill/>
          <a:ln/>
        </p:spPr>
        <p:txBody>
          <a:bodyPr wrap="square" lIns="0" tIns="0" rIns="0" bIns="0" rtlCol="0" anchor="ctr"/>
          <a:lstStyle/>
          <a:p>
            <a:pPr indent="0" marL="0">
              <a:buNone/>
            </a:pPr>
            <a:r>
              <a:rPr lang="en-US" sz="1200" b="1" dirty="0">
                <a:solidFill>
                  <a:srgbClr val="C9762F"/>
                </a:solidFill>
                <a:latin typeface="Calibri" pitchFamily="34" charset="0"/>
                <a:ea typeface="Calibri" pitchFamily="34" charset="-122"/>
                <a:cs typeface="Calibri" pitchFamily="34" charset="-120"/>
              </a:rPr>
              <a:t>Sprecher:in 1–5</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1</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EUDR — Pflichtangaben je Direct-Trade-Lot</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2743200"/>
                <a:gridCol w="5120640"/>
                <a:gridCol w="304495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Angabe</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Inhalt</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Quelle im Feld</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Geolokation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Polygon ab 4 ha, sonst Punktkoordinate; muss Satellitenprüfung standhalten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Kooperative, Exporteur, Fairtrace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Erntezeitraum</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Je Parzelle, nicht je Lot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Kooperative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Legalität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Landnutzung, Arbeitsrecht, Steuern, Handelsrecht — nach Recht des Erzeugerlandes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Exporteur, Behördendokumente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Entwaldungsfreiheit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Kein Waldverlust nach dem 31.12.2020 auf der Fläche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Abgleich Polygon gegen Waldverlustdaten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Risikobewertung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Dokumentiert; bei nicht vernachlässigbarem Risiko zuerst Minderung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Eigene Analyse bzw. Compliance-Software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Sorgfaltserklärung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Einreichung in TRACES vor dem Inverkehrbringen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Eigene Abgabe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Referenznummer</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Sichern und an eigene Abnehmer weitergeben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Aus TRACES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bl>
          </a:graphicData>
        </a:graphic>
      </p:graphicFrame>
      <p:sp>
        <p:nvSpPr>
          <p:cNvPr id="5" name="Text 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 (EU) 2023/1115 i. d. F. VO (EU) 2025/2650 [recherchiert]</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2</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Kosten im Detail — Bandbreiten und Treiber</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5120640"/>
                <a:gridCol w="2926080"/>
                <a:gridCol w="286207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Position</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Einmalig</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Laufend p. a.</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0 — Rechtsberatung Rollen und Gutachten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8.000 – 20.000 €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0 — EUDR-Software, Einführung und Konfiguration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10.000 – 35.000 €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12.000 – 40.000 €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0 — Geodatenbeschaffung (größte Unsicherheit)</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5.000 – 60.000 €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5.000 – 25.000 €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0 — Verträge, ERP-Anbindung, Schulung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16.000 – 45.000 €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20.000 – 40.000 €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1 — Röstsoftware mit Chargenverwaltung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10.000 – 25.000 €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in Lizenz enthalten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1 — Event Store, Konnektoren, Evidence Grading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40.000 – 90.000 €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23.000 – 59.000 €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1 — Produktpass, QR, B2B-Schnittstelle</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20.000 – 45.000 €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in Wartung enthalten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1 — Zähler-Nachrüstung und CO₂-Methodik</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14.000 – 45.000 €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5.000 – 15.000 €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2 — Verankerung: Anbindung, Schlüssel, Rechtsprüfung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16.000 – 52.000 €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2.000 – 6.000 €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Phase 2 — Ledger-Transaktionsgebühren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0 – 400 €</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Alle Werte [geschätzt] · Hedera-Gebühren [recherchiert]</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3</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Massenbilanz — Sonderfälle vollständig</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3291840"/>
                <a:gridCol w="761695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Fall</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Behandlung</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Fehlröstung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Eigene Buchung mit Grund-Code, Masse bleibt in der Bilanz. Verkauf als B-Ware nur mit eigener Chargen-ID und ohne Herkunftsauslobung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Musterröstung, Cupping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Grund-Code „sample". Wichtig: vom Verlustkorridor ausgeschlossen, sonst verzerren Kleinstmengen die Kalibrierung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Retouren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Rückbuchung auf die ursprüngliche Chargen-ID, Status „returned". Kein Wiedereinlagern ohne Qualitätsfreigabe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Restbestände im Silo</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Herkunftsgebunden als Teilmenge geführt. Setzt FIFO-Disziplin voraus — ohne sie ist die Zuordnung Fiktion und muss so gekennzeichnet werden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Verlesen und Sieben im Haus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Eigene 1:1-Transformation vor dem Rösten. Sonst erscheint der Verlesungsverlust fälschlich als Röstverlust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Entkoffeinierung extern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Lohnverarbeitung mit Ein- und Ausgangsgewicht des Dienstleisters. Deutlich höherer, verfahrensabhängiger Verlust — eigener Korridor</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Mühlenspülung bei Sortenwechsel</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Grund-Code „purge" als Ausschuss, nie der neuen Charge zugeschlagen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528066">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Inventurdifferenz</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Nie stillschweigend ausbuchen. Eigener Grund-Code, Betragsgrenze mit Freigabepflicht. Das ist das Schlupfloch, durch das in der Praxis am meisten verschwindet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4</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CO₂ — Referenzwerte und ihre Quellen</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4572000"/>
                <a:gridCol w="3291840"/>
                <a:gridCol w="304495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Position</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Wert</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Grünkaffee cradle-to-gate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3,51 – 15,33 kg CO₂e/kg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World Coffee Research</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Alternativer Referenzwert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~11 kg CO₂e/kg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ICO-Schätzung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Anteil Anbau am Fußabdruck</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&gt; 84 %</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LCA-Synthese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Röstprozess gesamt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0,45 – 0,59 kg CO₂e/kg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Fallstudien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Brennstoffanteil am Röstprozess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~79 %</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LPG-Fallstudie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Scope-3-Anteil einer Rösterei</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~96 %</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recherchiert, Fallstudie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Unsere Angabe im Produktpass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ca. 6 – 13 kg CO₂e/kg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abgeleitet, als Bereich ausgewiesen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bl>
          </a:graphicData>
        </a:graphic>
      </p:graphicFrame>
      <p:sp>
        <p:nvSpPr>
          <p:cNvPr id="5" name="Text 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World Coffee Research · ICO · ScienceDirect LCA-Synthese · Kaffeemacher-Bilanz [recherchiert]</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5</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Evidence Grading — die vier Stufen</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2011680"/>
                <a:gridCol w="5669280"/>
                <a:gridCol w="322783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Stufe</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Beispiel bei uns</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1056132">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Verified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Zeitgleich erfasst, signiert von identifiziertem Erfasser oder Gerät, seither unverändert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Auswaage der Röstcharge; Gaszählerstand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1056132">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Declared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Von benannter Partei erklärt, aber nicht zeitgleich oder nicht selbst signiert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Parzellendaten, erfasst durch die Kooperative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1056132">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Imported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Aus Altsystem oder Datei übernommen, ohne Erfassungskontext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Historische ERP-Chargendaten; Excel des Exporteurs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1056132">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Estimated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Berechnet oder aus Sekundärquellen abgeleitet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CO₂-Anteil Anbau; umgelegter Nachverbrenner-Leerlauf</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Kommunikationsregel: keine Symbole für Declared, kein Trust Score, keine Gesamtnote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6</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Offene Fragen, die vor dem Bauen zu klären sind</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4206240"/>
                <a:gridCol w="670255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Frage</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Warum sie blockiert</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Wer ist Zollanmelder je Bezugsquelle?</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Entscheidet über Primärbetreiber oder nachgelagert — und damit über den halben Umsetzungsaufwand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Löst Rösten ein erneutes Inverkehrbringen aus?</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Bestimmt, ob für zugekaufte Ware nach der Röstung eine eigene Erklärung nötig ist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Welche Herkünfte sind bereits kartiert?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Größte Kostenposition und kritischer Pfad zugleich</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Sichern Importeure die Referenznummern vertraglich zu?</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Ohne Nummer darf die Ware nicht weitergegeben werden — Produktionsstillstand</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Sind wir bestätigt mittleres/großes Unternehmen?</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Entscheidet zwischen 30.12.2026 und 30.06.2027. Eine Stunde Arbeit, sechs Monate Wirkung</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Segregation oder Silo-Vermischung im Lager?</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Die folgenreichste Nicht-IT-Entscheidung: Sie bestimmt, ob die Chargenzuordnung real oder Fiktion ist</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B3A2F"/>
                          </a:solidFill>
                          <a:latin typeface="Calibri" pitchFamily="34" charset="0"/>
                          <a:ea typeface="Calibri" pitchFamily="34" charset="-122"/>
                          <a:cs typeface="Calibri" pitchFamily="34" charset="-120"/>
                        </a:rPr>
                        <a:t>Fragt ein B2B-Kunde nach mehr als der Referenznummer?</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1050" dirty="0">
                          <a:solidFill>
                            <a:srgbClr val="17241F"/>
                          </a:solidFill>
                          <a:latin typeface="Calibri" pitchFamily="34" charset="0"/>
                          <a:ea typeface="Calibri" pitchFamily="34" charset="-122"/>
                          <a:cs typeface="Calibri" pitchFamily="34" charset="-120"/>
                        </a:rPr>
                        <a:t>Entscheidet über die Existenzberechtigung von Phase 2</a:t>
                      </a:r>
                      <a:endParaRPr lang="en-US" sz="10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640080" y="182880"/>
            <a:ext cx="10911535" cy="237744"/>
          </a:xfrm>
          <a:prstGeom prst="rect">
            <a:avLst/>
          </a:prstGeom>
          <a:noFill/>
          <a:ln/>
        </p:spPr>
        <p:txBody>
          <a:bodyPr wrap="square" lIns="0" tIns="0" rIns="0" bIns="0" rtlCol="0" anchor="ctr"/>
          <a:lstStyle/>
          <a:p>
            <a:pPr indent="0" marL="0">
              <a:buNone/>
            </a:pPr>
            <a:r>
              <a:rPr lang="en-US" sz="1100" b="1" spc="160" kern="0" dirty="0">
                <a:solidFill>
                  <a:srgbClr val="C9762F"/>
                </a:solidFill>
                <a:latin typeface="Calibri" pitchFamily="34" charset="0"/>
                <a:ea typeface="Calibri" pitchFamily="34" charset="-122"/>
                <a:cs typeface="Calibri" pitchFamily="34" charset="-120"/>
              </a:rPr>
              <a:t>BACKUP 7</a:t>
            </a:r>
            <a:endParaRPr lang="en-US" sz="1100" dirty="0"/>
          </a:p>
        </p:txBody>
      </p:sp>
      <p:sp>
        <p:nvSpPr>
          <p:cNvPr id="3" name="Text 1"/>
          <p:cNvSpPr txBox="1"/>
          <p:nvPr/>
        </p:nvSpPr>
        <p:spPr>
          <a:xfrm>
            <a:off x="640080" y="457200"/>
            <a:ext cx="9631375" cy="1060704"/>
          </a:xfrm>
          <a:prstGeom prst="rect">
            <a:avLst/>
          </a:prstGeom>
          <a:noFill/>
          <a:ln/>
        </p:spPr>
        <p:txBody>
          <a:bodyPr wrap="square" lIns="0" tIns="0" rIns="0" bIns="0" rtlCol="0" anchor="t"/>
          <a:lstStyle/>
          <a:p>
            <a:pPr algn="l" indent="0" marL="0">
              <a:lnSpc>
                <a:spcPct val="100000"/>
              </a:lnSpc>
              <a:buNone/>
            </a:pPr>
            <a:r>
              <a:rPr lang="en-US" sz="3000" b="1" dirty="0">
                <a:solidFill>
                  <a:srgbClr val="1B3A2F"/>
                </a:solidFill>
                <a:latin typeface="Cambria" pitchFamily="34" charset="0"/>
                <a:ea typeface="Cambria" pitchFamily="34" charset="-122"/>
                <a:cs typeface="Cambria" pitchFamily="34" charset="-120"/>
              </a:rPr>
              <a:t>Quellenverzeichnis (Auswahl)</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640080" y="1664208"/>
          <a:ext cx="10911535" cy="914400"/>
        </p:xfrm>
        <a:graphic>
          <a:graphicData uri="http://schemas.openxmlformats.org/drawingml/2006/table">
            <a:tbl>
              <a:tblPr/>
              <a:tblGrid>
                <a:gridCol w="3474720"/>
                <a:gridCol w="743407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Thema</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Quelle</a:t>
                      </a:r>
                      <a:endParaRPr lang="en-US" sz="1150" dirty="0">
                        <a:latin typeface="Calibri" charset="0"/>
                        <a:ea typeface="Calibri" charset="0"/>
                        <a:cs typeface="Calibri" charset="0"/>
                      </a:endParaRPr>
                    </a:p>
                  </a:txBody>
                  <a:tcPr marL="73152" marR="73152" marT="73152" marB="73152" anchor="ctr">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1B3A2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EUDR-Revision und Fristen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VO (EU) 2025/2650, EUR-Lex · Rat der EU, Pressemitteilung 18.12.2025</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EUDR-Grundverordnung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VO (EU) 2023/1115, EUR-Lex</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Vereinfachungspaket und Umsetzung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Europäische Kommission, 04.05.2026 und 13.07.2026</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ESPR und Lebensmittelausnahme</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VO (EU) 2024/1781, Art. 1 Abs. 2, EUR-Lex · ESPR-Arbeitsplan 16.04.2025</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Verpackungsverordnung</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VO (EU) 2025/40 · DIHK-Merkblatt PPWR</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Datenstandard</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GS1 EPCIS 2.0 · GS1 Germany EUDR Implementation Guideline v1.11</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Geodaten und Polygonqualität</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Koltiva · Fairtrade Fairtrace, Daily Coffee News 16.06.2026</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Ledger-Kosten</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Hedera, Preisänderung ConsensusSubmitMessage, Januar 2026</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CO₂-Referenzwerte</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World Coffee Research · ICO · ScienceDirect LCA-Synthese</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EFEEE9"/>
                    </a:solidFill>
                  </a:tcPr>
                </a:tc>
              </a:tr>
              <a:tr h="422453">
                <a:tc>
                  <a:txBody>
                    <a:bodyPr/>
                    <a:lstStyle/>
                    <a:p>
                      <a:pPr indent="0" marL="0">
                        <a:buNone/>
                      </a:pPr>
                      <a:r>
                        <a:rPr lang="en-US" sz="950" b="1" dirty="0">
                          <a:solidFill>
                            <a:srgbClr val="1B3A2F"/>
                          </a:solidFill>
                          <a:latin typeface="Calibri" pitchFamily="34" charset="0"/>
                          <a:ea typeface="Calibri" pitchFamily="34" charset="-122"/>
                          <a:cs typeface="Calibri" pitchFamily="34" charset="-120"/>
                        </a:rPr>
                        <a:t>Referenzfall</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c>
                  <a:txBody>
                    <a:bodyPr/>
                    <a:lstStyle/>
                    <a:p>
                      <a:pPr indent="0" marL="0">
                        <a:buNone/>
                      </a:pPr>
                      <a:r>
                        <a:rPr lang="en-US" sz="950" dirty="0">
                          <a:solidFill>
                            <a:srgbClr val="17241F"/>
                          </a:solidFill>
                          <a:latin typeface="Calibri" pitchFamily="34" charset="0"/>
                          <a:ea typeface="Calibri" pitchFamily="34" charset="-122"/>
                          <a:cs typeface="Calibri" pitchFamily="34" charset="-120"/>
                        </a:rPr>
                        <a:t>Pressemitteilung Hashgraph Group / Merck / PwC Germany, 08.09.2026</a:t>
                      </a:r>
                      <a:endParaRPr lang="en-US" sz="950" dirty="0">
                        <a:latin typeface="Calibri" charset="0"/>
                        <a:ea typeface="Calibri" charset="0"/>
                        <a:cs typeface="Calibri" charset="0"/>
                      </a:endParaRPr>
                    </a:p>
                  </a:txBody>
                  <a:tcPr marL="73152" marR="73152" marT="73152" marB="73152" anchor="t">
                    <a:lnL w="6350" cap="flat" cmpd="sng" algn="ctr">
                      <a:solidFill>
                        <a:srgbClr val="DDE3DE"/>
                      </a:solidFill>
                      <a:prstDash val="solid"/>
                      <a:round/>
                      <a:headEnd type="none" w="med" len="med"/>
                      <a:tailEnd type="none" w="med" len="med"/>
                    </a:lnL>
                    <a:lnR w="6350" cap="flat" cmpd="sng" algn="ctr">
                      <a:solidFill>
                        <a:srgbClr val="DDE3DE"/>
                      </a:solidFill>
                      <a:prstDash val="solid"/>
                      <a:round/>
                      <a:headEnd type="none" w="med" len="med"/>
                      <a:tailEnd type="none" w="med" len="med"/>
                    </a:lnR>
                    <a:lnT w="6350" cap="flat" cmpd="sng" algn="ctr">
                      <a:solidFill>
                        <a:srgbClr val="DDE3DE"/>
                      </a:solidFill>
                      <a:prstDash val="solid"/>
                      <a:round/>
                      <a:headEnd type="none" w="med" len="med"/>
                      <a:tailEnd type="none" w="med" len="med"/>
                    </a:lnT>
                    <a:lnB w="6350" cap="flat" cmpd="sng" algn="ctr">
                      <a:solidFill>
                        <a:srgbClr val="DDE3D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345936"/>
            <a:ext cx="10911535" cy="274320"/>
          </a:xfrm>
          <a:prstGeom prst="rect">
            <a:avLst/>
          </a:prstGeom>
          <a:noFill/>
          <a:ln/>
        </p:spPr>
        <p:txBody>
          <a:bodyPr wrap="square" lIns="0" tIns="0" rIns="0" bIns="0" rtlCol="0" anchor="t"/>
          <a:lstStyle/>
          <a:p>
            <a:pPr algn="l" indent="0" marL="0">
              <a:lnSpc>
                <a:spcPct val="106000"/>
              </a:lnSpc>
              <a:buNone/>
            </a:pPr>
            <a:r>
              <a:rPr lang="en-US" sz="900" i="1" dirty="0">
                <a:solidFill>
                  <a:srgbClr val="6B7A72"/>
                </a:solidFill>
                <a:latin typeface="Calibri" pitchFamily="34" charset="0"/>
                <a:ea typeface="Calibri" pitchFamily="34" charset="-122"/>
                <a:cs typeface="Calibri" pitchFamily="34" charset="-120"/>
              </a:rPr>
              <a:t>Vollständige Quellenangaben mit Links in den Planungsdokumenten unter plan/ · Rechercheschluss 09.09.2026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Rückverfolgbarer Kaffee: EUDR, Herkunftsnachweis und CO₂ je Charge</dc:title>
  <dc:subject>Umsetzungsplan für eine Kaffeerösterei</dc:subject>
  <dc:creator>Projektgruppe</dc:creator>
  <cp:lastModifiedBy>Projektgruppe</cp:lastModifiedBy>
  <cp:revision>1</cp:revision>
  <dcterms:created xsi:type="dcterms:W3CDTF">2026-09-09T08:43:06Z</dcterms:created>
  <dcterms:modified xsi:type="dcterms:W3CDTF">2026-09-09T08:43:06Z</dcterms:modified>
</cp:coreProperties>
</file>